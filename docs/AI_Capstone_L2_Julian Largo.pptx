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58" r:id="rId7"/>
    <p:sldId id="259" r:id="rId8"/>
    <p:sldId id="260" r:id="rId9"/>
    <p:sldId id="261" r:id="rId10"/>
    <p:sldId id="262" r:id="rId11"/>
    <p:sldId id="263" r:id="rId12"/>
    <p:sldId id="264" r:id="rId13"/>
    <p:sldId id="265" r:id="rId14"/>
    <p:sldId id="266" r:id="rId15"/>
    <p:sldId id="268" r:id="rId16"/>
    <p:sldId id="26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3900BE-E093-A2C5-E3C7-969F2E40EA55}" v="16" dt="2026-08-06T22:20:32.978"/>
    <p1510:client id="{F429A452-885F-DF8F-A9B2-74C2246A3D9F}" v="12" dt="2026-08-06T17:53:52.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220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0953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505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411480"/>
            <a:ext cx="1737360" cy="399979"/>
          </a:xfrm>
          <a:prstGeom prst="rect">
            <a:avLst/>
          </a:prstGeom>
        </p:spPr>
      </p:pic>
      <p:sp>
        <p:nvSpPr>
          <p:cNvPr id="3" name="Text 0"/>
          <p:cNvSpPr/>
          <p:nvPr/>
        </p:nvSpPr>
        <p:spPr>
          <a:xfrm>
            <a:off x="457200" y="1417320"/>
            <a:ext cx="8229600" cy="822960"/>
          </a:xfrm>
          <a:prstGeom prst="rect">
            <a:avLst/>
          </a:prstGeom>
          <a:noFill/>
          <a:ln/>
        </p:spPr>
        <p:txBody>
          <a:bodyPr wrap="square" rtlCol="0" anchor="ctr"/>
          <a:lstStyle/>
          <a:p>
            <a:pPr marL="0" indent="0">
              <a:buNone/>
            </a:pPr>
            <a:r>
              <a:rPr lang="en-US" sz="4400" b="1" kern="0" spc="200">
                <a:solidFill>
                  <a:srgbClr val="FFFFFF"/>
                </a:solidFill>
                <a:latin typeface="Arial" pitchFamily="34" charset="0"/>
                <a:ea typeface="Arial" pitchFamily="34" charset="-122"/>
                <a:cs typeface="Arial" pitchFamily="34" charset="-120"/>
              </a:rPr>
              <a:t>CAPSTONE PROJECT</a:t>
            </a:r>
            <a:endParaRPr lang="en-US" sz="4400"/>
          </a:p>
        </p:txBody>
      </p:sp>
      <p:sp>
        <p:nvSpPr>
          <p:cNvPr id="4" name="Text 1"/>
          <p:cNvSpPr/>
          <p:nvPr/>
        </p:nvSpPr>
        <p:spPr>
          <a:xfrm>
            <a:off x="457200" y="2286000"/>
            <a:ext cx="8229600" cy="457200"/>
          </a:xfrm>
          <a:prstGeom prst="rect">
            <a:avLst/>
          </a:prstGeom>
          <a:noFill/>
          <a:ln/>
        </p:spPr>
        <p:txBody>
          <a:bodyPr wrap="square" rtlCol="0" anchor="ctr"/>
          <a:lstStyle/>
          <a:p>
            <a:pPr marL="0" indent="0">
              <a:buNone/>
            </a:pPr>
            <a:r>
              <a:rPr lang="en-US" sz="2200" b="1">
                <a:solidFill>
                  <a:srgbClr val="71D8C5"/>
                </a:solidFill>
                <a:latin typeface="Arial" pitchFamily="34" charset="0"/>
                <a:ea typeface="Arial" pitchFamily="34" charset="-122"/>
                <a:cs typeface="Arial" pitchFamily="34" charset="-120"/>
              </a:rPr>
              <a:t>L2 — Agentic SDLC</a:t>
            </a:r>
            <a:endParaRPr lang="en-US" sz="2200"/>
          </a:p>
        </p:txBody>
      </p:sp>
      <p:sp>
        <p:nvSpPr>
          <p:cNvPr id="5" name="Text 2"/>
          <p:cNvSpPr/>
          <p:nvPr/>
        </p:nvSpPr>
        <p:spPr>
          <a:xfrm>
            <a:off x="457200" y="2743200"/>
            <a:ext cx="8229600" cy="320040"/>
          </a:xfrm>
          <a:prstGeom prst="rect">
            <a:avLst/>
          </a:prstGeom>
          <a:noFill/>
          <a:ln/>
        </p:spPr>
        <p:txBody>
          <a:bodyPr wrap="square" lIns="91440" tIns="45720" rIns="91440" bIns="45720" rtlCol="0" anchor="ctr"/>
          <a:lstStyle/>
          <a:p>
            <a:pPr marL="0" indent="0">
              <a:buNone/>
            </a:pPr>
            <a:endParaRPr lang="en-US" sz="1400" dirty="0">
              <a:latin typeface="Calibri"/>
              <a:ea typeface="Calibri"/>
              <a:cs typeface="Calibri"/>
            </a:endParaRPr>
            <a:r>
              <a:rPr lang="en-US" dirty="0"/>
              <a:t>Submission Template — Option 4</a:t>
            </a:r>
          </a:p>
        </p:txBody>
      </p:sp>
      <p:sp>
        <p:nvSpPr>
          <p:cNvPr id="6" name="Shape 3"/>
          <p:cNvSpPr/>
          <p:nvPr/>
        </p:nvSpPr>
        <p:spPr>
          <a:xfrm>
            <a:off x="457200" y="3291840"/>
            <a:ext cx="3931920" cy="502920"/>
          </a:xfrm>
          <a:prstGeom prst="roundRect">
            <a:avLst>
              <a:gd name="adj" fmla="val 14545"/>
            </a:avLst>
          </a:prstGeom>
          <a:solidFill>
            <a:srgbClr val="FFFFFF"/>
          </a:solidFill>
          <a:ln w="19050">
            <a:solidFill>
              <a:srgbClr val="71D8C5"/>
            </a:solidFill>
            <a:prstDash val="solid"/>
          </a:ln>
        </p:spPr>
        <p:txBody>
          <a:bodyPr/>
          <a:lstStyle/>
          <a:p>
            <a:endParaRPr lang="en-US"/>
          </a:p>
        </p:txBody>
      </p:sp>
      <p:sp>
        <p:nvSpPr>
          <p:cNvPr id="7" name="Text 4"/>
          <p:cNvSpPr/>
          <p:nvPr/>
        </p:nvSpPr>
        <p:spPr>
          <a:xfrm>
            <a:off x="548640" y="3291840"/>
            <a:ext cx="3749040" cy="502920"/>
          </a:xfrm>
          <a:prstGeom prst="rect">
            <a:avLst/>
          </a:prstGeom>
          <a:noFill/>
          <a:ln/>
        </p:spPr>
        <p:txBody>
          <a:bodyPr wrap="square" lIns="91440" tIns="45720" rIns="91440" bIns="45720" rtlCol="0" anchor="ctr"/>
          <a:lstStyle/>
          <a:p>
            <a:pPr algn="ctr"/>
            <a:endParaRPr lang="en-US" sz="1400" dirty="0">
              <a:solidFill>
                <a:srgbClr val="025F62"/>
              </a:solidFill>
              <a:latin typeface="Calibri"/>
              <a:ea typeface="Calibri"/>
              <a:cs typeface="Calibri"/>
            </a:endParaRPr>
            <a:r>
              <a:rPr lang="en-US" dirty="0"/>
              <a:t>Option 4 — AI Case Study</a:t>
            </a:r>
          </a:p>
        </p:txBody>
      </p:sp>
      <p:sp>
        <p:nvSpPr>
          <p:cNvPr id="10" name="Text 7"/>
          <p:cNvSpPr/>
          <p:nvPr/>
        </p:nvSpPr>
        <p:spPr>
          <a:xfrm>
            <a:off x="457200" y="3840480"/>
            <a:ext cx="8229600" cy="274320"/>
          </a:xfrm>
          <a:prstGeom prst="rect">
            <a:avLst/>
          </a:prstGeom>
          <a:noFill/>
          <a:ln/>
        </p:spPr>
        <p:txBody>
          <a:bodyPr wrap="square" lIns="91440" tIns="45720" rIns="91440" bIns="45720" rtlCol="0" anchor="ctr"/>
          <a:lstStyle/>
          <a:p>
            <a:r>
              <a:rPr lang="en-US" sz="1000" i="1">
                <a:solidFill>
                  <a:srgbClr val="71D8C5"/>
                </a:solidFill>
                <a:latin typeface="Calibri"/>
                <a:ea typeface="Calibri"/>
                <a:cs typeface="Calibri"/>
              </a:rPr>
              <a:t>Keep the option you are submitting; delete the other.</a:t>
            </a:r>
            <a:endParaRPr lang="en-US" sz="1000">
              <a:solidFill>
                <a:srgbClr val="000000"/>
              </a:solidFill>
              <a:latin typeface="Calibri"/>
              <a:ea typeface="Calibri"/>
              <a:cs typeface="Calibri"/>
            </a:endParaRPr>
          </a:p>
        </p:txBody>
      </p:sp>
      <p:sp>
        <p:nvSpPr>
          <p:cNvPr id="11" name="Text 8"/>
          <p:cNvSpPr/>
          <p:nvPr/>
        </p:nvSpPr>
        <p:spPr>
          <a:xfrm>
            <a:off x="457200" y="4343400"/>
            <a:ext cx="8229600" cy="365760"/>
          </a:xfrm>
          <a:prstGeom prst="rect">
            <a:avLst/>
          </a:prstGeom>
          <a:noFill/>
          <a:ln/>
        </p:spPr>
        <p:txBody>
          <a:bodyPr wrap="square" lIns="91440" tIns="45720" rIns="91440" bIns="45720" rtlCol="0" anchor="ctr"/>
          <a:lstStyle/>
          <a:p>
            <a:endParaRPr lang="en-US" sz="1300" dirty="0">
              <a:latin typeface="Calibri"/>
              <a:ea typeface="Calibri"/>
              <a:cs typeface="Calibri"/>
            </a:endParaRPr>
            <a:r>
              <a:rPr lang="en-US" dirty="0"/>
              <a:t>Name: Julian Largo Ramirez     Date: 2026-08-14</a:t>
            </a:r>
          </a:p>
        </p:txBody>
      </p:sp>
      <p:sp>
        <p:nvSpPr>
          <p:cNvPr id="12" name="Text 9"/>
          <p:cNvSpPr/>
          <p:nvPr/>
        </p:nvSpPr>
        <p:spPr>
          <a:xfrm>
            <a:off x="457200" y="4709160"/>
            <a:ext cx="8229600" cy="274320"/>
          </a:xfrm>
          <a:prstGeom prst="rect">
            <a:avLst/>
          </a:prstGeom>
          <a:noFill/>
          <a:ln/>
        </p:spPr>
        <p:txBody>
          <a:bodyPr wrap="square" rtlCol="0" anchor="ctr"/>
          <a:lstStyle/>
          <a:p>
            <a:pPr marL="0" indent="0">
              <a:buNone/>
            </a:pPr>
            <a:r>
              <a:rPr lang="en-US" sz="1000">
                <a:solidFill>
                  <a:srgbClr val="71D8C5"/>
                </a:solidFill>
                <a:latin typeface="Calibri" pitchFamily="34" charset="0"/>
                <a:ea typeface="Calibri" pitchFamily="34" charset="-122"/>
                <a:cs typeface="Calibri" pitchFamily="34" charset="-120"/>
              </a:rPr>
              <a:t>Perficient Global AI First Academy</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How to Use This Template</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143000"/>
            <a:ext cx="310896" cy="310896"/>
          </a:xfrm>
          <a:prstGeom prst="ellipse">
            <a:avLst/>
          </a:prstGeom>
          <a:solidFill>
            <a:srgbClr val="075056"/>
          </a:solidFill>
          <a:ln/>
        </p:spPr>
        <p:txBody>
          <a:bodyPr/>
          <a:lstStyle/>
          <a:p>
            <a:endParaRPr lang="en-US"/>
          </a:p>
        </p:txBody>
      </p:sp>
      <p:sp>
        <p:nvSpPr>
          <p:cNvPr id="5" name="Text 2"/>
          <p:cNvSpPr/>
          <p:nvPr/>
        </p:nvSpPr>
        <p:spPr>
          <a:xfrm>
            <a:off x="457200" y="1143000"/>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1</a:t>
            </a:r>
            <a:endParaRPr lang="en-US" sz="1400"/>
          </a:p>
        </p:txBody>
      </p:sp>
      <p:sp>
        <p:nvSpPr>
          <p:cNvPr id="6" name="Text 3"/>
          <p:cNvSpPr/>
          <p:nvPr/>
        </p:nvSpPr>
        <p:spPr>
          <a:xfrm>
            <a:off x="914400" y="1097280"/>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Pick your option  </a:t>
            </a:r>
            <a:r>
              <a:rPr lang="en-US" sz="1300">
                <a:solidFill>
                  <a:srgbClr val="1B2227"/>
                </a:solidFill>
                <a:latin typeface="Calibri" pitchFamily="34" charset="0"/>
                <a:ea typeface="Calibri" pitchFamily="34" charset="-122"/>
                <a:cs typeface="Calibri" pitchFamily="34" charset="-120"/>
              </a:rPr>
              <a:t>Keep Option 1 (client work) or Option 2 (platform contribution) or Option 4 (AI Case Study). Fill every slide; delete instruction notes.</a:t>
            </a:r>
            <a:endParaRPr lang="en-US" sz="1300"/>
          </a:p>
        </p:txBody>
      </p:sp>
      <p:sp>
        <p:nvSpPr>
          <p:cNvPr id="7" name="Shape 4"/>
          <p:cNvSpPr/>
          <p:nvPr/>
        </p:nvSpPr>
        <p:spPr>
          <a:xfrm>
            <a:off x="457200" y="1709928"/>
            <a:ext cx="310896" cy="310896"/>
          </a:xfrm>
          <a:prstGeom prst="ellipse">
            <a:avLst/>
          </a:prstGeom>
          <a:solidFill>
            <a:srgbClr val="075056"/>
          </a:solidFill>
          <a:ln/>
        </p:spPr>
        <p:txBody>
          <a:bodyPr/>
          <a:lstStyle/>
          <a:p>
            <a:endParaRPr lang="en-US"/>
          </a:p>
        </p:txBody>
      </p:sp>
      <p:sp>
        <p:nvSpPr>
          <p:cNvPr id="8" name="Text 5"/>
          <p:cNvSpPr/>
          <p:nvPr/>
        </p:nvSpPr>
        <p:spPr>
          <a:xfrm>
            <a:off x="457200" y="1709928"/>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2</a:t>
            </a:r>
            <a:endParaRPr lang="en-US" sz="1400"/>
          </a:p>
        </p:txBody>
      </p:sp>
      <p:sp>
        <p:nvSpPr>
          <p:cNvPr id="9" name="Text 6"/>
          <p:cNvSpPr/>
          <p:nvPr/>
        </p:nvSpPr>
        <p:spPr>
          <a:xfrm>
            <a:off x="914400" y="1664208"/>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Show at least 3 of 5 competencies  </a:t>
            </a:r>
            <a:r>
              <a:rPr lang="en-US" sz="1300">
                <a:solidFill>
                  <a:srgbClr val="1B2227"/>
                </a:solidFill>
                <a:latin typeface="Calibri" pitchFamily="34" charset="0"/>
                <a:ea typeface="Calibri" pitchFamily="34" charset="-122"/>
                <a:cs typeface="Calibri" pitchFamily="34" charset="-120"/>
              </a:rPr>
              <a:t>The rubric has 5 topics. Demonstrate a minimum of 3 with real evidence.</a:t>
            </a:r>
            <a:endParaRPr lang="en-US" sz="1300"/>
          </a:p>
        </p:txBody>
      </p:sp>
      <p:sp>
        <p:nvSpPr>
          <p:cNvPr id="10" name="Shape 7"/>
          <p:cNvSpPr/>
          <p:nvPr/>
        </p:nvSpPr>
        <p:spPr>
          <a:xfrm>
            <a:off x="457200" y="2276856"/>
            <a:ext cx="310896" cy="310896"/>
          </a:xfrm>
          <a:prstGeom prst="ellipse">
            <a:avLst/>
          </a:prstGeom>
          <a:solidFill>
            <a:srgbClr val="075056"/>
          </a:solidFill>
          <a:ln/>
        </p:spPr>
        <p:txBody>
          <a:bodyPr/>
          <a:lstStyle/>
          <a:p>
            <a:endParaRPr lang="en-US"/>
          </a:p>
        </p:txBody>
      </p:sp>
      <p:sp>
        <p:nvSpPr>
          <p:cNvPr id="11" name="Text 8"/>
          <p:cNvSpPr/>
          <p:nvPr/>
        </p:nvSpPr>
        <p:spPr>
          <a:xfrm>
            <a:off x="457200" y="2276856"/>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3</a:t>
            </a:r>
            <a:endParaRPr lang="en-US" sz="1400"/>
          </a:p>
        </p:txBody>
      </p:sp>
      <p:sp>
        <p:nvSpPr>
          <p:cNvPr id="12" name="Text 9"/>
          <p:cNvSpPr/>
          <p:nvPr/>
        </p:nvSpPr>
        <p:spPr>
          <a:xfrm>
            <a:off x="914400" y="2231136"/>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Capture impact &amp; reusability  </a:t>
            </a:r>
            <a:r>
              <a:rPr lang="en-US" sz="1300">
                <a:solidFill>
                  <a:srgbClr val="1B2227"/>
                </a:solidFill>
                <a:latin typeface="Calibri" pitchFamily="34" charset="0"/>
                <a:ea typeface="Calibri" pitchFamily="34" charset="-122"/>
                <a:cs typeface="Calibri" pitchFamily="34" charset="-120"/>
              </a:rPr>
              <a:t>Quantify before/after and show whether others can reuse your work.</a:t>
            </a:r>
            <a:endParaRPr lang="en-US" sz="1300"/>
          </a:p>
        </p:txBody>
      </p:sp>
      <p:sp>
        <p:nvSpPr>
          <p:cNvPr id="13" name="Shape 10"/>
          <p:cNvSpPr/>
          <p:nvPr/>
        </p:nvSpPr>
        <p:spPr>
          <a:xfrm>
            <a:off x="457200" y="2843784"/>
            <a:ext cx="310896" cy="310896"/>
          </a:xfrm>
          <a:prstGeom prst="ellipse">
            <a:avLst/>
          </a:prstGeom>
          <a:solidFill>
            <a:srgbClr val="024879"/>
          </a:solidFill>
          <a:ln/>
        </p:spPr>
        <p:txBody>
          <a:bodyPr/>
          <a:lstStyle/>
          <a:p>
            <a:endParaRPr lang="en-US"/>
          </a:p>
        </p:txBody>
      </p:sp>
      <p:sp>
        <p:nvSpPr>
          <p:cNvPr id="14" name="Text 11"/>
          <p:cNvSpPr/>
          <p:nvPr/>
        </p:nvSpPr>
        <p:spPr>
          <a:xfrm>
            <a:off x="457200" y="2843784"/>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4</a:t>
            </a:r>
            <a:endParaRPr lang="en-US" sz="1400"/>
          </a:p>
        </p:txBody>
      </p:sp>
      <p:sp>
        <p:nvSpPr>
          <p:cNvPr id="15" name="Text 12"/>
          <p:cNvSpPr/>
          <p:nvPr/>
        </p:nvSpPr>
        <p:spPr>
          <a:xfrm>
            <a:off x="914400" y="2798064"/>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Self-rate honestly  </a:t>
            </a:r>
            <a:r>
              <a:rPr lang="en-US" sz="1300">
                <a:solidFill>
                  <a:srgbClr val="1B2227"/>
                </a:solidFill>
                <a:latin typeface="Calibri" pitchFamily="34" charset="0"/>
                <a:ea typeface="Calibri" pitchFamily="34" charset="-122"/>
                <a:cs typeface="Calibri" pitchFamily="34" charset="-120"/>
              </a:rPr>
              <a:t>Score each topic 0–30 on the Self-Rating slide. Attach evidence for every claim.</a:t>
            </a:r>
            <a:endParaRPr lang="en-US" sz="1300"/>
          </a:p>
        </p:txBody>
      </p:sp>
      <p:sp>
        <p:nvSpPr>
          <p:cNvPr id="16" name="Shape 13"/>
          <p:cNvSpPr/>
          <p:nvPr/>
        </p:nvSpPr>
        <p:spPr>
          <a:xfrm>
            <a:off x="457200" y="3410712"/>
            <a:ext cx="310896" cy="310896"/>
          </a:xfrm>
          <a:prstGeom prst="ellipse">
            <a:avLst/>
          </a:prstGeom>
          <a:solidFill>
            <a:srgbClr val="024879"/>
          </a:solidFill>
          <a:ln/>
        </p:spPr>
        <p:txBody>
          <a:bodyPr/>
          <a:lstStyle/>
          <a:p>
            <a:endParaRPr lang="en-US"/>
          </a:p>
        </p:txBody>
      </p:sp>
      <p:sp>
        <p:nvSpPr>
          <p:cNvPr id="17" name="Text 14"/>
          <p:cNvSpPr/>
          <p:nvPr/>
        </p:nvSpPr>
        <p:spPr>
          <a:xfrm>
            <a:off x="457200" y="3410712"/>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5</a:t>
            </a:r>
            <a:endParaRPr lang="en-US" sz="1400"/>
          </a:p>
        </p:txBody>
      </p:sp>
      <p:sp>
        <p:nvSpPr>
          <p:cNvPr id="18" name="Text 15"/>
          <p:cNvSpPr/>
          <p:nvPr/>
        </p:nvSpPr>
        <p:spPr>
          <a:xfrm>
            <a:off x="914400" y="3364992"/>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Route to your validator  </a:t>
            </a:r>
            <a:r>
              <a:rPr lang="en-US" sz="1300">
                <a:solidFill>
                  <a:srgbClr val="1B2227"/>
                </a:solidFill>
                <a:latin typeface="Calibri" pitchFamily="34" charset="0"/>
                <a:ea typeface="Calibri" pitchFamily="34" charset="-122"/>
                <a:cs typeface="Calibri" pitchFamily="34" charset="-120"/>
              </a:rPr>
              <a:t>Your named validator scores and signs off: Agree or Do not certify.</a:t>
            </a:r>
            <a:endParaRPr lang="en-US" sz="1300"/>
          </a:p>
        </p:txBody>
      </p:sp>
      <p:sp>
        <p:nvSpPr>
          <p:cNvPr id="19" name="Shape 16"/>
          <p:cNvSpPr/>
          <p:nvPr/>
        </p:nvSpPr>
        <p:spPr>
          <a:xfrm>
            <a:off x="457200" y="4160520"/>
            <a:ext cx="8229600" cy="640080"/>
          </a:xfrm>
          <a:prstGeom prst="roundRect">
            <a:avLst>
              <a:gd name="adj" fmla="val 8571"/>
            </a:avLst>
          </a:prstGeom>
          <a:solidFill>
            <a:srgbClr val="075056"/>
          </a:solidFill>
          <a:ln/>
        </p:spPr>
        <p:txBody>
          <a:bodyPr/>
          <a:lstStyle/>
          <a:p>
            <a:endParaRPr lang="en-US"/>
          </a:p>
        </p:txBody>
      </p:sp>
      <p:sp>
        <p:nvSpPr>
          <p:cNvPr id="20" name="Text 17"/>
          <p:cNvSpPr/>
          <p:nvPr/>
        </p:nvSpPr>
        <p:spPr>
          <a:xfrm>
            <a:off x="640080" y="4160520"/>
            <a:ext cx="7863840" cy="640080"/>
          </a:xfrm>
          <a:prstGeom prst="rect">
            <a:avLst/>
          </a:prstGeom>
          <a:noFill/>
          <a:ln/>
        </p:spPr>
        <p:txBody>
          <a:bodyPr wrap="square" rtlCol="0" anchor="ctr"/>
          <a:lstStyle/>
          <a:p>
            <a:pPr marL="0" indent="0">
              <a:buNone/>
            </a:pPr>
            <a:r>
              <a:rPr lang="en-US" sz="1600" b="1">
                <a:solidFill>
                  <a:srgbClr val="FFFFFF"/>
                </a:solidFill>
                <a:latin typeface="Arial" pitchFamily="34" charset="0"/>
                <a:ea typeface="Arial" pitchFamily="34" charset="-122"/>
                <a:cs typeface="Arial" pitchFamily="34" charset="-120"/>
              </a:rPr>
              <a:t>Score to clear:  70 / 150 minimum</a:t>
            </a:r>
            <a:r>
              <a:rPr lang="en-US" sz="1200">
                <a:solidFill>
                  <a:srgbClr val="71D8C5"/>
                </a:solidFill>
                <a:latin typeface="Arial" pitchFamily="34" charset="0"/>
                <a:ea typeface="Arial" pitchFamily="34" charset="-122"/>
                <a:cs typeface="Arial" pitchFamily="34" charset="-120"/>
              </a:rPr>
              <a:t>     •  5 topics × 30 max each  •  minimum 3 topics demonstrated</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My Project Overview</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097280"/>
            <a:ext cx="3977640" cy="457200"/>
          </a:xfrm>
          <a:prstGeom prst="roundRect">
            <a:avLst>
              <a:gd name="adj" fmla="val 10000"/>
            </a:avLst>
          </a:prstGeom>
          <a:solidFill>
            <a:srgbClr val="024879"/>
          </a:solidFill>
          <a:ln/>
        </p:spPr>
        <p:txBody>
          <a:bodyPr/>
          <a:lstStyle/>
          <a:p>
            <a:endParaRPr lang="en-US"/>
          </a:p>
        </p:txBody>
      </p:sp>
      <p:sp>
        <p:nvSpPr>
          <p:cNvPr id="5" name="Text 2"/>
          <p:cNvSpPr/>
          <p:nvPr/>
        </p:nvSpPr>
        <p:spPr>
          <a:xfrm>
            <a:off x="548640" y="1097280"/>
            <a:ext cx="3794760" cy="457200"/>
          </a:xfrm>
          <a:prstGeom prst="rect">
            <a:avLst/>
          </a:prstGeom>
          <a:noFill/>
          <a:ln/>
        </p:spPr>
        <p:txBody>
          <a:bodyPr wrap="square" rtlCol="0" anchor="ctr"/>
          <a:lstStyle/>
          <a:p>
            <a:pPr marL="0" indent="0" algn="ctr">
              <a:buNone/>
            </a:pPr>
            <a:endParaRPr lang="en-US" sz="1300"/>
            <a:r>
              <a:rPr lang="en-US" dirty="0"/>
              <a:t>OPTION 4 — AI Case Study</a:t>
            </a:r>
          </a:p>
        </p:txBody>
      </p:sp>
      <p:sp>
        <p:nvSpPr>
          <p:cNvPr id="6" name="Text 3"/>
          <p:cNvSpPr/>
          <p:nvPr/>
        </p:nvSpPr>
        <p:spPr>
          <a:xfrm>
            <a:off x="457200" y="1691640"/>
            <a:ext cx="3931920" cy="256032"/>
          </a:xfrm>
          <a:prstGeom prst="rect">
            <a:avLst/>
          </a:prstGeom>
          <a:noFill/>
          <a:ln/>
        </p:spPr>
        <p:txBody>
          <a:bodyPr wrap="square" rtlCol="0" anchor="ctr"/>
          <a:lstStyle/>
          <a:p>
            <a:pPr marL="0" indent="0" algn="l">
              <a:buNone/>
            </a:pPr>
            <a:endParaRPr lang="en-US" sz="1200"/>
            <a:r>
              <a:rPr lang="en-US" dirty="0"/>
              <a:t>Domain &amp; engagement</a:t>
            </a:r>
          </a:p>
        </p:txBody>
      </p:sp>
      <p:sp>
        <p:nvSpPr>
          <p:cNvPr id="7" name="Shape 4"/>
          <p:cNvSpPr/>
          <p:nvPr/>
        </p:nvSpPr>
        <p:spPr>
          <a:xfrm>
            <a:off x="457200" y="1947672"/>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8" name="Text 5"/>
          <p:cNvSpPr/>
          <p:nvPr/>
        </p:nvSpPr>
        <p:spPr>
          <a:xfrm>
            <a:off x="566928" y="1947672"/>
            <a:ext cx="3758184" cy="457200"/>
          </a:xfrm>
          <a:prstGeom prst="rect">
            <a:avLst/>
          </a:prstGeom>
          <a:noFill/>
          <a:ln/>
        </p:spPr>
        <p:txBody>
          <a:bodyPr wrap="square" rtlCol="0" anchor="ctr"/>
          <a:lstStyle/>
          <a:p>
            <a:pPr marL="0" indent="0" algn="l">
              <a:buNone/>
            </a:pPr>
            <a:endParaRPr lang="en-US" sz="1100"/>
            <a:r>
              <a:rPr lang="en-US" dirty="0"/>
              <a:t>QA Engineering — Cypress to Playwright Migration</a:t>
            </a:r>
          </a:p>
          <a:p>
            <a:pPr marL="0" indent="0" algn="l">
              <a:buNone/>
            </a:pPr>
            <a:endParaRPr lang="en-US" sz="1100"/>
            <a:r>
              <a:rPr lang="en-US" dirty="0"/>
              <a:t>Perficient AI Capstone L2 (internal, OrangeHRM public demo)</a:t>
            </a:r>
          </a:p>
        </p:txBody>
      </p:sp>
      <p:sp>
        <p:nvSpPr>
          <p:cNvPr id="9" name="Text 6"/>
          <p:cNvSpPr/>
          <p:nvPr/>
        </p:nvSpPr>
        <p:spPr>
          <a:xfrm>
            <a:off x="457200" y="2532888"/>
            <a:ext cx="3931920" cy="256032"/>
          </a:xfrm>
          <a:prstGeom prst="rect">
            <a:avLst/>
          </a:prstGeom>
          <a:noFill/>
          <a:ln/>
        </p:spPr>
        <p:txBody>
          <a:bodyPr wrap="square" rtlCol="0" anchor="ctr"/>
          <a:lstStyle/>
          <a:p>
            <a:pPr marL="0" indent="0" algn="l">
              <a:buNone/>
            </a:pPr>
            <a:endParaRPr lang="en-US" sz="1200"/>
            <a:r>
              <a:rPr lang="en-US" dirty="0"/>
              <a:t>Problem · AI solution · outcomes</a:t>
            </a:r>
          </a:p>
        </p:txBody>
      </p:sp>
      <p:sp>
        <p:nvSpPr>
          <p:cNvPr id="10" name="Shape 7"/>
          <p:cNvSpPr/>
          <p:nvPr/>
        </p:nvSpPr>
        <p:spPr>
          <a:xfrm>
            <a:off x="457200" y="2788920"/>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1" name="Text 8"/>
          <p:cNvSpPr/>
          <p:nvPr/>
        </p:nvSpPr>
        <p:spPr>
          <a:xfrm>
            <a:off x="566928" y="2788920"/>
            <a:ext cx="3758184" cy="457200"/>
          </a:xfrm>
          <a:prstGeom prst="rect">
            <a:avLst/>
          </a:prstGeom>
          <a:noFill/>
          <a:ln/>
        </p:spPr>
        <p:txBody>
          <a:bodyPr wrap="square" rtlCol="0" anchor="ctr"/>
          <a:lstStyle/>
          <a:p>
            <a:pPr marL="0" indent="0" algn="l">
              <a:buNone/>
            </a:pPr>
            <a:endParaRPr lang="en-US" sz="1100"/>
            <a:r>
              <a:rPr lang="en-US" dirty="0"/>
              <a:t>7 Cypress TypeScript E2E tests migrated to Playwright Python BDD.</a:t>
            </a:r>
          </a:p>
          <a:p>
            <a:pPr marL="0" indent="0" algn="l">
              <a:buNone/>
            </a:pPr>
            <a:endParaRPr lang="en-US" sz="1100"/>
            <a:r>
              <a:rPr lang="en-US" dirty="0"/>
              <a:t>Claude Code agent with MCP Playwright navigated the live app,</a:t>
            </a:r>
          </a:p>
          <a:p>
            <a:pPr marL="0" indent="0" algn="l">
              <a:buNone/>
            </a:pPr>
            <a:endParaRPr lang="en-US" sz="1100"/>
            <a:r>
              <a:rPr lang="en-US" dirty="0"/>
              <a:t>validated selectors, generated Gherkin + POM code, and fixed 3 bugs.</a:t>
            </a:r>
          </a:p>
        </p:txBody>
      </p:sp>
      <p:sp>
        <p:nvSpPr>
          <p:cNvPr id="12" name="Text 9"/>
          <p:cNvSpPr/>
          <p:nvPr/>
        </p:nvSpPr>
        <p:spPr>
          <a:xfrm>
            <a:off x="457200" y="3374136"/>
            <a:ext cx="3931920" cy="256032"/>
          </a:xfrm>
          <a:prstGeom prst="rect">
            <a:avLst/>
          </a:prstGeom>
          <a:noFill/>
          <a:ln/>
        </p:spPr>
        <p:txBody>
          <a:bodyPr wrap="square" rtlCol="0" anchor="ctr"/>
          <a:lstStyle/>
          <a:p>
            <a:pPr marL="0" indent="0" algn="l">
              <a:buNone/>
            </a:pPr>
            <a:endParaRPr lang="en-US" sz="1200"/>
            <a:r>
              <a:rPr lang="en-US" dirty="0"/>
              <a:t>Quantified business impact</a:t>
            </a:r>
          </a:p>
        </p:txBody>
      </p:sp>
      <p:sp>
        <p:nvSpPr>
          <p:cNvPr id="13" name="Shape 10"/>
          <p:cNvSpPr/>
          <p:nvPr/>
        </p:nvSpPr>
        <p:spPr>
          <a:xfrm>
            <a:off x="457200" y="3630168"/>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4" name="Text 11"/>
          <p:cNvSpPr/>
          <p:nvPr/>
        </p:nvSpPr>
        <p:spPr>
          <a:xfrm>
            <a:off x="566928" y="3630168"/>
            <a:ext cx="3758184" cy="457200"/>
          </a:xfrm>
          <a:prstGeom prst="rect">
            <a:avLst/>
          </a:prstGeom>
          <a:noFill/>
          <a:ln/>
        </p:spPr>
        <p:txBody>
          <a:bodyPr wrap="square" rtlCol="0" anchor="ctr"/>
          <a:lstStyle/>
          <a:p>
            <a:pPr marL="0" indent="0" algn="l">
              <a:buNone/>
            </a:pPr>
            <a:endParaRPr lang="en-US" sz="1100"/>
            <a:r>
              <a:rPr lang="en-US" dirty="0"/>
              <a:t>8/8 Cypress + 8/8 Playwright tests passing.</a:t>
            </a:r>
          </a:p>
          <a:p>
            <a:pPr marL="0" indent="0" algn="l">
              <a:buNone/>
            </a:pPr>
            <a:endParaRPr lang="en-US" sz="1100"/>
            <a:r>
              <a:rPr lang="en-US" dirty="0"/>
              <a:t>Migration: 2-3 days manual -&gt; 3.5 h agent session (75% time reduction).</a:t>
            </a:r>
          </a:p>
          <a:p>
            <a:pPr marL="0" indent="0" algn="l">
              <a:buNone/>
            </a:pPr>
            <a:endParaRPr lang="en-US" sz="1100"/>
            <a:r>
              <a:rPr lang="en-US" dirty="0"/>
              <a:t>3 failure modes caught &amp; fixed autonomously.</a:t>
            </a:r>
          </a:p>
        </p:txBody>
      </p:sp>
      <p:sp>
        <p:nvSpPr>
          <p:cNvPr id="15" name="Shape 12"/>
          <p:cNvSpPr/>
          <p:nvPr/>
        </p:nvSpPr>
        <p:spPr>
          <a:xfrm>
            <a:off x="4709160" y="1097280"/>
            <a:ext cx="3977640" cy="457200"/>
          </a:xfrm>
          <a:prstGeom prst="roundRect">
            <a:avLst>
              <a:gd name="adj" fmla="val 10000"/>
            </a:avLst>
          </a:prstGeom>
          <a:solidFill>
            <a:srgbClr val="024879"/>
          </a:solidFill>
          <a:ln/>
        </p:spPr>
        <p:txBody>
          <a:bodyPr/>
          <a:lstStyle/>
          <a:p>
            <a:endParaRPr lang="en-US"/>
          </a:p>
        </p:txBody>
      </p:sp>
      <p:sp>
        <p:nvSpPr>
          <p:cNvPr id="16" name="Text 13"/>
          <p:cNvSpPr/>
          <p:nvPr/>
        </p:nvSpPr>
        <p:spPr>
          <a:xfrm>
            <a:off x="4800600" y="1097280"/>
            <a:ext cx="3794760" cy="457200"/>
          </a:xfrm>
          <a:prstGeom prst="rect">
            <a:avLst/>
          </a:prstGeom>
          <a:noFill/>
          <a:ln/>
        </p:spPr>
        <p:txBody>
          <a:bodyPr wrap="square" rtlCol="0" anchor="ctr"/>
          <a:lstStyle/>
          <a:p>
            <a:pPr marL="0" indent="0" algn="ctr">
              <a:buNone/>
            </a:pPr>
            <a:r>
              <a:rPr lang="en-US" sz="1300" b="1">
                <a:solidFill>
                  <a:srgbClr val="FFFFFF"/>
                </a:solidFill>
                <a:latin typeface="Arial" pitchFamily="34" charset="0"/>
                <a:ea typeface="Arial" pitchFamily="34" charset="-122"/>
                <a:cs typeface="Arial" pitchFamily="34" charset="-120"/>
              </a:rPr>
              <a:t>OPTION 2 — Platform Contribution</a:t>
            </a:r>
            <a:endParaRPr lang="en-US" sz="1300"/>
          </a:p>
        </p:txBody>
      </p:sp>
      <p:sp>
        <p:nvSpPr>
          <p:cNvPr id="17" name="Text 14"/>
          <p:cNvSpPr/>
          <p:nvPr/>
        </p:nvSpPr>
        <p:spPr>
          <a:xfrm>
            <a:off x="4709160" y="1691640"/>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Platform contributed to</a:t>
            </a:r>
            <a:endParaRPr lang="en-US" sz="1200"/>
          </a:p>
        </p:txBody>
      </p:sp>
      <p:sp>
        <p:nvSpPr>
          <p:cNvPr id="18" name="Shape 15"/>
          <p:cNvSpPr/>
          <p:nvPr/>
        </p:nvSpPr>
        <p:spPr>
          <a:xfrm>
            <a:off x="4709160" y="1947672"/>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9" name="Text 16"/>
          <p:cNvSpPr/>
          <p:nvPr/>
        </p:nvSpPr>
        <p:spPr>
          <a:xfrm>
            <a:off x="4818888" y="1947672"/>
            <a:ext cx="3758184" cy="457200"/>
          </a:xfrm>
          <a:prstGeom prst="rect">
            <a:avLst/>
          </a:prstGeom>
          <a:noFill/>
          <a:ln/>
        </p:spPr>
        <p:txBody>
          <a:bodyPr wrap="square" rtlCol="0" anchor="ctr"/>
          <a:lstStyle/>
          <a:p>
            <a:pPr marL="0" indent="0" algn="l">
              <a:buNone/>
            </a:pPr>
            <a:endParaRPr lang="en-US" sz="1100"/>
            <a:r>
              <a:rPr lang="en-US" dirty="0"/>
              <a:t>N/A — Option 4 submission</a:t>
            </a:r>
          </a:p>
        </p:txBody>
      </p:sp>
      <p:sp>
        <p:nvSpPr>
          <p:cNvPr id="20" name="Text 17"/>
          <p:cNvSpPr/>
          <p:nvPr/>
        </p:nvSpPr>
        <p:spPr>
          <a:xfrm>
            <a:off x="4709160" y="2532888"/>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Feature / innovation contributed</a:t>
            </a:r>
            <a:endParaRPr lang="en-US" sz="1200"/>
          </a:p>
        </p:txBody>
      </p:sp>
      <p:sp>
        <p:nvSpPr>
          <p:cNvPr id="21" name="Shape 18"/>
          <p:cNvSpPr/>
          <p:nvPr/>
        </p:nvSpPr>
        <p:spPr>
          <a:xfrm>
            <a:off x="4709160" y="2788920"/>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22" name="Text 19"/>
          <p:cNvSpPr/>
          <p:nvPr/>
        </p:nvSpPr>
        <p:spPr>
          <a:xfrm>
            <a:off x="4818888" y="2788920"/>
            <a:ext cx="3758184" cy="457200"/>
          </a:xfrm>
          <a:prstGeom prst="rect">
            <a:avLst/>
          </a:prstGeom>
          <a:noFill/>
          <a:ln/>
        </p:spPr>
        <p:txBody>
          <a:bodyPr wrap="square" rtlCol="0" anchor="ctr"/>
          <a:lstStyle/>
          <a:p>
            <a:pPr marL="0" indent="0" algn="l">
              <a:buNone/>
            </a:pPr>
            <a:endParaRPr lang="en-US" sz="1100"/>
            <a:r>
              <a:rPr lang="en-US" dirty="0"/>
              <a:t>N/A</a:t>
            </a:r>
          </a:p>
        </p:txBody>
      </p:sp>
      <p:sp>
        <p:nvSpPr>
          <p:cNvPr id="23" name="Text 20"/>
          <p:cNvSpPr/>
          <p:nvPr/>
        </p:nvSpPr>
        <p:spPr>
          <a:xfrm>
            <a:off x="4709160" y="3374136"/>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Org-scale AI capability impact</a:t>
            </a:r>
            <a:endParaRPr lang="en-US" sz="1200"/>
          </a:p>
        </p:txBody>
      </p:sp>
      <p:sp>
        <p:nvSpPr>
          <p:cNvPr id="24" name="Shape 21"/>
          <p:cNvSpPr/>
          <p:nvPr/>
        </p:nvSpPr>
        <p:spPr>
          <a:xfrm>
            <a:off x="4709160" y="3630168"/>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25" name="Text 22"/>
          <p:cNvSpPr/>
          <p:nvPr/>
        </p:nvSpPr>
        <p:spPr>
          <a:xfrm>
            <a:off x="4818888" y="3630168"/>
            <a:ext cx="3758184" cy="457200"/>
          </a:xfrm>
          <a:prstGeom prst="rect">
            <a:avLst/>
          </a:prstGeom>
          <a:noFill/>
          <a:ln/>
        </p:spPr>
        <p:txBody>
          <a:bodyPr wrap="square" rtlCol="0" anchor="ctr"/>
          <a:lstStyle/>
          <a:p>
            <a:pPr marL="0" indent="0" algn="l">
              <a:buNone/>
            </a:pPr>
            <a:endParaRPr lang="en-US" sz="1100"/>
            <a:r>
              <a:rPr lang="en-US" dirty="0"/>
              <a:t>N/A</a:t>
            </a:r>
          </a:p>
        </p:txBody>
      </p:sp>
      <p:sp>
        <p:nvSpPr>
          <p:cNvPr id="26" name="Text 23"/>
          <p:cNvSpPr/>
          <p:nvPr/>
        </p:nvSpPr>
        <p:spPr>
          <a:xfrm>
            <a:off x="457200" y="4709160"/>
            <a:ext cx="8229600" cy="274320"/>
          </a:xfrm>
          <a:prstGeom prst="rect">
            <a:avLst/>
          </a:prstGeom>
          <a:noFill/>
          <a:ln/>
        </p:spPr>
        <p:txBody>
          <a:bodyPr wrap="square" rtlCol="0" anchor="ctr"/>
          <a:lstStyle/>
          <a:p>
            <a:pPr marL="0" indent="0">
              <a:buNone/>
            </a:pPr>
            <a:r>
              <a:rPr lang="en-US" sz="1000" i="1">
                <a:solidFill>
                  <a:srgbClr val="5A6B72"/>
                </a:solidFill>
                <a:latin typeface="Calibri" pitchFamily="34" charset="0"/>
                <a:ea typeface="Calibri" pitchFamily="34" charset="-122"/>
                <a:cs typeface="Calibri" pitchFamily="34" charset="-120"/>
              </a:rPr>
              <a:t>Fill only the column for your option.</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My AI Approach</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1097280"/>
            <a:ext cx="822960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Goal — one sentence: the repeatable outcome you wanted AI to deliver</a:t>
            </a:r>
            <a:endParaRPr lang="en-US" sz="1200"/>
          </a:p>
        </p:txBody>
      </p:sp>
      <p:sp>
        <p:nvSpPr>
          <p:cNvPr id="5" name="Shape 2"/>
          <p:cNvSpPr/>
          <p:nvPr/>
        </p:nvSpPr>
        <p:spPr>
          <a:xfrm>
            <a:off x="457200" y="1371600"/>
            <a:ext cx="822960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6" name="Text 3"/>
          <p:cNvSpPr/>
          <p:nvPr/>
        </p:nvSpPr>
        <p:spPr>
          <a:xfrm>
            <a:off x="566928" y="1371600"/>
            <a:ext cx="8010144" cy="457200"/>
          </a:xfrm>
          <a:prstGeom prst="rect">
            <a:avLst/>
          </a:prstGeom>
          <a:noFill/>
          <a:ln/>
        </p:spPr>
        <p:txBody>
          <a:bodyPr wrap="square" rtlCol="0" anchor="ctr"/>
          <a:lstStyle/>
          <a:p>
            <a:pPr marL="0" indent="0" algn="l">
              <a:buNone/>
            </a:pPr>
            <a:endParaRPr lang="en-US" sz="1100"/>
            <a:r>
              <a:rPr lang="en-US" dirty="0"/>
              <a:t>Migrate a 7-requirement Cypress TypeScript suite to Playwright Python BDD in one agent session — zero manual selector work, passing on first run.</a:t>
            </a:r>
          </a:p>
        </p:txBody>
      </p:sp>
      <p:sp>
        <p:nvSpPr>
          <p:cNvPr id="7" name="Shape 4"/>
          <p:cNvSpPr/>
          <p:nvPr/>
        </p:nvSpPr>
        <p:spPr>
          <a:xfrm>
            <a:off x="457200" y="2057400"/>
            <a:ext cx="1572768" cy="2194560"/>
          </a:xfrm>
          <a:prstGeom prst="roundRect">
            <a:avLst>
              <a:gd name="adj" fmla="val 3488"/>
            </a:avLst>
          </a:prstGeom>
          <a:solidFill>
            <a:srgbClr val="DFE7ED"/>
          </a:solidFill>
          <a:ln/>
        </p:spPr>
        <p:txBody>
          <a:bodyPr/>
          <a:lstStyle/>
          <a:p>
            <a:endParaRPr lang="en-US"/>
          </a:p>
        </p:txBody>
      </p:sp>
      <p:sp>
        <p:nvSpPr>
          <p:cNvPr id="8" name="Shape 5"/>
          <p:cNvSpPr/>
          <p:nvPr/>
        </p:nvSpPr>
        <p:spPr>
          <a:xfrm>
            <a:off x="1042416" y="2194560"/>
            <a:ext cx="402336" cy="402336"/>
          </a:xfrm>
          <a:prstGeom prst="ellipse">
            <a:avLst/>
          </a:prstGeom>
          <a:solidFill>
            <a:srgbClr val="075056"/>
          </a:solidFill>
          <a:ln/>
        </p:spPr>
        <p:txBody>
          <a:bodyPr/>
          <a:lstStyle/>
          <a:p>
            <a:endParaRPr lang="en-US"/>
          </a:p>
        </p:txBody>
      </p:sp>
      <p:sp>
        <p:nvSpPr>
          <p:cNvPr id="9" name="Text 6"/>
          <p:cNvSpPr/>
          <p:nvPr/>
        </p:nvSpPr>
        <p:spPr>
          <a:xfrm>
            <a:off x="104241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1</a:t>
            </a:r>
            <a:endParaRPr lang="en-US" sz="1600"/>
          </a:p>
        </p:txBody>
      </p:sp>
      <p:sp>
        <p:nvSpPr>
          <p:cNvPr id="10" name="Text 7"/>
          <p:cNvSpPr/>
          <p:nvPr/>
        </p:nvSpPr>
        <p:spPr>
          <a:xfrm>
            <a:off x="512064" y="2697480"/>
            <a:ext cx="1463040" cy="274320"/>
          </a:xfrm>
          <a:prstGeom prst="rect">
            <a:avLst/>
          </a:prstGeom>
          <a:noFill/>
          <a:ln/>
        </p:spPr>
        <p:txBody>
          <a:bodyPr wrap="square" rtlCol="0" anchor="ctr"/>
          <a:lstStyle/>
          <a:p>
            <a:pPr marL="0" indent="0" algn="ctr">
              <a:buNone/>
            </a:pPr>
            <a:endParaRPr lang="en-US" sz="1100"/>
            <a:r>
              <a:rPr lang="en-US" dirty="0"/>
              <a:t>Requirements Analysis</a:t>
            </a:r>
          </a:p>
        </p:txBody>
      </p:sp>
      <p:sp>
        <p:nvSpPr>
          <p:cNvPr id="11" name="Text 8"/>
          <p:cNvSpPr/>
          <p:nvPr/>
        </p:nvSpPr>
        <p:spPr>
          <a:xfrm>
            <a:off x="530352" y="3017520"/>
            <a:ext cx="1426464" cy="1097280"/>
          </a:xfrm>
          <a:prstGeom prst="rect">
            <a:avLst/>
          </a:prstGeom>
          <a:noFill/>
          <a:ln/>
        </p:spPr>
        <p:txBody>
          <a:bodyPr wrap="square" rtlCol="0" anchor="ctr"/>
          <a:lstStyle/>
          <a:p>
            <a:pPr marL="0" indent="0" algn="ctr">
              <a:buNone/>
            </a:pPr>
            <a:endParaRPr lang="en-US" sz="950"/>
            <a:r>
              <a:rPr lang="en-US" dirty="0"/>
              <a:t>Claude Code reads functional_requirements.md and all Cypress specs; extracts test intent per REQ-ID without executing any browser yet.</a:t>
            </a:r>
          </a:p>
        </p:txBody>
      </p:sp>
      <p:sp>
        <p:nvSpPr>
          <p:cNvPr id="12" name="Shape 9"/>
          <p:cNvSpPr/>
          <p:nvPr/>
        </p:nvSpPr>
        <p:spPr>
          <a:xfrm>
            <a:off x="2148840" y="2057400"/>
            <a:ext cx="1572768" cy="2194560"/>
          </a:xfrm>
          <a:prstGeom prst="roundRect">
            <a:avLst>
              <a:gd name="adj" fmla="val 3488"/>
            </a:avLst>
          </a:prstGeom>
          <a:solidFill>
            <a:srgbClr val="C5DCEE"/>
          </a:solidFill>
          <a:ln/>
        </p:spPr>
        <p:txBody>
          <a:bodyPr/>
          <a:lstStyle/>
          <a:p>
            <a:endParaRPr lang="en-US"/>
          </a:p>
        </p:txBody>
      </p:sp>
      <p:sp>
        <p:nvSpPr>
          <p:cNvPr id="13" name="Shape 10"/>
          <p:cNvSpPr/>
          <p:nvPr/>
        </p:nvSpPr>
        <p:spPr>
          <a:xfrm>
            <a:off x="2734056" y="2194560"/>
            <a:ext cx="402336" cy="402336"/>
          </a:xfrm>
          <a:prstGeom prst="ellipse">
            <a:avLst/>
          </a:prstGeom>
          <a:solidFill>
            <a:srgbClr val="075056"/>
          </a:solidFill>
          <a:ln/>
        </p:spPr>
        <p:txBody>
          <a:bodyPr/>
          <a:lstStyle/>
          <a:p>
            <a:endParaRPr lang="en-US"/>
          </a:p>
        </p:txBody>
      </p:sp>
      <p:sp>
        <p:nvSpPr>
          <p:cNvPr id="14" name="Text 11"/>
          <p:cNvSpPr/>
          <p:nvPr/>
        </p:nvSpPr>
        <p:spPr>
          <a:xfrm>
            <a:off x="273405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2</a:t>
            </a:r>
            <a:endParaRPr lang="en-US" sz="1600"/>
          </a:p>
        </p:txBody>
      </p:sp>
      <p:sp>
        <p:nvSpPr>
          <p:cNvPr id="15" name="Text 12"/>
          <p:cNvSpPr/>
          <p:nvPr/>
        </p:nvSpPr>
        <p:spPr>
          <a:xfrm>
            <a:off x="2203704" y="2697480"/>
            <a:ext cx="1463040" cy="274320"/>
          </a:xfrm>
          <a:prstGeom prst="rect">
            <a:avLst/>
          </a:prstGeom>
          <a:noFill/>
          <a:ln/>
        </p:spPr>
        <p:txBody>
          <a:bodyPr wrap="square" rtlCol="0" anchor="ctr"/>
          <a:lstStyle/>
          <a:p>
            <a:pPr marL="0" indent="0" algn="ctr">
              <a:buNone/>
            </a:pPr>
            <a:endParaRPr lang="en-US" sz="1100"/>
            <a:r>
              <a:rPr lang="en-US" dirty="0"/>
              <a:t>MCP Playwright Exploration</a:t>
            </a:r>
          </a:p>
        </p:txBody>
      </p:sp>
      <p:sp>
        <p:nvSpPr>
          <p:cNvPr id="16" name="Text 13"/>
          <p:cNvSpPr/>
          <p:nvPr/>
        </p:nvSpPr>
        <p:spPr>
          <a:xfrm>
            <a:off x="2221992" y="3017520"/>
            <a:ext cx="1426464" cy="1097280"/>
          </a:xfrm>
          <a:prstGeom prst="rect">
            <a:avLst/>
          </a:prstGeom>
          <a:noFill/>
          <a:ln/>
        </p:spPr>
        <p:txBody>
          <a:bodyPr wrap="square" rtlCol="0" anchor="ctr"/>
          <a:lstStyle/>
          <a:p>
            <a:pPr marL="0" indent="0" algn="ctr">
              <a:buNone/>
            </a:pPr>
            <a:endParaRPr lang="en-US" sz="950"/>
            <a:r>
              <a:rPr lang="en-US" dirty="0"/>
              <a:t>Agent navigates live OrangeHRM via browser_snapshot + browser_evaluate; validates every selector against real DOM (count must equal 1) before writing code.</a:t>
            </a:r>
          </a:p>
        </p:txBody>
      </p:sp>
      <p:sp>
        <p:nvSpPr>
          <p:cNvPr id="17" name="Shape 14"/>
          <p:cNvSpPr/>
          <p:nvPr/>
        </p:nvSpPr>
        <p:spPr>
          <a:xfrm>
            <a:off x="3840480" y="2057400"/>
            <a:ext cx="1572768" cy="2194560"/>
          </a:xfrm>
          <a:prstGeom prst="roundRect">
            <a:avLst>
              <a:gd name="adj" fmla="val 3488"/>
            </a:avLst>
          </a:prstGeom>
          <a:solidFill>
            <a:srgbClr val="DFE7ED"/>
          </a:solidFill>
          <a:ln/>
        </p:spPr>
        <p:txBody>
          <a:bodyPr/>
          <a:lstStyle/>
          <a:p>
            <a:endParaRPr lang="en-US"/>
          </a:p>
        </p:txBody>
      </p:sp>
      <p:sp>
        <p:nvSpPr>
          <p:cNvPr id="18" name="Shape 15"/>
          <p:cNvSpPr/>
          <p:nvPr/>
        </p:nvSpPr>
        <p:spPr>
          <a:xfrm>
            <a:off x="4425696" y="2194560"/>
            <a:ext cx="402336" cy="402336"/>
          </a:xfrm>
          <a:prstGeom prst="ellipse">
            <a:avLst/>
          </a:prstGeom>
          <a:solidFill>
            <a:srgbClr val="075056"/>
          </a:solidFill>
          <a:ln/>
        </p:spPr>
        <p:txBody>
          <a:bodyPr/>
          <a:lstStyle/>
          <a:p>
            <a:endParaRPr lang="en-US"/>
          </a:p>
        </p:txBody>
      </p:sp>
      <p:sp>
        <p:nvSpPr>
          <p:cNvPr id="19" name="Text 16"/>
          <p:cNvSpPr/>
          <p:nvPr/>
        </p:nvSpPr>
        <p:spPr>
          <a:xfrm>
            <a:off x="442569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3</a:t>
            </a:r>
            <a:endParaRPr lang="en-US" sz="1600"/>
          </a:p>
        </p:txBody>
      </p:sp>
      <p:sp>
        <p:nvSpPr>
          <p:cNvPr id="20" name="Text 17"/>
          <p:cNvSpPr/>
          <p:nvPr/>
        </p:nvSpPr>
        <p:spPr>
          <a:xfrm>
            <a:off x="3895344" y="2697480"/>
            <a:ext cx="1463040" cy="274320"/>
          </a:xfrm>
          <a:prstGeom prst="rect">
            <a:avLst/>
          </a:prstGeom>
          <a:noFill/>
          <a:ln/>
        </p:spPr>
        <p:txBody>
          <a:bodyPr wrap="square" rtlCol="0" anchor="ctr"/>
          <a:lstStyle/>
          <a:p>
            <a:pPr marL="0" indent="0" algn="ctr">
              <a:buNone/>
            </a:pPr>
            <a:endParaRPr lang="en-US" sz="1100"/>
            <a:r>
              <a:rPr lang="en-US" dirty="0"/>
              <a:t>Code Generation</a:t>
            </a:r>
          </a:p>
        </p:txBody>
      </p:sp>
      <p:sp>
        <p:nvSpPr>
          <p:cNvPr id="21" name="Text 18"/>
          <p:cNvSpPr/>
          <p:nvPr/>
        </p:nvSpPr>
        <p:spPr>
          <a:xfrm>
            <a:off x="3913632" y="3017520"/>
            <a:ext cx="1426464" cy="1097280"/>
          </a:xfrm>
          <a:prstGeom prst="rect">
            <a:avLst/>
          </a:prstGeom>
          <a:noFill/>
          <a:ln/>
        </p:spPr>
        <p:txBody>
          <a:bodyPr wrap="square" rtlCol="0" anchor="ctr"/>
          <a:lstStyle/>
          <a:p>
            <a:pPr marL="0" indent="0" algn="ctr">
              <a:buNone/>
            </a:pPr>
            <a:endParaRPr lang="en-US" sz="950"/>
            <a:r>
              <a:rPr lang="en-US" dirty="0"/>
              <a:t>Agent writes three artifacts per REQ: Gherkin .feature file, Python Page Object class (POM), and pytest-bdd step definitions.</a:t>
            </a:r>
          </a:p>
        </p:txBody>
      </p:sp>
      <p:sp>
        <p:nvSpPr>
          <p:cNvPr id="22" name="Shape 19"/>
          <p:cNvSpPr/>
          <p:nvPr/>
        </p:nvSpPr>
        <p:spPr>
          <a:xfrm>
            <a:off x="5532120" y="2057400"/>
            <a:ext cx="1572768" cy="2194560"/>
          </a:xfrm>
          <a:prstGeom prst="roundRect">
            <a:avLst>
              <a:gd name="adj" fmla="val 3488"/>
            </a:avLst>
          </a:prstGeom>
          <a:solidFill>
            <a:srgbClr val="C5DCEE"/>
          </a:solidFill>
          <a:ln/>
        </p:spPr>
        <p:txBody>
          <a:bodyPr/>
          <a:lstStyle/>
          <a:p>
            <a:endParaRPr lang="en-US"/>
          </a:p>
        </p:txBody>
      </p:sp>
      <p:sp>
        <p:nvSpPr>
          <p:cNvPr id="23" name="Shape 20"/>
          <p:cNvSpPr/>
          <p:nvPr/>
        </p:nvSpPr>
        <p:spPr>
          <a:xfrm>
            <a:off x="6117336" y="2194560"/>
            <a:ext cx="402336" cy="402336"/>
          </a:xfrm>
          <a:prstGeom prst="ellipse">
            <a:avLst/>
          </a:prstGeom>
          <a:solidFill>
            <a:srgbClr val="075056"/>
          </a:solidFill>
          <a:ln/>
        </p:spPr>
        <p:txBody>
          <a:bodyPr/>
          <a:lstStyle/>
          <a:p>
            <a:endParaRPr lang="en-US"/>
          </a:p>
        </p:txBody>
      </p:sp>
      <p:sp>
        <p:nvSpPr>
          <p:cNvPr id="24" name="Text 21"/>
          <p:cNvSpPr/>
          <p:nvPr/>
        </p:nvSpPr>
        <p:spPr>
          <a:xfrm>
            <a:off x="611733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4</a:t>
            </a:r>
            <a:endParaRPr lang="en-US" sz="1600"/>
          </a:p>
        </p:txBody>
      </p:sp>
      <p:sp>
        <p:nvSpPr>
          <p:cNvPr id="25" name="Text 22"/>
          <p:cNvSpPr/>
          <p:nvPr/>
        </p:nvSpPr>
        <p:spPr>
          <a:xfrm>
            <a:off x="5586984" y="2697480"/>
            <a:ext cx="1463040" cy="274320"/>
          </a:xfrm>
          <a:prstGeom prst="rect">
            <a:avLst/>
          </a:prstGeom>
          <a:noFill/>
          <a:ln/>
        </p:spPr>
        <p:txBody>
          <a:bodyPr wrap="square" rtlCol="0" anchor="ctr"/>
          <a:lstStyle/>
          <a:p>
            <a:pPr marL="0" indent="0" algn="ctr">
              <a:buNone/>
            </a:pPr>
            <a:endParaRPr lang="en-US" sz="1100"/>
            <a:r>
              <a:rPr lang="en-US" dirty="0"/>
              <a:t>Execution &amp; Validation</a:t>
            </a:r>
          </a:p>
        </p:txBody>
      </p:sp>
      <p:sp>
        <p:nvSpPr>
          <p:cNvPr id="26" name="Text 23"/>
          <p:cNvSpPr/>
          <p:nvPr/>
        </p:nvSpPr>
        <p:spPr>
          <a:xfrm>
            <a:off x="5605272" y="3017520"/>
            <a:ext cx="1426464" cy="1097280"/>
          </a:xfrm>
          <a:prstGeom prst="rect">
            <a:avLst/>
          </a:prstGeom>
          <a:noFill/>
          <a:ln/>
        </p:spPr>
        <p:txBody>
          <a:bodyPr wrap="square" rtlCol="0" anchor="ctr"/>
          <a:lstStyle/>
          <a:p>
            <a:pPr marL="0" indent="0" algn="ctr">
              <a:buNone/>
            </a:pPr>
            <a:endParaRPr lang="en-US" sz="950"/>
            <a:r>
              <a:rPr lang="en-US" dirty="0"/>
              <a:t>pytest run; agent reads stdout/HTML report; on failure diagnoses root cause from URL + DOM state and patches the affected POM method.</a:t>
            </a:r>
          </a:p>
        </p:txBody>
      </p:sp>
      <p:sp>
        <p:nvSpPr>
          <p:cNvPr id="27" name="Shape 24"/>
          <p:cNvSpPr/>
          <p:nvPr/>
        </p:nvSpPr>
        <p:spPr>
          <a:xfrm>
            <a:off x="7223760" y="2057400"/>
            <a:ext cx="1572768" cy="2194560"/>
          </a:xfrm>
          <a:prstGeom prst="roundRect">
            <a:avLst>
              <a:gd name="adj" fmla="val 3488"/>
            </a:avLst>
          </a:prstGeom>
          <a:solidFill>
            <a:srgbClr val="DFE7ED"/>
          </a:solidFill>
          <a:ln/>
        </p:spPr>
        <p:txBody>
          <a:bodyPr/>
          <a:lstStyle/>
          <a:p>
            <a:endParaRPr lang="en-US"/>
          </a:p>
        </p:txBody>
      </p:sp>
      <p:sp>
        <p:nvSpPr>
          <p:cNvPr id="28" name="Shape 25"/>
          <p:cNvSpPr/>
          <p:nvPr/>
        </p:nvSpPr>
        <p:spPr>
          <a:xfrm>
            <a:off x="7808976" y="2194560"/>
            <a:ext cx="402336" cy="402336"/>
          </a:xfrm>
          <a:prstGeom prst="ellipse">
            <a:avLst/>
          </a:prstGeom>
          <a:solidFill>
            <a:srgbClr val="075056"/>
          </a:solidFill>
          <a:ln/>
        </p:spPr>
        <p:txBody>
          <a:bodyPr/>
          <a:lstStyle/>
          <a:p>
            <a:endParaRPr lang="en-US"/>
          </a:p>
        </p:txBody>
      </p:sp>
      <p:sp>
        <p:nvSpPr>
          <p:cNvPr id="29" name="Text 26"/>
          <p:cNvSpPr/>
          <p:nvPr/>
        </p:nvSpPr>
        <p:spPr>
          <a:xfrm>
            <a:off x="780897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5</a:t>
            </a:r>
            <a:endParaRPr lang="en-US" sz="1600"/>
          </a:p>
        </p:txBody>
      </p:sp>
      <p:sp>
        <p:nvSpPr>
          <p:cNvPr id="30" name="Text 27"/>
          <p:cNvSpPr/>
          <p:nvPr/>
        </p:nvSpPr>
        <p:spPr>
          <a:xfrm>
            <a:off x="7278624" y="2697480"/>
            <a:ext cx="1463040" cy="274320"/>
          </a:xfrm>
          <a:prstGeom prst="rect">
            <a:avLst/>
          </a:prstGeom>
          <a:noFill/>
          <a:ln/>
        </p:spPr>
        <p:txBody>
          <a:bodyPr wrap="square" rtlCol="0" anchor="ctr"/>
          <a:lstStyle/>
          <a:p>
            <a:pPr marL="0" indent="0" algn="ctr">
              <a:buNone/>
            </a:pPr>
            <a:endParaRPr lang="en-US" sz="1100"/>
            <a:r>
              <a:rPr lang="en-US" dirty="0"/>
              <a:t>Evidence &amp; Commit</a:t>
            </a:r>
          </a:p>
        </p:txBody>
      </p:sp>
      <p:sp>
        <p:nvSpPr>
          <p:cNvPr id="31" name="Text 28"/>
          <p:cNvSpPr/>
          <p:nvPr/>
        </p:nvSpPr>
        <p:spPr>
          <a:xfrm>
            <a:off x="7296912" y="3017520"/>
            <a:ext cx="1426464" cy="1097280"/>
          </a:xfrm>
          <a:prstGeom prst="rect">
            <a:avLst/>
          </a:prstGeom>
          <a:noFill/>
          <a:ln/>
        </p:spPr>
        <p:txBody>
          <a:bodyPr wrap="square" rtlCol="0" anchor="ctr"/>
          <a:lstStyle/>
          <a:p>
            <a:pPr marL="0" indent="0" algn="ctr">
              <a:buNone/>
            </a:pPr>
            <a:endParaRPr lang="en-US" sz="950"/>
            <a:r>
              <a:rPr lang="en-US" dirty="0"/>
              <a:t>HTML report saved to reports/playwright/; session transcript JSONL serves as observability trace; changes committed to feature/migration-progress.</a:t>
            </a:r>
          </a:p>
        </p:txBody>
      </p:sp>
      <p:sp>
        <p:nvSpPr>
          <p:cNvPr id="32" name="Text 29"/>
          <p:cNvSpPr/>
          <p:nvPr/>
        </p:nvSpPr>
        <p:spPr>
          <a:xfrm>
            <a:off x="457200" y="4389120"/>
            <a:ext cx="8229600" cy="274320"/>
          </a:xfrm>
          <a:prstGeom prst="rect">
            <a:avLst/>
          </a:prstGeom>
          <a:noFill/>
          <a:ln/>
        </p:spPr>
        <p:txBody>
          <a:bodyPr wrap="square" rtlCol="0" anchor="ctr"/>
          <a:lstStyle/>
          <a:p>
            <a:pPr marL="0" indent="0">
              <a:buNone/>
            </a:pPr>
            <a:r>
              <a:rPr lang="en-US" sz="1000" i="1">
                <a:solidFill>
                  <a:srgbClr val="5A6B72"/>
                </a:solidFill>
                <a:latin typeface="Calibri" pitchFamily="34" charset="0"/>
                <a:ea typeface="Calibri" pitchFamily="34" charset="-122"/>
                <a:cs typeface="Calibri" pitchFamily="34" charset="-120"/>
              </a:rPr>
              <a:t>Add or remove steps to match your actual workflow.</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Before → After</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097280"/>
            <a:ext cx="3977640" cy="457200"/>
          </a:xfrm>
          <a:prstGeom prst="roundRect">
            <a:avLst>
              <a:gd name="adj" fmla="val 10000"/>
            </a:avLst>
          </a:prstGeom>
          <a:solidFill>
            <a:srgbClr val="5A6B72"/>
          </a:solidFill>
          <a:ln/>
        </p:spPr>
        <p:txBody>
          <a:bodyPr/>
          <a:lstStyle/>
          <a:p>
            <a:endParaRPr lang="en-US"/>
          </a:p>
        </p:txBody>
      </p:sp>
      <p:sp>
        <p:nvSpPr>
          <p:cNvPr id="5" name="Text 2"/>
          <p:cNvSpPr/>
          <p:nvPr/>
        </p:nvSpPr>
        <p:spPr>
          <a:xfrm>
            <a:off x="457200" y="1097280"/>
            <a:ext cx="3977640" cy="457200"/>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BEFORE — The Manual Way</a:t>
            </a:r>
            <a:endParaRPr lang="en-US" sz="1400"/>
          </a:p>
        </p:txBody>
      </p:sp>
      <p:sp>
        <p:nvSpPr>
          <p:cNvPr id="6" name="Text 3"/>
          <p:cNvSpPr/>
          <p:nvPr/>
        </p:nvSpPr>
        <p:spPr>
          <a:xfrm>
            <a:off x="548640" y="1691640"/>
            <a:ext cx="3794760" cy="2926080"/>
          </a:xfrm>
          <a:prstGeom prst="rect">
            <a:avLst/>
          </a:prstGeom>
          <a:noFill/>
          <a:ln/>
        </p:spPr>
        <p:txBody>
          <a:bodyPr wrap="square" rtlCol="0" anchor="t"/>
          <a:lstStyle/>
          <a:p>
            <a:pPr marL="152400" indent="-152400">
              <a:spcAft>
                <a:spcPts val="600"/>
              </a:spcAft>
              <a:buSzPct val="100000"/>
              <a:buChar char="•"/>
            </a:pPr>
            <a:r>
              <a:rPr lang="en-US" sz="1200">
                <a:solidFill>
                  <a:srgbClr val="1B2227"/>
                </a:solidFill>
                <a:latin typeface="Calibri" pitchFamily="34" charset="0"/>
                <a:ea typeface="Calibri" pitchFamily="34" charset="-122"/>
                <a:cs typeface="Calibri" pitchFamily="34" charset="-120"/>
              </a:rPr>
              <a:t>Step-by-step manual process</a:t>
            </a:r>
            <a:endParaRPr lang="en-US" sz="1200"/>
          </a:p>
          <a:p>
            <a:pPr marL="152400" indent="-152400">
              <a:spcAft>
                <a:spcPts val="600"/>
              </a:spcAft>
              <a:buSzPct val="100000"/>
              <a:buChar char="•"/>
            </a:pPr>
            <a:r>
              <a:rPr lang="en-US" sz="1200">
                <a:solidFill>
                  <a:srgbClr val="1B2227"/>
                </a:solidFill>
                <a:latin typeface="Calibri" pitchFamily="34" charset="0"/>
                <a:ea typeface="Calibri" pitchFamily="34" charset="-122"/>
                <a:cs typeface="Calibri" pitchFamily="34" charset="-120"/>
              </a:rPr>
              <a:t>Time taken (hrs / min)</a:t>
            </a:r>
            <a:endParaRPr lang="en-US" sz="1200"/>
          </a:p>
          <a:p>
            <a:pPr marL="152400" indent="-152400">
              <a:spcAft>
                <a:spcPts val="600"/>
              </a:spcAft>
              <a:buSzPct val="100000"/>
              <a:buChar char="•"/>
            </a:pPr>
            <a:r>
              <a:rPr lang="en-US" sz="1200">
                <a:solidFill>
                  <a:srgbClr val="1B2227"/>
                </a:solidFill>
                <a:latin typeface="Calibri" pitchFamily="34" charset="0"/>
                <a:ea typeface="Calibri" pitchFamily="34" charset="-122"/>
                <a:cs typeface="Calibri" pitchFamily="34" charset="-120"/>
              </a:rPr>
              <a:t>Pain points &amp; error risks</a:t>
            </a:r>
            <a:endParaRPr lang="en-US" sz="1200"/>
          </a:p>
          <a:p>
            <a:pPr marL="152400" indent="-152400">
              <a:spcAft>
                <a:spcPts val="600"/>
              </a:spcAft>
              <a:buSzPct val="100000"/>
              <a:buChar char="•"/>
            </a:pPr>
            <a:r>
              <a:rPr lang="en-US" sz="1200">
                <a:solidFill>
                  <a:srgbClr val="1B2227"/>
                </a:solidFill>
                <a:latin typeface="Calibri" pitchFamily="34" charset="0"/>
                <a:ea typeface="Calibri" pitchFamily="34" charset="-122"/>
                <a:cs typeface="Calibri" pitchFamily="34" charset="-120"/>
              </a:rPr>
              <a:t>Quality issues that occurred</a:t>
            </a:r>
            <a:endParaRPr lang="en-US" sz="1200"/>
          </a:p>
        </p:txBody>
      </p:sp>
      <p:sp>
        <p:nvSpPr>
          <p:cNvPr id="7" name="Shape 4"/>
          <p:cNvSpPr/>
          <p:nvPr/>
        </p:nvSpPr>
        <p:spPr>
          <a:xfrm>
            <a:off x="4709160" y="1097280"/>
            <a:ext cx="3977640" cy="457200"/>
          </a:xfrm>
          <a:prstGeom prst="roundRect">
            <a:avLst>
              <a:gd name="adj" fmla="val 10000"/>
            </a:avLst>
          </a:prstGeom>
          <a:solidFill>
            <a:srgbClr val="075056"/>
          </a:solidFill>
          <a:ln/>
        </p:spPr>
        <p:txBody>
          <a:bodyPr/>
          <a:lstStyle/>
          <a:p>
            <a:endParaRPr lang="en-US"/>
          </a:p>
        </p:txBody>
      </p:sp>
      <p:sp>
        <p:nvSpPr>
          <p:cNvPr id="8" name="Text 5"/>
          <p:cNvSpPr/>
          <p:nvPr/>
        </p:nvSpPr>
        <p:spPr>
          <a:xfrm>
            <a:off x="4709160" y="1097280"/>
            <a:ext cx="3977640" cy="457200"/>
          </a:xfrm>
          <a:prstGeom prst="rect">
            <a:avLst/>
          </a:prstGeom>
          <a:noFill/>
          <a:ln/>
        </p:spPr>
        <p:txBody>
          <a:bodyPr wrap="square" rtlCol="0" anchor="ctr"/>
          <a:lstStyle/>
          <a:p>
            <a:pPr marL="0" indent="0" algn="ctr">
              <a:buNone/>
            </a:pPr>
            <a:endParaRPr lang="en-US" sz="1400"/>
            <a:r>
              <a:rPr lang="en-US" dirty="0"/>
              <a:t>BEFORE — The Manual Way</a:t>
            </a:r>
          </a:p>
          <a:p>
            <a:pPr marL="0" indent="0" algn="ctr">
              <a:buNone/>
            </a:pPr>
            <a:endParaRPr lang="en-US" sz="1400"/>
            <a:r>
              <a:rPr lang="en-US" dirty="0"/>
              <a:t>1) Read each Cypress spec and understand selector intent</a:t>
            </a:r>
          </a:p>
          <a:p>
            <a:pPr marL="0" indent="0" algn="ctr">
              <a:buNone/>
            </a:pPr>
            <a:endParaRPr lang="en-US" sz="1400"/>
            <a:r>
              <a:rPr lang="en-US" dirty="0"/>
              <a:t>2) Open browser DevTools, locate and test each selector</a:t>
            </a:r>
          </a:p>
          <a:p>
            <a:pPr marL="0" indent="0" algn="ctr">
              <a:buNone/>
            </a:pPr>
            <a:endParaRPr lang="en-US" sz="1400"/>
            <a:r>
              <a:rPr lang="en-US" dirty="0"/>
              <a:t>3) Rewrite TypeScript Page Objects in Python (class by class)</a:t>
            </a:r>
          </a:p>
          <a:p>
            <a:pPr marL="0" indent="0" algn="ctr">
              <a:buNone/>
            </a:pPr>
            <a:endParaRPr lang="en-US" sz="1400"/>
            <a:r>
              <a:rPr lang="en-US" dirty="0"/>
              <a:t>4) Author Gherkin .feature files from scratch per requirement</a:t>
            </a:r>
          </a:p>
          <a:p>
            <a:pPr marL="0" indent="0" algn="ctr">
              <a:buNone/>
            </a:pPr>
            <a:endParaRPr lang="en-US" sz="1400"/>
            <a:r>
              <a:rPr lang="en-US" dirty="0"/>
              <a:t>5) Debug import path issues and dependency conflicts</a:t>
            </a:r>
          </a:p>
          <a:p>
            <a:pPr marL="0" indent="0" algn="ctr">
              <a:buNone/>
            </a:pPr>
            <a:endParaRPr lang="en-US" sz="1400"/>
            <a:r>
              <a:rPr lang="en-US" dirty="0"/>
              <a:t>6) Diagnose Vue reactive timing gaps causing flaky assertions</a:t>
            </a:r>
          </a:p>
          <a:p>
            <a:pPr marL="0" indent="0" algn="ctr">
              <a:buNone/>
            </a:pPr>
            <a:endParaRPr lang="en-US" sz="1400"/>
            <a:r>
              <a:rPr lang="en-US" dirty="0"/>
              <a:t>Time: 2-3 days (est. 16-24 h) for 7 requirements</a:t>
            </a:r>
          </a:p>
          <a:p>
            <a:pPr marL="0" indent="0" algn="ctr">
              <a:buNone/>
            </a:pPr>
            <a:endParaRPr lang="en-US" sz="1400"/>
            <a:r>
              <a:rPr lang="en-US" dirty="0"/>
              <a:t>Pain points: selector drift, namespace collision, Vue render timing</a:t>
            </a:r>
          </a:p>
          <a:p>
            <a:pPr marL="0" indent="0" algn="ctr">
              <a:buNone/>
            </a:pPr>
            <a:endParaRPr lang="en-US" sz="1400"/>
            <a:r>
              <a:rPr lang="en-US" dirty="0"/>
              <a:t>Quality: 3 known bug patterns went undetected in L1 manual review</a:t>
            </a:r>
          </a:p>
        </p:txBody>
      </p:sp>
      <p:sp>
        <p:nvSpPr>
          <p:cNvPr id="9" name="Text 6"/>
          <p:cNvSpPr/>
          <p:nvPr/>
        </p:nvSpPr>
        <p:spPr>
          <a:xfrm>
            <a:off x="4800600" y="1691640"/>
            <a:ext cx="3794760" cy="2926080"/>
          </a:xfrm>
          <a:prstGeom prst="rect">
            <a:avLst/>
          </a:prstGeom>
          <a:noFill/>
          <a:ln/>
        </p:spPr>
        <p:txBody>
          <a:bodyPr wrap="square" rtlCol="0" anchor="t"/>
          <a:lstStyle/>
          <a:p>
            <a:pPr marL="152400" indent="-152400">
              <a:spcAft>
                <a:spcPts val="600"/>
              </a:spcAft>
              <a:buSzPct val="100000"/>
              <a:buChar char="•"/>
            </a:pPr>
            <a:endParaRPr lang="en-US" sz="1200"/>
            <a:r>
              <a:rPr lang="en-US" dirty="0"/>
              <a:t>AFTER — The AI-Assisted Way</a:t>
            </a:r>
          </a:p>
          <a:p>
            <a:pPr marL="152400" indent="-152400">
              <a:spcAft>
                <a:spcPts val="600"/>
              </a:spcAft>
              <a:buSzPct val="100000"/>
              <a:buChar char="•"/>
            </a:pPr>
            <a:endParaRPr lang="en-US" sz="1200"/>
            <a:r>
              <a:rPr lang="en-US" dirty="0"/>
              <a:t>Claude Code agent: snapshot -&gt; validate selectors -&gt; generate POM -&gt; run pytest -&gt; patch</a:t>
            </a:r>
          </a:p>
          <a:p>
            <a:pPr marL="152400" indent="-152400">
              <a:spcAft>
                <a:spcPts val="600"/>
              </a:spcAft>
              <a:buSzPct val="100000"/>
              <a:buChar char="•"/>
            </a:pPr>
            <a:endParaRPr lang="en-US" sz="1200"/>
            <a:r>
              <a:rPr lang="en-US" dirty="0"/>
              <a:t>2 patch cycles required (Employee ID conflict + Vue timing race)</a:t>
            </a:r>
          </a:p>
          <a:p>
            <a:pPr marL="152400" indent="-152400">
              <a:spcAft>
                <a:spcPts val="600"/>
              </a:spcAft>
              <a:buSzPct val="100000"/>
              <a:buChar char="•"/>
            </a:pPr>
            <a:endParaRPr lang="en-US" sz="1200"/>
            <a:r>
              <a:rPr lang="en-US" dirty="0"/>
              <a:t>First-pass accuracy: ~80% (6/8 tests pass without manual intervention)</a:t>
            </a:r>
          </a:p>
          <a:p>
            <a:pPr marL="152400" indent="-152400">
              <a:spcAft>
                <a:spcPts val="600"/>
              </a:spcAft>
              <a:buSzPct val="100000"/>
              <a:buChar char="•"/>
            </a:pPr>
            <a:endParaRPr lang="en-US" sz="1200"/>
            <a:r>
              <a:rPr lang="en-US" dirty="0"/>
              <a:t>Time: 3.5 h total agent session for same 7 requirements</a:t>
            </a:r>
          </a:p>
          <a:p>
            <a:pPr marL="152400" indent="-152400">
              <a:spcAft>
                <a:spcPts val="600"/>
              </a:spcAft>
              <a:buSzPct val="100000"/>
              <a:buChar char="•"/>
            </a:pPr>
            <a:endParaRPr lang="en-US" sz="1200"/>
            <a:r>
              <a:rPr lang="en-US" dirty="0"/>
              <a:t>75% time reduction vs. manual baseline</a:t>
            </a:r>
          </a:p>
        </p:txBody>
      </p:sp>
      <p:sp>
        <p:nvSpPr>
          <p:cNvPr id="10" name="Text 7"/>
          <p:cNvSpPr/>
          <p:nvPr/>
        </p:nvSpPr>
        <p:spPr>
          <a:xfrm>
            <a:off x="457200" y="4709160"/>
            <a:ext cx="8229600" cy="274320"/>
          </a:xfrm>
          <a:prstGeom prst="rect">
            <a:avLst/>
          </a:prstGeom>
          <a:noFill/>
          <a:ln/>
        </p:spPr>
        <p:txBody>
          <a:bodyPr wrap="square" rtlCol="0" anchor="ctr"/>
          <a:lstStyle/>
          <a:p>
            <a:pPr marL="0" indent="0">
              <a:buNone/>
            </a:pPr>
            <a:endParaRPr lang="en-US" sz="1000"/>
            <a:r>
              <a:rPr lang="en-US" dirty="0"/>
              <a:t>See reports/playwright/report.html (8/8 passing, 82 s) and reports/cypress/ (8/8 passing, 1 m 43 s) for execution evidence.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AI Impact Scorecard</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697480"/>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11480">
                <a:tc>
                  <a:txBody>
                    <a:bodyPr/>
                    <a:lstStyle/>
                    <a:p>
                      <a:pPr marL="0" indent="0">
                        <a:buNone/>
                      </a:pPr>
                      <a:r>
                        <a:rPr lang="en-US" sz="1200" b="1">
                          <a:solidFill>
                            <a:srgbClr val="FFFFFF"/>
                          </a:solidFill>
                          <a:latin typeface="Calibri" pitchFamily="34" charset="0"/>
                          <a:ea typeface="Calibri" pitchFamily="34" charset="-122"/>
                          <a:cs typeface="Calibri" pitchFamily="34" charset="-120"/>
                        </a:rPr>
                        <a:t>Metric</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Before AI</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After AI</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Impact</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extLst>
                  <a:ext uri="{0D108BD9-81ED-4DB2-BD59-A6C34878D82A}">
                    <a16:rowId xmlns:a16="http://schemas.microsoft.com/office/drawing/2014/main" val="10000"/>
                  </a:ext>
                </a:extLst>
              </a:tr>
              <a:tr h="457200">
                <a:tc>
                  <a:txBody>
                    <a:bodyPr/>
                    <a:lstStyle/>
                    <a:p>
                      <a:pPr marL="0" indent="0">
                        <a:buNone/>
                      </a:pPr>
                      <a:endParaRPr lang="en-US" sz="1200">
                        <a:latin typeface="Calibri" charset="0"/>
                        <a:ea typeface="Calibri" charset="0"/>
                        <a:cs typeface="Calibri" charset="0"/>
                      </a:endParaRPr>
                      <a:r>
                        <a:rPr lang="en-US" dirty="0"/>
                        <a:t>Cypress -&gt; Playwright migration (7 reqs)</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16-24 hours</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3.5 hours</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~80% time saved</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endParaRPr lang="en-US" sz="1200">
                        <a:latin typeface="Calibri" charset="0"/>
                        <a:ea typeface="Calibri" charset="0"/>
                        <a:cs typeface="Calibri" charset="0"/>
                      </a:endParaRPr>
                      <a:r>
                        <a:rPr lang="en-US" dirty="0"/>
                        <a:t>Selector validation per requirement</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~20 min/req = 2.3 h total</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~3 min/req (MCP live nav)</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~85% per req</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endParaRPr lang="en-US" sz="1200">
                        <a:latin typeface="Calibri" charset="0"/>
                        <a:ea typeface="Calibri" charset="0"/>
                        <a:cs typeface="Calibri" charset="0"/>
                      </a:endParaRPr>
                      <a:r>
                        <a:rPr lang="en-US" dirty="0"/>
                        <a:t>Bug catch rate</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3 known bugs undetected in L1</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3/3 caught &amp; fixed autonomously</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+100% defect detection</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endParaRPr lang="en-US" sz="1200">
                        <a:latin typeface="Calibri" charset="0"/>
                        <a:ea typeface="Calibri" charset="0"/>
                        <a:cs typeface="Calibri" charset="0"/>
                      </a:endParaRPr>
                      <a:r>
                        <a:rPr lang="en-US" dirty="0"/>
                        <a:t>Migration frequency / project</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1-2x per year, high manual cost</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Same frequency, agent absorbs complexity</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Risk &amp; cost per run reduced</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endParaRPr lang="en-US" sz="1200">
                        <a:latin typeface="Calibri" charset="0"/>
                        <a:ea typeface="Calibri" charset="0"/>
                        <a:cs typeface="Calibri" charset="0"/>
                      </a:endParaRPr>
                      <a:r>
                        <a:rPr lang="en-US" dirty="0"/>
                        <a:t>QA engineers on future migrations</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N/A (no reusable baseline)</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Any team with Claude Code + MCP</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endParaRPr lang="en-US" sz="1200">
                        <a:latin typeface="Calibri" charset="0"/>
                        <a:ea typeface="Calibri" charset="0"/>
                        <a:cs typeface="Calibri" charset="0"/>
                      </a:endParaRPr>
                      <a:r>
                        <a:rPr lang="en-US" dirty="0"/>
                        <a:t>~12-20 h saved per migration</a:t>
                      </a: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1"/>
          <p:cNvSpPr/>
          <p:nvPr/>
        </p:nvSpPr>
        <p:spPr>
          <a:xfrm>
            <a:off x="457200" y="3977640"/>
            <a:ext cx="8229600" cy="685800"/>
          </a:xfrm>
          <a:prstGeom prst="roundRect">
            <a:avLst>
              <a:gd name="adj" fmla="val 6667"/>
            </a:avLst>
          </a:prstGeom>
          <a:solidFill>
            <a:srgbClr val="DFE7ED"/>
          </a:solidFill>
          <a:ln w="12700">
            <a:solidFill>
              <a:srgbClr val="C5DCEE"/>
            </a:solidFill>
            <a:prstDash val="solid"/>
          </a:ln>
        </p:spPr>
        <p:txBody>
          <a:bodyPr/>
          <a:lstStyle/>
          <a:p>
            <a:endParaRPr lang="en-US"/>
          </a:p>
        </p:txBody>
      </p:sp>
      <p:sp>
        <p:nvSpPr>
          <p:cNvPr id="6" name="Text 2"/>
          <p:cNvSpPr/>
          <p:nvPr/>
        </p:nvSpPr>
        <p:spPr>
          <a:xfrm>
            <a:off x="566928" y="3977640"/>
            <a:ext cx="8010144" cy="685800"/>
          </a:xfrm>
          <a:prstGeom prst="rect">
            <a:avLst/>
          </a:prstGeom>
          <a:noFill/>
          <a:ln/>
        </p:spPr>
        <p:txBody>
          <a:bodyPr wrap="square" rtlCol="0" anchor="ctr"/>
          <a:lstStyle/>
          <a:p>
            <a:pPr marL="0" indent="0" algn="l">
              <a:buNone/>
            </a:pPr>
            <a:endParaRPr lang="en-US" sz="1100"/>
            <a:r>
              <a:rPr lang="en-US" dirty="0"/>
              <a:t>Agent-driven migration reduced the Cypress-to-Playwright turnaround from 2-3 days to 3.5 hours (75% time reduction). All 3 failure modes caught and fixed within the same session. The agent definition, prompts, and CLAUDE.md are reusable across future migrations.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Reusability &amp; Scale</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143000"/>
            <a:ext cx="3977640" cy="1417320"/>
          </a:xfrm>
          <a:prstGeom prst="roundRect">
            <a:avLst>
              <a:gd name="adj" fmla="val 3871"/>
            </a:avLst>
          </a:prstGeom>
          <a:solidFill>
            <a:srgbClr val="DFE7ED"/>
          </a:solidFill>
          <a:ln/>
        </p:spPr>
        <p:txBody>
          <a:bodyPr/>
          <a:lstStyle/>
          <a:p>
            <a:endParaRPr lang="en-US"/>
          </a:p>
        </p:txBody>
      </p:sp>
      <p:sp>
        <p:nvSpPr>
          <p:cNvPr id="5" name="Shape 2"/>
          <p:cNvSpPr/>
          <p:nvPr/>
        </p:nvSpPr>
        <p:spPr>
          <a:xfrm>
            <a:off x="594360" y="1280160"/>
            <a:ext cx="365760" cy="365760"/>
          </a:xfrm>
          <a:prstGeom prst="ellipse">
            <a:avLst/>
          </a:prstGeom>
          <a:solidFill>
            <a:srgbClr val="075056"/>
          </a:solidFill>
          <a:ln/>
        </p:spPr>
        <p:txBody>
          <a:bodyPr/>
          <a:lstStyle/>
          <a:p>
            <a:endParaRPr lang="en-US"/>
          </a:p>
        </p:txBody>
      </p:sp>
      <p:sp>
        <p:nvSpPr>
          <p:cNvPr id="6" name="Text 3"/>
          <p:cNvSpPr/>
          <p:nvPr/>
        </p:nvSpPr>
        <p:spPr>
          <a:xfrm>
            <a:off x="594360" y="1280160"/>
            <a:ext cx="365760" cy="365760"/>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R</a:t>
            </a:r>
            <a:endParaRPr lang="en-US" sz="1600"/>
          </a:p>
        </p:txBody>
      </p:sp>
      <p:sp>
        <p:nvSpPr>
          <p:cNvPr id="7" name="Text 4"/>
          <p:cNvSpPr/>
          <p:nvPr/>
        </p:nvSpPr>
        <p:spPr>
          <a:xfrm>
            <a:off x="1097280" y="1280160"/>
            <a:ext cx="3200400" cy="365760"/>
          </a:xfrm>
          <a:prstGeom prst="rect">
            <a:avLst/>
          </a:prstGeom>
          <a:noFill/>
          <a:ln/>
        </p:spPr>
        <p:txBody>
          <a:bodyPr wrap="square" rtlCol="0" anchor="ctr"/>
          <a:lstStyle/>
          <a:p>
            <a:pPr marL="0" indent="0">
              <a:buNone/>
            </a:pPr>
            <a:endParaRPr lang="en-US" sz="1400"/>
            <a:r>
              <a:rPr lang="en-US" dirty="0"/>
              <a:t>What is reusable?</a:t>
            </a:r>
          </a:p>
        </p:txBody>
      </p:sp>
      <p:sp>
        <p:nvSpPr>
          <p:cNvPr id="8" name="Text 5"/>
          <p:cNvSpPr/>
          <p:nvPr/>
        </p:nvSpPr>
        <p:spPr>
          <a:xfrm>
            <a:off x="640080" y="1709928"/>
            <a:ext cx="3611880" cy="777240"/>
          </a:xfrm>
          <a:prstGeom prst="rect">
            <a:avLst/>
          </a:prstGeom>
          <a:noFill/>
          <a:ln/>
        </p:spPr>
        <p:txBody>
          <a:bodyPr wrap="square" rtlCol="0" anchor="t"/>
          <a:lstStyle/>
          <a:p>
            <a:pPr marL="0" indent="0">
              <a:buNone/>
            </a:pPr>
            <a:endParaRPr lang="en-US" sz="1150"/>
            <a:r>
              <a:rPr lang="en-US" dirty="0"/>
              <a:t>.claude/agents/playwright-migration.md (agent definition with tool loop, human gate, and failure handling), CLAUDE.md convention layer, versioned prompts under prompts/, full project structure with POM scaffold.</a:t>
            </a:r>
          </a:p>
        </p:txBody>
      </p:sp>
      <p:sp>
        <p:nvSpPr>
          <p:cNvPr id="9" name="Shape 6"/>
          <p:cNvSpPr/>
          <p:nvPr/>
        </p:nvSpPr>
        <p:spPr>
          <a:xfrm>
            <a:off x="4709160" y="1143000"/>
            <a:ext cx="3977640" cy="1417320"/>
          </a:xfrm>
          <a:prstGeom prst="roundRect">
            <a:avLst>
              <a:gd name="adj" fmla="val 3871"/>
            </a:avLst>
          </a:prstGeom>
          <a:solidFill>
            <a:srgbClr val="C5DCEE"/>
          </a:solidFill>
          <a:ln/>
        </p:spPr>
        <p:txBody>
          <a:bodyPr/>
          <a:lstStyle/>
          <a:p>
            <a:endParaRPr lang="en-US"/>
          </a:p>
        </p:txBody>
      </p:sp>
      <p:sp>
        <p:nvSpPr>
          <p:cNvPr id="10" name="Shape 7"/>
          <p:cNvSpPr/>
          <p:nvPr/>
        </p:nvSpPr>
        <p:spPr>
          <a:xfrm>
            <a:off x="4846320" y="1280160"/>
            <a:ext cx="365760" cy="365760"/>
          </a:xfrm>
          <a:prstGeom prst="ellipse">
            <a:avLst/>
          </a:prstGeom>
          <a:solidFill>
            <a:srgbClr val="075056"/>
          </a:solidFill>
          <a:ln/>
        </p:spPr>
        <p:txBody>
          <a:bodyPr/>
          <a:lstStyle/>
          <a:p>
            <a:endParaRPr lang="en-US"/>
          </a:p>
        </p:txBody>
      </p:sp>
      <p:sp>
        <p:nvSpPr>
          <p:cNvPr id="11" name="Text 8"/>
          <p:cNvSpPr/>
          <p:nvPr/>
        </p:nvSpPr>
        <p:spPr>
          <a:xfrm>
            <a:off x="4846320" y="1280160"/>
            <a:ext cx="365760" cy="365760"/>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A</a:t>
            </a:r>
            <a:endParaRPr lang="en-US" sz="1600"/>
          </a:p>
        </p:txBody>
      </p:sp>
      <p:sp>
        <p:nvSpPr>
          <p:cNvPr id="12" name="Text 9"/>
          <p:cNvSpPr/>
          <p:nvPr/>
        </p:nvSpPr>
        <p:spPr>
          <a:xfrm>
            <a:off x="5349240" y="1280160"/>
            <a:ext cx="3200400" cy="365760"/>
          </a:xfrm>
          <a:prstGeom prst="rect">
            <a:avLst/>
          </a:prstGeom>
          <a:noFill/>
          <a:ln/>
        </p:spPr>
        <p:txBody>
          <a:bodyPr wrap="square" rtlCol="0" anchor="ctr"/>
          <a:lstStyle/>
          <a:p>
            <a:pPr marL="0" indent="0">
              <a:buNone/>
            </a:pPr>
            <a:endParaRPr lang="en-US" sz="1400"/>
            <a:r>
              <a:rPr lang="en-US" dirty="0"/>
              <a:t>Who can adopt it?</a:t>
            </a:r>
          </a:p>
        </p:txBody>
      </p:sp>
      <p:sp>
        <p:nvSpPr>
          <p:cNvPr id="13" name="Text 10"/>
          <p:cNvSpPr/>
          <p:nvPr/>
        </p:nvSpPr>
        <p:spPr>
          <a:xfrm>
            <a:off x="4892040" y="1709928"/>
            <a:ext cx="3611880" cy="777240"/>
          </a:xfrm>
          <a:prstGeom prst="rect">
            <a:avLst/>
          </a:prstGeom>
          <a:noFill/>
          <a:ln/>
        </p:spPr>
        <p:txBody>
          <a:bodyPr wrap="square" rtlCol="0" anchor="t"/>
          <a:lstStyle/>
          <a:p>
            <a:pPr marL="0" indent="0">
              <a:buNone/>
            </a:pPr>
            <a:endParaRPr lang="en-US" sz="1150"/>
            <a:r>
              <a:rPr lang="en-US" dirty="0"/>
              <a:t>QA engineers on any Cypress-to-Playwright migration. Any team with Claude Code access and MCP Playwright. Works with any web app the agent can navigate — not OrangeHRM-specific.</a:t>
            </a:r>
          </a:p>
        </p:txBody>
      </p:sp>
      <p:sp>
        <p:nvSpPr>
          <p:cNvPr id="14" name="Shape 11"/>
          <p:cNvSpPr/>
          <p:nvPr/>
        </p:nvSpPr>
        <p:spPr>
          <a:xfrm>
            <a:off x="457200" y="2788920"/>
            <a:ext cx="3977640" cy="1417320"/>
          </a:xfrm>
          <a:prstGeom prst="roundRect">
            <a:avLst>
              <a:gd name="adj" fmla="val 3871"/>
            </a:avLst>
          </a:prstGeom>
          <a:solidFill>
            <a:srgbClr val="DFE7ED"/>
          </a:solidFill>
          <a:ln/>
        </p:spPr>
        <p:txBody>
          <a:bodyPr/>
          <a:lstStyle/>
          <a:p>
            <a:endParaRPr lang="en-US"/>
          </a:p>
        </p:txBody>
      </p:sp>
      <p:sp>
        <p:nvSpPr>
          <p:cNvPr id="15" name="Shape 12"/>
          <p:cNvSpPr/>
          <p:nvPr/>
        </p:nvSpPr>
        <p:spPr>
          <a:xfrm>
            <a:off x="594360" y="2926080"/>
            <a:ext cx="365760" cy="365760"/>
          </a:xfrm>
          <a:prstGeom prst="ellipse">
            <a:avLst/>
          </a:prstGeom>
          <a:solidFill>
            <a:srgbClr val="075056"/>
          </a:solidFill>
          <a:ln/>
        </p:spPr>
        <p:txBody>
          <a:bodyPr/>
          <a:lstStyle/>
          <a:p>
            <a:endParaRPr lang="en-US"/>
          </a:p>
        </p:txBody>
      </p:sp>
      <p:sp>
        <p:nvSpPr>
          <p:cNvPr id="16" name="Text 13"/>
          <p:cNvSpPr/>
          <p:nvPr/>
        </p:nvSpPr>
        <p:spPr>
          <a:xfrm>
            <a:off x="594360" y="2926080"/>
            <a:ext cx="365760" cy="365760"/>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P</a:t>
            </a:r>
            <a:endParaRPr lang="en-US" sz="1600"/>
          </a:p>
        </p:txBody>
      </p:sp>
      <p:sp>
        <p:nvSpPr>
          <p:cNvPr id="17" name="Text 14"/>
          <p:cNvSpPr/>
          <p:nvPr/>
        </p:nvSpPr>
        <p:spPr>
          <a:xfrm>
            <a:off x="1097280" y="2926080"/>
            <a:ext cx="3200400" cy="365760"/>
          </a:xfrm>
          <a:prstGeom prst="rect">
            <a:avLst/>
          </a:prstGeom>
          <a:noFill/>
          <a:ln/>
        </p:spPr>
        <p:txBody>
          <a:bodyPr wrap="square" rtlCol="0" anchor="ctr"/>
          <a:lstStyle/>
          <a:p>
            <a:pPr marL="0" indent="0">
              <a:buNone/>
            </a:pPr>
            <a:endParaRPr lang="en-US" sz="1400"/>
            <a:r>
              <a:rPr lang="en-US" dirty="0"/>
              <a:t>What was packaged?</a:t>
            </a:r>
          </a:p>
        </p:txBody>
      </p:sp>
      <p:sp>
        <p:nvSpPr>
          <p:cNvPr id="18" name="Text 15"/>
          <p:cNvSpPr/>
          <p:nvPr/>
        </p:nvSpPr>
        <p:spPr>
          <a:xfrm>
            <a:off x="640080" y="3355848"/>
            <a:ext cx="3611880" cy="777240"/>
          </a:xfrm>
          <a:prstGeom prst="rect">
            <a:avLst/>
          </a:prstGeom>
          <a:noFill/>
          <a:ln/>
        </p:spPr>
        <p:txBody>
          <a:bodyPr wrap="square" rtlCol="0" anchor="t"/>
          <a:lstStyle/>
          <a:p>
            <a:pPr marL="0" indent="0">
              <a:buNone/>
            </a:pPr>
            <a:endParaRPr lang="en-US" sz="1150"/>
            <a:r>
              <a:rPr lang="en-US" dirty="0"/>
              <a:t>Git repo (feature/migration-progress): CLAUDE.md, agent definition, prompts/, reports/ (HTML evidence), docs/ (architecture + evaluation), README with step-by-step replication instructions.</a:t>
            </a:r>
          </a:p>
        </p:txBody>
      </p:sp>
      <p:sp>
        <p:nvSpPr>
          <p:cNvPr id="19" name="Shape 16"/>
          <p:cNvSpPr/>
          <p:nvPr/>
        </p:nvSpPr>
        <p:spPr>
          <a:xfrm>
            <a:off x="4709160" y="2788920"/>
            <a:ext cx="3977640" cy="1417320"/>
          </a:xfrm>
          <a:prstGeom prst="roundRect">
            <a:avLst>
              <a:gd name="adj" fmla="val 3871"/>
            </a:avLst>
          </a:prstGeom>
          <a:solidFill>
            <a:srgbClr val="C5DCEE"/>
          </a:solidFill>
          <a:ln/>
        </p:spPr>
        <p:txBody>
          <a:bodyPr/>
          <a:lstStyle/>
          <a:p>
            <a:endParaRPr lang="en-US"/>
          </a:p>
        </p:txBody>
      </p:sp>
      <p:sp>
        <p:nvSpPr>
          <p:cNvPr id="20" name="Shape 17"/>
          <p:cNvSpPr/>
          <p:nvPr/>
        </p:nvSpPr>
        <p:spPr>
          <a:xfrm>
            <a:off x="4846320" y="2926080"/>
            <a:ext cx="365760" cy="365760"/>
          </a:xfrm>
          <a:prstGeom prst="ellipse">
            <a:avLst/>
          </a:prstGeom>
          <a:solidFill>
            <a:srgbClr val="075056"/>
          </a:solidFill>
          <a:ln/>
        </p:spPr>
        <p:txBody>
          <a:bodyPr/>
          <a:lstStyle/>
          <a:p>
            <a:endParaRPr lang="en-US"/>
          </a:p>
        </p:txBody>
      </p:sp>
      <p:sp>
        <p:nvSpPr>
          <p:cNvPr id="21" name="Text 18"/>
          <p:cNvSpPr/>
          <p:nvPr/>
        </p:nvSpPr>
        <p:spPr>
          <a:xfrm>
            <a:off x="4846320" y="2926080"/>
            <a:ext cx="365760" cy="365760"/>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S</a:t>
            </a:r>
            <a:endParaRPr lang="en-US" sz="1600"/>
          </a:p>
        </p:txBody>
      </p:sp>
      <p:sp>
        <p:nvSpPr>
          <p:cNvPr id="22" name="Text 19"/>
          <p:cNvSpPr/>
          <p:nvPr/>
        </p:nvSpPr>
        <p:spPr>
          <a:xfrm>
            <a:off x="5349240" y="2926080"/>
            <a:ext cx="3200400" cy="365760"/>
          </a:xfrm>
          <a:prstGeom prst="rect">
            <a:avLst/>
          </a:prstGeom>
          <a:noFill/>
          <a:ln/>
        </p:spPr>
        <p:txBody>
          <a:bodyPr wrap="square" rtlCol="0" anchor="ctr"/>
          <a:lstStyle/>
          <a:p>
            <a:pPr marL="0" indent="0">
              <a:buNone/>
            </a:pPr>
            <a:endParaRPr lang="en-US" sz="1400"/>
            <a:r>
              <a:rPr lang="en-US" dirty="0"/>
              <a:t>Org-scale potential</a:t>
            </a:r>
          </a:p>
        </p:txBody>
      </p:sp>
      <p:sp>
        <p:nvSpPr>
          <p:cNvPr id="23" name="Text 20"/>
          <p:cNvSpPr/>
          <p:nvPr/>
        </p:nvSpPr>
        <p:spPr>
          <a:xfrm>
            <a:off x="4892040" y="3355848"/>
            <a:ext cx="3611880" cy="777240"/>
          </a:xfrm>
          <a:prstGeom prst="rect">
            <a:avLst/>
          </a:prstGeom>
          <a:noFill/>
          <a:ln/>
        </p:spPr>
        <p:txBody>
          <a:bodyPr wrap="square" rtlCol="0" anchor="t"/>
          <a:lstStyle/>
          <a:p>
            <a:pPr marL="0" indent="0">
              <a:buNone/>
            </a:pPr>
            <a:endParaRPr lang="en-US" sz="1150"/>
            <a:r>
              <a:rPr lang="en-US" dirty="0"/>
              <a:t>10x reduction in migration effort per suite. Consistent POM structure across all generated code. Next engagement starts from a working baseline — cumulative improvement as CLAUDE.md grows with each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What AI Got Right &amp; What It Got Wrong</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143000"/>
            <a:ext cx="8229600" cy="1051560"/>
          </a:xfrm>
          <a:prstGeom prst="roundRect">
            <a:avLst>
              <a:gd name="adj" fmla="val 4348"/>
            </a:avLst>
          </a:prstGeom>
          <a:solidFill>
            <a:srgbClr val="DFE7ED"/>
          </a:solidFill>
          <a:ln/>
        </p:spPr>
        <p:txBody>
          <a:bodyPr/>
          <a:lstStyle/>
          <a:p>
            <a:endParaRPr lang="en-US"/>
          </a:p>
        </p:txBody>
      </p:sp>
      <p:sp>
        <p:nvSpPr>
          <p:cNvPr id="5" name="Shape 2"/>
          <p:cNvSpPr/>
          <p:nvPr/>
        </p:nvSpPr>
        <p:spPr>
          <a:xfrm>
            <a:off x="621792" y="1463040"/>
            <a:ext cx="411480" cy="411480"/>
          </a:xfrm>
          <a:prstGeom prst="ellipse">
            <a:avLst/>
          </a:prstGeom>
          <a:solidFill>
            <a:srgbClr val="075056"/>
          </a:solidFill>
          <a:ln/>
        </p:spPr>
        <p:txBody>
          <a:bodyPr/>
          <a:lstStyle/>
          <a:p>
            <a:endParaRPr lang="en-US"/>
          </a:p>
        </p:txBody>
      </p:sp>
      <p:sp>
        <p:nvSpPr>
          <p:cNvPr id="6" name="Text 3"/>
          <p:cNvSpPr/>
          <p:nvPr/>
        </p:nvSpPr>
        <p:spPr>
          <a:xfrm>
            <a:off x="1188720" y="1234440"/>
            <a:ext cx="7315200" cy="365760"/>
          </a:xfrm>
          <a:prstGeom prst="rect">
            <a:avLst/>
          </a:prstGeom>
          <a:noFill/>
          <a:ln/>
        </p:spPr>
        <p:txBody>
          <a:bodyPr wrap="square" rtlCol="0" anchor="ctr"/>
          <a:lstStyle/>
          <a:p>
            <a:pPr marL="0" indent="0">
              <a:buNone/>
            </a:pPr>
            <a:endParaRPr lang="en-US" sz="1400"/>
            <a:r>
              <a:rPr lang="en-US" dirty="0"/>
              <a:t>What AI got RIGHT</a:t>
            </a:r>
          </a:p>
        </p:txBody>
      </p:sp>
      <p:sp>
        <p:nvSpPr>
          <p:cNvPr id="7" name="Text 4"/>
          <p:cNvSpPr/>
          <p:nvPr/>
        </p:nvSpPr>
        <p:spPr>
          <a:xfrm>
            <a:off x="1188720" y="1600200"/>
            <a:ext cx="7223760" cy="548640"/>
          </a:xfrm>
          <a:prstGeom prst="rect">
            <a:avLst/>
          </a:prstGeom>
          <a:noFill/>
          <a:ln/>
        </p:spPr>
        <p:txBody>
          <a:bodyPr wrap="square" rtlCol="0" anchor="ctr"/>
          <a:lstStyle/>
          <a:p>
            <a:pPr marL="152400" indent="-152400">
              <a:buSzPct val="100000"/>
              <a:buChar char="•"/>
            </a:pPr>
            <a:endParaRPr lang="en-US" sz="1150"/>
            <a:r>
              <a:rPr lang="en-US" dirty="0"/>
              <a:t>Selector generation — mapped all 7 OrangeHRM requirements to working DOM selectors via live MCP navigation; zero manual DevTools inspection required.</a:t>
            </a:r>
          </a:p>
          <a:p>
            <a:pPr marL="152400" indent="-152400">
              <a:buSzPct val="100000"/>
              <a:buChar char="•"/>
            </a:pPr>
            <a:endParaRPr lang="en-US" sz="1150"/>
            <a:r>
              <a:rPr lang="en-US" dirty="0"/>
              <a:t>End-to-end code generation — Gherkin, POM classes, and step definitions all correct on first pass for 6 of 8 test scenarios.</a:t>
            </a:r>
          </a:p>
        </p:txBody>
      </p:sp>
      <p:sp>
        <p:nvSpPr>
          <p:cNvPr id="8" name="Shape 5"/>
          <p:cNvSpPr/>
          <p:nvPr/>
        </p:nvSpPr>
        <p:spPr>
          <a:xfrm>
            <a:off x="457200" y="2350008"/>
            <a:ext cx="8229600" cy="1051560"/>
          </a:xfrm>
          <a:prstGeom prst="roundRect">
            <a:avLst>
              <a:gd name="adj" fmla="val 4348"/>
            </a:avLst>
          </a:prstGeom>
          <a:solidFill>
            <a:srgbClr val="DFE7ED"/>
          </a:solidFill>
          <a:ln/>
        </p:spPr>
        <p:txBody>
          <a:bodyPr/>
          <a:lstStyle/>
          <a:p>
            <a:endParaRPr lang="en-US"/>
          </a:p>
        </p:txBody>
      </p:sp>
      <p:sp>
        <p:nvSpPr>
          <p:cNvPr id="9" name="Shape 6"/>
          <p:cNvSpPr/>
          <p:nvPr/>
        </p:nvSpPr>
        <p:spPr>
          <a:xfrm>
            <a:off x="621792" y="2670048"/>
            <a:ext cx="411480" cy="411480"/>
          </a:xfrm>
          <a:prstGeom prst="ellipse">
            <a:avLst/>
          </a:prstGeom>
          <a:solidFill>
            <a:srgbClr val="FE3A39"/>
          </a:solidFill>
          <a:ln/>
        </p:spPr>
        <p:txBody>
          <a:bodyPr/>
          <a:lstStyle/>
          <a:p>
            <a:endParaRPr lang="en-US"/>
          </a:p>
        </p:txBody>
      </p:sp>
      <p:sp>
        <p:nvSpPr>
          <p:cNvPr id="10" name="Text 7"/>
          <p:cNvSpPr/>
          <p:nvPr/>
        </p:nvSpPr>
        <p:spPr>
          <a:xfrm>
            <a:off x="1188720" y="2441448"/>
            <a:ext cx="7315200" cy="365760"/>
          </a:xfrm>
          <a:prstGeom prst="rect">
            <a:avLst/>
          </a:prstGeom>
          <a:noFill/>
          <a:ln/>
        </p:spPr>
        <p:txBody>
          <a:bodyPr wrap="square" rtlCol="0" anchor="ctr"/>
          <a:lstStyle/>
          <a:p>
            <a:pPr marL="0" indent="0">
              <a:buNone/>
            </a:pPr>
            <a:endParaRPr lang="en-US" sz="1400"/>
            <a:r>
              <a:rPr lang="en-US" dirty="0"/>
              <a:t>What AI got WRONG</a:t>
            </a:r>
          </a:p>
        </p:txBody>
      </p:sp>
      <p:sp>
        <p:nvSpPr>
          <p:cNvPr id="11" name="Text 8"/>
          <p:cNvSpPr/>
          <p:nvPr/>
        </p:nvSpPr>
        <p:spPr>
          <a:xfrm>
            <a:off x="1188720" y="2807208"/>
            <a:ext cx="7223760" cy="548640"/>
          </a:xfrm>
          <a:prstGeom prst="rect">
            <a:avLst/>
          </a:prstGeom>
          <a:noFill/>
          <a:ln/>
        </p:spPr>
        <p:txBody>
          <a:bodyPr wrap="square" rtlCol="0" anchor="ctr"/>
          <a:lstStyle/>
          <a:p>
            <a:pPr marL="152400" indent="-152400">
              <a:buSzPct val="100000"/>
              <a:buChar char="•"/>
            </a:pPr>
            <a:endParaRPr lang="en-US" sz="1150"/>
            <a:r>
              <a:rPr lang="en-US" dirty="0"/>
              <a:t>OR-condition masking — clickSave() accepted /pim/addEmployee as success when Employee ID conflicted; silent failure cascaded to 7 downstream tests.</a:t>
            </a:r>
          </a:p>
          <a:p>
            <a:pPr marL="152400" indent="-152400">
              <a:buSzPct val="100000"/>
              <a:buChar char="•"/>
            </a:pPr>
            <a:endParaRPr lang="en-US" sz="1150"/>
            <a:r>
              <a:rPr lang="en-US" dirty="0"/>
              <a:t>Vue timing race — networkidle resolved ~400 ms before Vue rendered error messages; all_text_contents() returned [] masking the real failure reason.</a:t>
            </a:r>
          </a:p>
        </p:txBody>
      </p:sp>
      <p:sp>
        <p:nvSpPr>
          <p:cNvPr id="12" name="Shape 9"/>
          <p:cNvSpPr/>
          <p:nvPr/>
        </p:nvSpPr>
        <p:spPr>
          <a:xfrm>
            <a:off x="457200" y="3557016"/>
            <a:ext cx="8229600" cy="1051560"/>
          </a:xfrm>
          <a:prstGeom prst="roundRect">
            <a:avLst>
              <a:gd name="adj" fmla="val 4348"/>
            </a:avLst>
          </a:prstGeom>
          <a:solidFill>
            <a:srgbClr val="DFE7ED"/>
          </a:solidFill>
          <a:ln/>
        </p:spPr>
        <p:txBody>
          <a:bodyPr/>
          <a:lstStyle/>
          <a:p>
            <a:endParaRPr lang="en-US"/>
          </a:p>
        </p:txBody>
      </p:sp>
      <p:sp>
        <p:nvSpPr>
          <p:cNvPr id="13" name="Shape 10"/>
          <p:cNvSpPr/>
          <p:nvPr/>
        </p:nvSpPr>
        <p:spPr>
          <a:xfrm>
            <a:off x="621792" y="3877056"/>
            <a:ext cx="411480" cy="411480"/>
          </a:xfrm>
          <a:prstGeom prst="ellipse">
            <a:avLst/>
          </a:prstGeom>
          <a:solidFill>
            <a:srgbClr val="024879"/>
          </a:solidFill>
          <a:ln/>
        </p:spPr>
        <p:txBody>
          <a:bodyPr/>
          <a:lstStyle/>
          <a:p>
            <a:endParaRPr lang="en-US"/>
          </a:p>
        </p:txBody>
      </p:sp>
      <p:sp>
        <p:nvSpPr>
          <p:cNvPr id="14" name="Text 11"/>
          <p:cNvSpPr/>
          <p:nvPr/>
        </p:nvSpPr>
        <p:spPr>
          <a:xfrm>
            <a:off x="1188720" y="3648456"/>
            <a:ext cx="7315200" cy="365760"/>
          </a:xfrm>
          <a:prstGeom prst="rect">
            <a:avLst/>
          </a:prstGeom>
          <a:noFill/>
          <a:ln/>
        </p:spPr>
        <p:txBody>
          <a:bodyPr wrap="square" rtlCol="0" anchor="ctr"/>
          <a:lstStyle/>
          <a:p>
            <a:pPr marL="0" indent="0">
              <a:buNone/>
            </a:pPr>
            <a:endParaRPr lang="en-US" sz="1400"/>
            <a:r>
              <a:rPr lang="en-US" dirty="0"/>
              <a:t>What I corrected</a:t>
            </a:r>
          </a:p>
        </p:txBody>
      </p:sp>
      <p:sp>
        <p:nvSpPr>
          <p:cNvPr id="15" name="Text 12"/>
          <p:cNvSpPr/>
          <p:nvPr/>
        </p:nvSpPr>
        <p:spPr>
          <a:xfrm>
            <a:off x="1188720" y="4014216"/>
            <a:ext cx="7223760" cy="548640"/>
          </a:xfrm>
          <a:prstGeom prst="rect">
            <a:avLst/>
          </a:prstGeom>
          <a:noFill/>
          <a:ln/>
        </p:spPr>
        <p:txBody>
          <a:bodyPr wrap="square" rtlCol="0" anchor="ctr"/>
          <a:lstStyle/>
          <a:p>
            <a:pPr marL="152400" indent="-152400">
              <a:buSzPct val="100000"/>
              <a:buChar char="•"/>
            </a:pPr>
            <a:endParaRPr lang="en-US" sz="1150"/>
            <a:r>
              <a:rPr lang="en-US" dirty="0"/>
              <a:t>ID collision: removed OR condition; injected explicit NEW_EMP_ID from .env; added strict empNumber/ URL assertion.</a:t>
            </a:r>
          </a:p>
          <a:p>
            <a:pPr marL="152400" indent="-152400">
              <a:buSzPct val="100000"/>
              <a:buChar char="•"/>
            </a:pPr>
            <a:endParaRPr lang="en-US" sz="1150"/>
            <a:r>
              <a:rPr lang="en-US" dirty="0"/>
              <a:t>Vue timing: replaced networkidle with wait_for_function() polling both success redirect URL and error DOM element simultaneously.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Evidence &amp; Artifacts</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1097280"/>
            <a:ext cx="822960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Links &amp; attachments — the proof behind every claim</a:t>
            </a:r>
            <a:endParaRPr lang="en-US" sz="1200"/>
          </a:p>
        </p:txBody>
      </p:sp>
      <p:sp>
        <p:nvSpPr>
          <p:cNvPr id="5" name="Text 2"/>
          <p:cNvSpPr/>
          <p:nvPr/>
        </p:nvSpPr>
        <p:spPr>
          <a:xfrm>
            <a:off x="457200" y="1417320"/>
            <a:ext cx="1920240" cy="365760"/>
          </a:xfrm>
          <a:prstGeom prst="rect">
            <a:avLst/>
          </a:prstGeom>
          <a:noFill/>
          <a:ln/>
        </p:spPr>
        <p:txBody>
          <a:bodyPr wrap="square" rtlCol="0" anchor="ctr"/>
          <a:lstStyle/>
          <a:p>
            <a:pPr marL="0" indent="0">
              <a:buNone/>
            </a:pPr>
            <a:r>
              <a:rPr lang="en-US" sz="1150" b="1">
                <a:solidFill>
                  <a:srgbClr val="024879"/>
                </a:solidFill>
                <a:latin typeface="Calibri" pitchFamily="34" charset="0"/>
                <a:ea typeface="Calibri" pitchFamily="34" charset="-122"/>
                <a:cs typeface="Calibri" pitchFamily="34" charset="-120"/>
              </a:rPr>
              <a:t>•  PR link(s) / merged commits</a:t>
            </a:r>
            <a:endParaRPr lang="en-US" sz="1150"/>
          </a:p>
        </p:txBody>
      </p:sp>
      <p:sp>
        <p:nvSpPr>
          <p:cNvPr id="6" name="Shape 3"/>
          <p:cNvSpPr/>
          <p:nvPr/>
        </p:nvSpPr>
        <p:spPr>
          <a:xfrm>
            <a:off x="2423160" y="1417320"/>
            <a:ext cx="2103120" cy="411480"/>
          </a:xfrm>
          <a:prstGeom prst="roundRect">
            <a:avLst>
              <a:gd name="adj" fmla="val 11111"/>
            </a:avLst>
          </a:prstGeom>
          <a:solidFill>
            <a:srgbClr val="DFE7ED"/>
          </a:solidFill>
          <a:ln w="12700">
            <a:solidFill>
              <a:srgbClr val="C5DCEE"/>
            </a:solidFill>
            <a:prstDash val="solid"/>
          </a:ln>
        </p:spPr>
        <p:txBody>
          <a:bodyPr/>
          <a:lstStyle/>
          <a:p>
            <a:endParaRPr lang="en-US"/>
          </a:p>
        </p:txBody>
      </p:sp>
      <p:sp>
        <p:nvSpPr>
          <p:cNvPr id="7" name="Text 4"/>
          <p:cNvSpPr/>
          <p:nvPr/>
        </p:nvSpPr>
        <p:spPr>
          <a:xfrm>
            <a:off x="2532888" y="1417320"/>
            <a:ext cx="1883664" cy="411480"/>
          </a:xfrm>
          <a:prstGeom prst="rect">
            <a:avLst/>
          </a:prstGeom>
          <a:noFill/>
          <a:ln/>
        </p:spPr>
        <p:txBody>
          <a:bodyPr wrap="square" rtlCol="0" anchor="ctr"/>
          <a:lstStyle/>
          <a:p>
            <a:pPr marL="0" indent="0" algn="l">
              <a:buNone/>
            </a:pPr>
            <a:endParaRPr lang="en-US" sz="1100"/>
            <a:r>
              <a:rPr lang="en-US" dirty="0"/>
              <a:t>Branch feature/migration-progress — key commits:</a:t>
            </a:r>
          </a:p>
          <a:p>
            <a:pPr marL="0" indent="0" algn="l">
              <a:buNone/>
            </a:pPr>
            <a:endParaRPr lang="en-US" sz="1100"/>
            <a:r>
              <a:rPr lang="en-US" dirty="0"/>
              <a:t>c168a01 (spec), ed438f4 (plan), 6a379e1 (pre-001 fix), fe083bc (Vue timing fix), 449adf0 (docs)</a:t>
            </a:r>
          </a:p>
        </p:txBody>
      </p:sp>
      <p:sp>
        <p:nvSpPr>
          <p:cNvPr id="8" name="Text 5"/>
          <p:cNvSpPr/>
          <p:nvPr/>
        </p:nvSpPr>
        <p:spPr>
          <a:xfrm>
            <a:off x="4709160" y="1417320"/>
            <a:ext cx="1920240" cy="365760"/>
          </a:xfrm>
          <a:prstGeom prst="rect">
            <a:avLst/>
          </a:prstGeom>
          <a:noFill/>
          <a:ln/>
        </p:spPr>
        <p:txBody>
          <a:bodyPr wrap="square" rtlCol="0" anchor="ctr"/>
          <a:lstStyle/>
          <a:p>
            <a:pPr marL="0" indent="0">
              <a:buNone/>
            </a:pPr>
            <a:r>
              <a:rPr lang="en-US" sz="1150" b="1">
                <a:solidFill>
                  <a:srgbClr val="024879"/>
                </a:solidFill>
                <a:latin typeface="Calibri" pitchFamily="34" charset="0"/>
                <a:ea typeface="Calibri" pitchFamily="34" charset="-122"/>
                <a:cs typeface="Calibri" pitchFamily="34" charset="-120"/>
              </a:rPr>
              <a:t>•  Design docs / demo recording</a:t>
            </a:r>
            <a:endParaRPr lang="en-US" sz="1150"/>
          </a:p>
        </p:txBody>
      </p:sp>
      <p:sp>
        <p:nvSpPr>
          <p:cNvPr id="9" name="Shape 6"/>
          <p:cNvSpPr/>
          <p:nvPr/>
        </p:nvSpPr>
        <p:spPr>
          <a:xfrm>
            <a:off x="6675120" y="1417320"/>
            <a:ext cx="2103120" cy="411480"/>
          </a:xfrm>
          <a:prstGeom prst="roundRect">
            <a:avLst>
              <a:gd name="adj" fmla="val 11111"/>
            </a:avLst>
          </a:prstGeom>
          <a:solidFill>
            <a:srgbClr val="DFE7ED"/>
          </a:solidFill>
          <a:ln w="12700">
            <a:solidFill>
              <a:srgbClr val="C5DCEE"/>
            </a:solidFill>
            <a:prstDash val="solid"/>
          </a:ln>
        </p:spPr>
        <p:txBody>
          <a:bodyPr/>
          <a:lstStyle/>
          <a:p>
            <a:endParaRPr lang="en-US"/>
          </a:p>
        </p:txBody>
      </p:sp>
      <p:sp>
        <p:nvSpPr>
          <p:cNvPr id="10" name="Text 7"/>
          <p:cNvSpPr/>
          <p:nvPr/>
        </p:nvSpPr>
        <p:spPr>
          <a:xfrm>
            <a:off x="6784848" y="1417320"/>
            <a:ext cx="1883664" cy="411480"/>
          </a:xfrm>
          <a:prstGeom prst="rect">
            <a:avLst/>
          </a:prstGeom>
          <a:noFill/>
          <a:ln/>
        </p:spPr>
        <p:txBody>
          <a:bodyPr wrap="square" rtlCol="0" anchor="ctr"/>
          <a:lstStyle/>
          <a:p>
            <a:pPr marL="0" indent="0" algn="l">
              <a:buNone/>
            </a:pPr>
            <a:endParaRPr lang="en-US" sz="1100"/>
            <a:r>
              <a:rPr lang="en-US" dirty="0"/>
              <a:t>Demo recording descoped — session transcript JSONL serves as equivalent:</a:t>
            </a:r>
          </a:p>
          <a:p>
            <a:pPr marL="0" indent="0" algn="l">
              <a:buNone/>
            </a:pPr>
            <a:endParaRPr lang="en-US" sz="1100"/>
            <a:r>
              <a:rPr lang="en-US" dirty="0"/>
              <a:t>.claude-perficient/projects/.../9bd4ca8f-5ffd-4a63-9b14-d293401c8be2.jsonl</a:t>
            </a:r>
          </a:p>
          <a:p>
            <a:pPr marL="0" indent="0" algn="l">
              <a:buNone/>
            </a:pPr>
            <a:endParaRPr lang="en-US" sz="1100"/>
            <a:r>
              <a:rPr lang="en-US" dirty="0"/>
              <a:t>(238 tool calls, includes full Vue timing failure + recovery sequence)</a:t>
            </a:r>
          </a:p>
        </p:txBody>
      </p:sp>
      <p:sp>
        <p:nvSpPr>
          <p:cNvPr id="11" name="Text 8"/>
          <p:cNvSpPr/>
          <p:nvPr/>
        </p:nvSpPr>
        <p:spPr>
          <a:xfrm>
            <a:off x="457200" y="2286000"/>
            <a:ext cx="1920240" cy="365760"/>
          </a:xfrm>
          <a:prstGeom prst="rect">
            <a:avLst/>
          </a:prstGeom>
          <a:noFill/>
          <a:ln/>
        </p:spPr>
        <p:txBody>
          <a:bodyPr wrap="square" rtlCol="0" anchor="ctr"/>
          <a:lstStyle/>
          <a:p>
            <a:pPr marL="0" indent="0">
              <a:buNone/>
            </a:pPr>
            <a:r>
              <a:rPr lang="en-US" sz="1150" b="1">
                <a:solidFill>
                  <a:srgbClr val="024879"/>
                </a:solidFill>
                <a:latin typeface="Calibri" pitchFamily="34" charset="0"/>
                <a:ea typeface="Calibri" pitchFamily="34" charset="-122"/>
                <a:cs typeface="Calibri" pitchFamily="34" charset="-120"/>
              </a:rPr>
              <a:t>•  Prompt log / agent transcript</a:t>
            </a:r>
            <a:endParaRPr lang="en-US" sz="1150"/>
          </a:p>
        </p:txBody>
      </p:sp>
      <p:sp>
        <p:nvSpPr>
          <p:cNvPr id="12" name="Shape 9"/>
          <p:cNvSpPr/>
          <p:nvPr/>
        </p:nvSpPr>
        <p:spPr>
          <a:xfrm>
            <a:off x="2423160" y="2286000"/>
            <a:ext cx="2103120" cy="411480"/>
          </a:xfrm>
          <a:prstGeom prst="roundRect">
            <a:avLst>
              <a:gd name="adj" fmla="val 11111"/>
            </a:avLst>
          </a:prstGeom>
          <a:solidFill>
            <a:srgbClr val="DFE7ED"/>
          </a:solidFill>
          <a:ln w="12700">
            <a:solidFill>
              <a:srgbClr val="C5DCEE"/>
            </a:solidFill>
            <a:prstDash val="solid"/>
          </a:ln>
        </p:spPr>
        <p:txBody>
          <a:bodyPr/>
          <a:lstStyle/>
          <a:p>
            <a:endParaRPr lang="en-US"/>
          </a:p>
        </p:txBody>
      </p:sp>
      <p:sp>
        <p:nvSpPr>
          <p:cNvPr id="13" name="Text 10"/>
          <p:cNvSpPr/>
          <p:nvPr/>
        </p:nvSpPr>
        <p:spPr>
          <a:xfrm>
            <a:off x="2532888" y="2286000"/>
            <a:ext cx="1883664" cy="411480"/>
          </a:xfrm>
          <a:prstGeom prst="rect">
            <a:avLst/>
          </a:prstGeom>
          <a:noFill/>
          <a:ln/>
        </p:spPr>
        <p:txBody>
          <a:bodyPr wrap="square" rtlCol="0" anchor="ctr"/>
          <a:lstStyle/>
          <a:p>
            <a:pPr marL="0" indent="0" algn="l">
              <a:buNone/>
            </a:pPr>
            <a:endParaRPr lang="en-US" sz="1100"/>
            <a:r>
              <a:rPr lang="en-US" dirty="0"/>
              <a:t>prompts/phase1_cypress_generation.md</a:t>
            </a:r>
          </a:p>
          <a:p>
            <a:pPr marL="0" indent="0" algn="l">
              <a:buNone/>
            </a:pPr>
            <a:endParaRPr lang="en-US" sz="1100"/>
            <a:r>
              <a:rPr lang="en-US" dirty="0"/>
              <a:t>prompts/phase2_playwright_migration.md</a:t>
            </a:r>
          </a:p>
          <a:p>
            <a:pPr marL="0" indent="0" algn="l">
              <a:buNone/>
            </a:pPr>
            <a:endParaRPr lang="en-US" sz="1100"/>
            <a:r>
              <a:rPr lang="en-US" dirty="0"/>
              <a:t>.claude/agents/playwright-migration.md</a:t>
            </a:r>
          </a:p>
        </p:txBody>
      </p:sp>
      <p:sp>
        <p:nvSpPr>
          <p:cNvPr id="14" name="Text 11"/>
          <p:cNvSpPr/>
          <p:nvPr/>
        </p:nvSpPr>
        <p:spPr>
          <a:xfrm>
            <a:off x="4709160" y="2286000"/>
            <a:ext cx="1920240" cy="365760"/>
          </a:xfrm>
          <a:prstGeom prst="rect">
            <a:avLst/>
          </a:prstGeom>
          <a:noFill/>
          <a:ln/>
        </p:spPr>
        <p:txBody>
          <a:bodyPr wrap="square" rtlCol="0" anchor="ctr"/>
          <a:lstStyle/>
          <a:p>
            <a:pPr marL="0" indent="0">
              <a:buNone/>
            </a:pPr>
            <a:r>
              <a:rPr lang="en-US" sz="1150" b="1">
                <a:solidFill>
                  <a:srgbClr val="024879"/>
                </a:solidFill>
                <a:latin typeface="Calibri" pitchFamily="34" charset="0"/>
                <a:ea typeface="Calibri" pitchFamily="34" charset="-122"/>
                <a:cs typeface="Calibri" pitchFamily="34" charset="-120"/>
              </a:rPr>
              <a:t>•  Screenshots on the slides above</a:t>
            </a:r>
            <a:endParaRPr lang="en-US" sz="1150"/>
          </a:p>
        </p:txBody>
      </p:sp>
      <p:sp>
        <p:nvSpPr>
          <p:cNvPr id="15" name="Shape 12"/>
          <p:cNvSpPr/>
          <p:nvPr/>
        </p:nvSpPr>
        <p:spPr>
          <a:xfrm>
            <a:off x="6675120" y="2286000"/>
            <a:ext cx="2103120" cy="411480"/>
          </a:xfrm>
          <a:prstGeom prst="roundRect">
            <a:avLst>
              <a:gd name="adj" fmla="val 11111"/>
            </a:avLst>
          </a:prstGeom>
          <a:solidFill>
            <a:srgbClr val="DFE7ED"/>
          </a:solidFill>
          <a:ln w="12700">
            <a:solidFill>
              <a:srgbClr val="C5DCEE"/>
            </a:solidFill>
            <a:prstDash val="solid"/>
          </a:ln>
        </p:spPr>
        <p:txBody>
          <a:bodyPr/>
          <a:lstStyle/>
          <a:p>
            <a:endParaRPr lang="en-US"/>
          </a:p>
        </p:txBody>
      </p:sp>
      <p:sp>
        <p:nvSpPr>
          <p:cNvPr id="16" name="Text 13"/>
          <p:cNvSpPr/>
          <p:nvPr/>
        </p:nvSpPr>
        <p:spPr>
          <a:xfrm>
            <a:off x="6784848" y="2286000"/>
            <a:ext cx="1883664" cy="411480"/>
          </a:xfrm>
          <a:prstGeom prst="rect">
            <a:avLst/>
          </a:prstGeom>
          <a:noFill/>
          <a:ln/>
        </p:spPr>
        <p:txBody>
          <a:bodyPr wrap="square" rtlCol="0" anchor="ctr"/>
          <a:lstStyle/>
          <a:p>
            <a:pPr marL="0" indent="0" algn="l">
              <a:buNone/>
            </a:pPr>
            <a:endParaRPr lang="en-US" sz="1100"/>
            <a:r>
              <a:rPr lang="en-US" dirty="0"/>
              <a:t>reports/playwright/report.html — 8/8 passing, 82 s</a:t>
            </a:r>
          </a:p>
          <a:p>
            <a:pPr marL="0" indent="0" algn="l">
              <a:buNone/>
            </a:pPr>
            <a:endParaRPr lang="en-US" sz="1100"/>
            <a:r>
              <a:rPr lang="en-US" dirty="0"/>
              <a:t>reports/cypress/mochawesome_086-093.html — 8/8 passing, 1 m 43 s</a:t>
            </a:r>
          </a:p>
        </p:txBody>
      </p:sp>
      <p:sp>
        <p:nvSpPr>
          <p:cNvPr id="17" name="Shape 14"/>
          <p:cNvSpPr/>
          <p:nvPr/>
        </p:nvSpPr>
        <p:spPr>
          <a:xfrm>
            <a:off x="457200" y="3383280"/>
            <a:ext cx="8229600" cy="1234440"/>
          </a:xfrm>
          <a:prstGeom prst="roundRect">
            <a:avLst>
              <a:gd name="adj" fmla="val 4444"/>
            </a:avLst>
          </a:prstGeom>
          <a:solidFill>
            <a:srgbClr val="C5DCEE"/>
          </a:solidFill>
          <a:ln/>
        </p:spPr>
        <p:txBody>
          <a:bodyPr/>
          <a:lstStyle/>
          <a:p>
            <a:endParaRPr lang="en-US"/>
          </a:p>
        </p:txBody>
      </p:sp>
      <p:sp>
        <p:nvSpPr>
          <p:cNvPr id="18" name="Text 15"/>
          <p:cNvSpPr/>
          <p:nvPr/>
        </p:nvSpPr>
        <p:spPr>
          <a:xfrm>
            <a:off x="640080" y="3474720"/>
            <a:ext cx="7863840" cy="320040"/>
          </a:xfrm>
          <a:prstGeom prst="rect">
            <a:avLst/>
          </a:prstGeom>
          <a:noFill/>
          <a:ln/>
        </p:spPr>
        <p:txBody>
          <a:bodyPr wrap="square" rtlCol="0" anchor="ctr"/>
          <a:lstStyle/>
          <a:p>
            <a:pPr marL="0" indent="0">
              <a:buNone/>
            </a:pPr>
            <a:r>
              <a:rPr lang="en-US" sz="1400" b="1">
                <a:solidFill>
                  <a:srgbClr val="075056"/>
                </a:solidFill>
                <a:latin typeface="Arial" pitchFamily="34" charset="0"/>
                <a:ea typeface="Arial" pitchFamily="34" charset="-122"/>
                <a:cs typeface="Arial" pitchFamily="34" charset="-120"/>
              </a:rPr>
              <a:t>Your Validator</a:t>
            </a:r>
            <a:endParaRPr lang="en-US" sz="1400"/>
          </a:p>
        </p:txBody>
      </p:sp>
      <p:sp>
        <p:nvSpPr>
          <p:cNvPr id="19" name="Text 16"/>
          <p:cNvSpPr/>
          <p:nvPr/>
        </p:nvSpPr>
        <p:spPr>
          <a:xfrm>
            <a:off x="640080" y="3794760"/>
            <a:ext cx="7863840" cy="274320"/>
          </a:xfrm>
          <a:prstGeom prst="rect">
            <a:avLst/>
          </a:prstGeom>
          <a:noFill/>
          <a:ln/>
        </p:spPr>
        <p:txBody>
          <a:bodyPr wrap="square" rtlCol="0" anchor="ctr"/>
          <a:lstStyle/>
          <a:p>
            <a:pPr marL="0" indent="0">
              <a:buNone/>
            </a:pPr>
            <a:r>
              <a:rPr lang="en-US" sz="1100" i="1">
                <a:solidFill>
                  <a:srgbClr val="024879"/>
                </a:solidFill>
                <a:latin typeface="Calibri" pitchFamily="34" charset="0"/>
                <a:ea typeface="Calibri" pitchFamily="34" charset="-122"/>
                <a:cs typeface="Calibri" pitchFamily="34" charset="-120"/>
              </a:rPr>
              <a:t>Option 1 → client PM / Account Lead   ·   Option 2 → Platform Leader / Owner</a:t>
            </a:r>
            <a:endParaRPr lang="en-US" sz="1100"/>
          </a:p>
        </p:txBody>
      </p:sp>
      <p:sp>
        <p:nvSpPr>
          <p:cNvPr id="20" name="Text 17"/>
          <p:cNvSpPr/>
          <p:nvPr/>
        </p:nvSpPr>
        <p:spPr>
          <a:xfrm>
            <a:off x="640080" y="4160520"/>
            <a:ext cx="7863840" cy="365760"/>
          </a:xfrm>
          <a:prstGeom prst="rect">
            <a:avLst/>
          </a:prstGeom>
          <a:noFill/>
          <a:ln/>
        </p:spPr>
        <p:txBody>
          <a:bodyPr wrap="square" rtlCol="0" anchor="ctr"/>
          <a:lstStyle/>
          <a:p>
            <a:pPr marL="0" indent="0">
              <a:buNone/>
            </a:pPr>
            <a:r>
              <a:rPr lang="en-US" sz="1200" b="1">
                <a:solidFill>
                  <a:srgbClr val="1B2227"/>
                </a:solidFill>
                <a:latin typeface="Calibri" pitchFamily="34" charset="0"/>
                <a:ea typeface="Calibri" pitchFamily="34" charset="-122"/>
                <a:cs typeface="Calibri" pitchFamily="34" charset="-120"/>
              </a:rPr>
              <a:t>Name: </a:t>
            </a:r>
            <a:r>
              <a:rPr lang="en-US" sz="1200">
                <a:solidFill>
                  <a:srgbClr val="1B2227"/>
                </a:solidFill>
                <a:latin typeface="Calibri" pitchFamily="34" charset="0"/>
                <a:ea typeface="Calibri" pitchFamily="34" charset="-122"/>
                <a:cs typeface="Calibri" pitchFamily="34" charset="-120"/>
              </a:rPr>
              <a:t>____________________      </a:t>
            </a:r>
            <a:r>
              <a:rPr lang="en-US" sz="1200" b="1">
                <a:solidFill>
                  <a:srgbClr val="1B2227"/>
                </a:solidFill>
                <a:latin typeface="Calibri" pitchFamily="34" charset="0"/>
                <a:ea typeface="Calibri" pitchFamily="34" charset="-122"/>
                <a:cs typeface="Calibri" pitchFamily="34" charset="-120"/>
              </a:rPr>
              <a:t>Role: </a:t>
            </a:r>
            <a:r>
              <a:rPr lang="en-US" sz="1200">
                <a:solidFill>
                  <a:srgbClr val="1B2227"/>
                </a:solidFill>
                <a:latin typeface="Calibri" pitchFamily="34" charset="0"/>
                <a:ea typeface="Calibri" pitchFamily="34" charset="-122"/>
                <a:cs typeface="Calibri" pitchFamily="34" charset="-120"/>
              </a:rPr>
              <a:t>____________________      </a:t>
            </a:r>
            <a:r>
              <a:rPr lang="en-US" sz="1200" b="1">
                <a:solidFill>
                  <a:srgbClr val="1B2227"/>
                </a:solidFill>
                <a:latin typeface="Calibri" pitchFamily="34" charset="0"/>
                <a:ea typeface="Calibri" pitchFamily="34" charset="-122"/>
                <a:cs typeface="Calibri" pitchFamily="34" charset="-120"/>
              </a:rPr>
              <a:t>Email: </a:t>
            </a:r>
            <a:r>
              <a:rPr lang="en-US" sz="1200">
                <a:solidFill>
                  <a:srgbClr val="1B2227"/>
                </a:solidFill>
                <a:latin typeface="Calibri" pitchFamily="34" charset="0"/>
                <a:ea typeface="Calibri" pitchFamily="34" charset="-122"/>
                <a:cs typeface="Calibri" pitchFamily="34" charset="-120"/>
              </a:rPr>
              <a:t>____________________</a:t>
            </a:r>
            <a:endParaRPr 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The Rubric — 5 Topics</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896112"/>
            <a:ext cx="8229600" cy="274320"/>
          </a:xfrm>
          <a:prstGeom prst="rect">
            <a:avLst/>
          </a:prstGeom>
          <a:noFill/>
          <a:ln/>
        </p:spPr>
        <p:txBody>
          <a:bodyPr wrap="square" rtlCol="0" anchor="ctr"/>
          <a:lstStyle/>
          <a:p>
            <a:pPr marL="0" indent="0">
              <a:buNone/>
            </a:pPr>
            <a:r>
              <a:rPr lang="en-US" sz="1200" i="1">
                <a:solidFill>
                  <a:srgbClr val="5A6B72"/>
                </a:solidFill>
                <a:latin typeface="Calibri" pitchFamily="34" charset="0"/>
                <a:ea typeface="Calibri" pitchFamily="34" charset="-122"/>
                <a:cs typeface="Calibri" pitchFamily="34" charset="-120"/>
              </a:rPr>
              <a:t>Each topic scored 0–30. Demonstrate at least 3. Clear at 70 / 150.</a:t>
            </a:r>
            <a:endParaRPr lang="en-US" sz="120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200400"/>
        </p:xfrm>
        <a:graphic>
          <a:graphicData uri="http://schemas.openxmlformats.org/drawingml/2006/table">
            <a:tbl>
              <a:tblPr/>
              <a:tblGrid>
                <a:gridCol w="246888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65760">
                <a:tc>
                  <a:txBody>
                    <a:bodyPr/>
                    <a:lstStyle/>
                    <a:p>
                      <a:pPr marL="0" indent="0">
                        <a:buNone/>
                      </a:pPr>
                      <a:r>
                        <a:rPr lang="en-US" sz="1100" b="1">
                          <a:solidFill>
                            <a:srgbClr val="FFFFFF"/>
                          </a:solidFill>
                          <a:latin typeface="Calibri" pitchFamily="34" charset="0"/>
                          <a:ea typeface="Calibri" pitchFamily="34" charset="-122"/>
                          <a:cs typeface="Calibri" pitchFamily="34" charset="-120"/>
                        </a:rPr>
                        <a:t>Competency topic</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What earns top marks (25–30)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Max</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extLst>
                  <a:ext uri="{0D108BD9-81ED-4DB2-BD59-A6C34878D82A}">
                    <a16:rowId xmlns:a16="http://schemas.microsoft.com/office/drawing/2014/main" val="10000"/>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Spec-Driven Development</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Spec discipline governs agent behaviour and hand-offs, not just a single file.</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extLst>
                  <a:ext uri="{0D108BD9-81ED-4DB2-BD59-A6C34878D82A}">
                    <a16:rowId xmlns:a16="http://schemas.microsoft.com/office/drawing/2014/main" val="10001"/>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AI-Powered Development</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Advanced Claude Code / Copilot (agent modes, CLI, skills) delivering working software.</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LLM Evaluation &amp; Interpretability</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Objective evaluation (LLM-as-judge, scored comparisons); data-grounded decisions.</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extLst>
                  <a:ext uri="{0D108BD9-81ED-4DB2-BD59-A6C34878D82A}">
                    <a16:rowId xmlns:a16="http://schemas.microsoft.com/office/drawing/2014/main" val="10003"/>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Agent Design, Orchestration &amp; Ops</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Multi-agent / multi-step orchestration with failure handling, recovery, observability.</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AI Tool Integration &amp; Extensibility</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Extended agents via MCP servers, hooks, or custom skills/tools — secure and reusable.</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extLst>
                  <a:ext uri="{0D108BD9-81ED-4DB2-BD59-A6C34878D82A}">
                    <a16:rowId xmlns:a16="http://schemas.microsoft.com/office/drawing/2014/main" val="10005"/>
                  </a:ext>
                </a:extLst>
              </a:tr>
            </a:tbl>
          </a:graphicData>
        </a:graphic>
      </p:graphicFrame>
      <p:sp>
        <p:nvSpPr>
          <p:cNvPr id="6" name="Shape 2"/>
          <p:cNvSpPr/>
          <p:nvPr/>
        </p:nvSpPr>
        <p:spPr>
          <a:xfrm>
            <a:off x="457200" y="4526280"/>
            <a:ext cx="1965960" cy="411480"/>
          </a:xfrm>
          <a:prstGeom prst="roundRect">
            <a:avLst>
              <a:gd name="adj" fmla="val 8889"/>
            </a:avLst>
          </a:prstGeom>
          <a:solidFill>
            <a:srgbClr val="71D8C5"/>
          </a:solidFill>
          <a:ln w="9525">
            <a:solidFill>
              <a:srgbClr val="B7C4CC"/>
            </a:solidFill>
            <a:prstDash val="solid"/>
          </a:ln>
        </p:spPr>
        <p:txBody>
          <a:bodyPr/>
          <a:lstStyle/>
          <a:p>
            <a:endParaRPr lang="en-US"/>
          </a:p>
        </p:txBody>
      </p:sp>
      <p:sp>
        <p:nvSpPr>
          <p:cNvPr id="7" name="Text 3"/>
          <p:cNvSpPr/>
          <p:nvPr/>
        </p:nvSpPr>
        <p:spPr>
          <a:xfrm>
            <a:off x="457200" y="4526280"/>
            <a:ext cx="1965960" cy="411480"/>
          </a:xfrm>
          <a:prstGeom prst="rect">
            <a:avLst/>
          </a:prstGeom>
          <a:noFill/>
          <a:ln/>
        </p:spPr>
        <p:txBody>
          <a:bodyPr wrap="square" rtlCol="0" anchor="ctr"/>
          <a:lstStyle/>
          <a:p>
            <a:pPr marL="0" indent="0" algn="ctr">
              <a:buNone/>
            </a:pPr>
            <a:r>
              <a:rPr lang="en-US" sz="1000" b="1">
                <a:solidFill>
                  <a:srgbClr val="1B2227"/>
                </a:solidFill>
                <a:latin typeface="Arial" pitchFamily="34" charset="0"/>
                <a:ea typeface="Arial" pitchFamily="34" charset="-122"/>
                <a:cs typeface="Arial" pitchFamily="34" charset="-120"/>
              </a:rPr>
              <a:t>Distinction  25–30</a:t>
            </a:r>
            <a:endParaRPr lang="en-US" sz="1000"/>
          </a:p>
        </p:txBody>
      </p:sp>
      <p:sp>
        <p:nvSpPr>
          <p:cNvPr id="8" name="Shape 4"/>
          <p:cNvSpPr/>
          <p:nvPr/>
        </p:nvSpPr>
        <p:spPr>
          <a:xfrm>
            <a:off x="2532888" y="4526280"/>
            <a:ext cx="1965960" cy="411480"/>
          </a:xfrm>
          <a:prstGeom prst="roundRect">
            <a:avLst>
              <a:gd name="adj" fmla="val 8889"/>
            </a:avLst>
          </a:prstGeom>
          <a:solidFill>
            <a:srgbClr val="C5DCEE"/>
          </a:solidFill>
          <a:ln w="9525">
            <a:solidFill>
              <a:srgbClr val="B7C4CC"/>
            </a:solidFill>
            <a:prstDash val="solid"/>
          </a:ln>
        </p:spPr>
        <p:txBody>
          <a:bodyPr/>
          <a:lstStyle/>
          <a:p>
            <a:endParaRPr lang="en-US"/>
          </a:p>
        </p:txBody>
      </p:sp>
      <p:sp>
        <p:nvSpPr>
          <p:cNvPr id="9" name="Text 5"/>
          <p:cNvSpPr/>
          <p:nvPr/>
        </p:nvSpPr>
        <p:spPr>
          <a:xfrm>
            <a:off x="2532888" y="4526280"/>
            <a:ext cx="1965960" cy="411480"/>
          </a:xfrm>
          <a:prstGeom prst="rect">
            <a:avLst/>
          </a:prstGeom>
          <a:noFill/>
          <a:ln/>
        </p:spPr>
        <p:txBody>
          <a:bodyPr wrap="square" rtlCol="0" anchor="ctr"/>
          <a:lstStyle/>
          <a:p>
            <a:pPr marL="0" indent="0" algn="ctr">
              <a:buNone/>
            </a:pPr>
            <a:r>
              <a:rPr lang="en-US" sz="1000" b="1">
                <a:solidFill>
                  <a:srgbClr val="1B2227"/>
                </a:solidFill>
                <a:latin typeface="Arial" pitchFamily="34" charset="0"/>
                <a:ea typeface="Arial" pitchFamily="34" charset="-122"/>
                <a:cs typeface="Arial" pitchFamily="34" charset="-120"/>
              </a:rPr>
              <a:t>Proficient  18–24</a:t>
            </a:r>
            <a:endParaRPr lang="en-US" sz="1000"/>
          </a:p>
        </p:txBody>
      </p:sp>
      <p:sp>
        <p:nvSpPr>
          <p:cNvPr id="10" name="Shape 6"/>
          <p:cNvSpPr/>
          <p:nvPr/>
        </p:nvSpPr>
        <p:spPr>
          <a:xfrm>
            <a:off x="4608576" y="4526280"/>
            <a:ext cx="1965960" cy="411480"/>
          </a:xfrm>
          <a:prstGeom prst="roundRect">
            <a:avLst>
              <a:gd name="adj" fmla="val 8889"/>
            </a:avLst>
          </a:prstGeom>
          <a:solidFill>
            <a:srgbClr val="DFE7ED"/>
          </a:solidFill>
          <a:ln w="9525">
            <a:solidFill>
              <a:srgbClr val="B7C4CC"/>
            </a:solidFill>
            <a:prstDash val="solid"/>
          </a:ln>
        </p:spPr>
        <p:txBody>
          <a:bodyPr/>
          <a:lstStyle/>
          <a:p>
            <a:endParaRPr lang="en-US"/>
          </a:p>
        </p:txBody>
      </p:sp>
      <p:sp>
        <p:nvSpPr>
          <p:cNvPr id="5" name="Text 7"/>
          <p:cNvSpPr/>
          <p:nvPr/>
        </p:nvSpPr>
        <p:spPr>
          <a:xfrm>
            <a:off x="4608576" y="4526280"/>
            <a:ext cx="1965960" cy="411480"/>
          </a:xfrm>
          <a:prstGeom prst="rect">
            <a:avLst/>
          </a:prstGeom>
          <a:noFill/>
          <a:ln/>
        </p:spPr>
        <p:txBody>
          <a:bodyPr wrap="square" rtlCol="0" anchor="ctr"/>
          <a:lstStyle/>
          <a:p>
            <a:pPr marL="0" indent="0" algn="ctr">
              <a:buNone/>
            </a:pPr>
            <a:r>
              <a:rPr lang="en-US" sz="1000" b="1">
                <a:solidFill>
                  <a:srgbClr val="1B2227"/>
                </a:solidFill>
                <a:latin typeface="Arial" pitchFamily="34" charset="0"/>
                <a:ea typeface="Arial" pitchFamily="34" charset="-122"/>
                <a:cs typeface="Arial" pitchFamily="34" charset="-120"/>
              </a:rPr>
              <a:t>Developing  10–17</a:t>
            </a:r>
            <a:endParaRPr lang="en-US" sz="1000"/>
          </a:p>
        </p:txBody>
      </p:sp>
      <p:sp>
        <p:nvSpPr>
          <p:cNvPr id="12" name="Shape 8"/>
          <p:cNvSpPr/>
          <p:nvPr/>
        </p:nvSpPr>
        <p:spPr>
          <a:xfrm>
            <a:off x="6684264" y="4526280"/>
            <a:ext cx="1965960" cy="411480"/>
          </a:xfrm>
          <a:prstGeom prst="roundRect">
            <a:avLst>
              <a:gd name="adj" fmla="val 8889"/>
            </a:avLst>
          </a:prstGeom>
          <a:solidFill>
            <a:srgbClr val="FFFFFF"/>
          </a:solidFill>
          <a:ln w="9525">
            <a:solidFill>
              <a:srgbClr val="B7C4CC"/>
            </a:solidFill>
            <a:prstDash val="solid"/>
          </a:ln>
        </p:spPr>
        <p:txBody>
          <a:bodyPr/>
          <a:lstStyle/>
          <a:p>
            <a:endParaRPr lang="en-US"/>
          </a:p>
        </p:txBody>
      </p:sp>
      <p:sp>
        <p:nvSpPr>
          <p:cNvPr id="13" name="Text 9"/>
          <p:cNvSpPr/>
          <p:nvPr/>
        </p:nvSpPr>
        <p:spPr>
          <a:xfrm>
            <a:off x="6684264" y="4526280"/>
            <a:ext cx="1965960" cy="411480"/>
          </a:xfrm>
          <a:prstGeom prst="rect">
            <a:avLst/>
          </a:prstGeom>
          <a:noFill/>
          <a:ln/>
        </p:spPr>
        <p:txBody>
          <a:bodyPr wrap="square" rtlCol="0" anchor="ctr"/>
          <a:lstStyle/>
          <a:p>
            <a:pPr marL="0" indent="0" algn="ctr">
              <a:buNone/>
            </a:pPr>
            <a:r>
              <a:rPr lang="en-US" sz="1000" b="1">
                <a:solidFill>
                  <a:srgbClr val="1B2227"/>
                </a:solidFill>
                <a:latin typeface="Arial" pitchFamily="34" charset="0"/>
                <a:ea typeface="Arial" pitchFamily="34" charset="-122"/>
                <a:cs typeface="Arial" pitchFamily="34" charset="-120"/>
              </a:rPr>
              <a:t>Emerging  0–9</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My Self-Rating</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896112"/>
            <a:ext cx="8229600" cy="274320"/>
          </a:xfrm>
          <a:prstGeom prst="rect">
            <a:avLst/>
          </a:prstGeom>
          <a:noFill/>
          <a:ln/>
        </p:spPr>
        <p:txBody>
          <a:bodyPr wrap="square" rtlCol="0" anchor="ctr"/>
          <a:lstStyle/>
          <a:p>
            <a:pPr marL="0" indent="0">
              <a:buNone/>
            </a:pPr>
            <a:r>
              <a:rPr lang="en-US" sz="1200" i="1">
                <a:solidFill>
                  <a:srgbClr val="5A6B72"/>
                </a:solidFill>
                <a:latin typeface="Calibri" pitchFamily="34" charset="0"/>
                <a:ea typeface="Calibri" pitchFamily="34" charset="-122"/>
                <a:cs typeface="Calibri" pitchFamily="34" charset="-120"/>
              </a:rPr>
              <a:t>Score each topic you demonstrated (0–30). Leave blank if not used (min 3 required).</a:t>
            </a:r>
            <a:endParaRPr lang="en-US" sz="1200"/>
          </a:p>
        </p:txBody>
      </p:sp>
      <p:sp>
        <p:nvSpPr>
          <p:cNvPr id="5" name="Shape 2"/>
          <p:cNvSpPr/>
          <p:nvPr/>
        </p:nvSpPr>
        <p:spPr>
          <a:xfrm>
            <a:off x="457200" y="1280160"/>
            <a:ext cx="6949440" cy="457200"/>
          </a:xfrm>
          <a:prstGeom prst="roundRect">
            <a:avLst>
              <a:gd name="adj" fmla="val 8000"/>
            </a:avLst>
          </a:prstGeom>
          <a:solidFill>
            <a:srgbClr val="DFE7ED"/>
          </a:solidFill>
          <a:ln w="6350">
            <a:solidFill>
              <a:srgbClr val="B7C4CC"/>
            </a:solidFill>
            <a:prstDash val="solid"/>
          </a:ln>
        </p:spPr>
        <p:txBody>
          <a:bodyPr/>
          <a:lstStyle/>
          <a:p>
            <a:endParaRPr lang="en-US"/>
          </a:p>
        </p:txBody>
      </p:sp>
      <p:sp>
        <p:nvSpPr>
          <p:cNvPr id="6" name="Text 3"/>
          <p:cNvSpPr/>
          <p:nvPr/>
        </p:nvSpPr>
        <p:spPr>
          <a:xfrm>
            <a:off x="594360" y="1280160"/>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1.  Spec-Driven Development</a:t>
            </a:r>
            <a:endParaRPr lang="en-US" sz="1250"/>
          </a:p>
        </p:txBody>
      </p:sp>
      <p:sp>
        <p:nvSpPr>
          <p:cNvPr id="7" name="Shape 4"/>
          <p:cNvSpPr/>
          <p:nvPr/>
        </p:nvSpPr>
        <p:spPr>
          <a:xfrm>
            <a:off x="7543800" y="1280160"/>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8" name="Text 5"/>
          <p:cNvSpPr/>
          <p:nvPr/>
        </p:nvSpPr>
        <p:spPr>
          <a:xfrm>
            <a:off x="7543800" y="1280160"/>
            <a:ext cx="1143000" cy="457200"/>
          </a:xfrm>
          <a:prstGeom prst="rect">
            <a:avLst/>
          </a:prstGeom>
          <a:noFill/>
          <a:ln/>
        </p:spPr>
        <p:txBody>
          <a:bodyPr wrap="square" rtlCol="0" anchor="ctr"/>
          <a:lstStyle/>
          <a:p>
            <a:pPr marL="0" indent="0" algn="ctr">
              <a:buNone/>
            </a:pPr>
            <a:endParaRPr lang="en-US" sz="1200"/>
            <a:r>
              <a:rPr lang="en-US" dirty="0"/>
              <a:t>22 / 30</a:t>
            </a:r>
          </a:p>
        </p:txBody>
      </p:sp>
      <p:sp>
        <p:nvSpPr>
          <p:cNvPr id="9" name="Shape 6"/>
          <p:cNvSpPr/>
          <p:nvPr/>
        </p:nvSpPr>
        <p:spPr>
          <a:xfrm>
            <a:off x="457200" y="1810512"/>
            <a:ext cx="6949440" cy="457200"/>
          </a:xfrm>
          <a:prstGeom prst="roundRect">
            <a:avLst>
              <a:gd name="adj" fmla="val 8000"/>
            </a:avLst>
          </a:prstGeom>
          <a:solidFill>
            <a:srgbClr val="FFFFFF"/>
          </a:solidFill>
          <a:ln w="6350">
            <a:solidFill>
              <a:srgbClr val="B7C4CC"/>
            </a:solidFill>
            <a:prstDash val="solid"/>
          </a:ln>
        </p:spPr>
        <p:txBody>
          <a:bodyPr/>
          <a:lstStyle/>
          <a:p>
            <a:endParaRPr lang="en-US"/>
          </a:p>
        </p:txBody>
      </p:sp>
      <p:sp>
        <p:nvSpPr>
          <p:cNvPr id="10" name="Text 7"/>
          <p:cNvSpPr/>
          <p:nvPr/>
        </p:nvSpPr>
        <p:spPr>
          <a:xfrm>
            <a:off x="594360" y="1810512"/>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2.  AI-Powered Development</a:t>
            </a:r>
            <a:endParaRPr lang="en-US" sz="1250"/>
          </a:p>
        </p:txBody>
      </p:sp>
      <p:sp>
        <p:nvSpPr>
          <p:cNvPr id="11" name="Shape 8"/>
          <p:cNvSpPr/>
          <p:nvPr/>
        </p:nvSpPr>
        <p:spPr>
          <a:xfrm>
            <a:off x="7543800" y="1810512"/>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12" name="Text 9"/>
          <p:cNvSpPr/>
          <p:nvPr/>
        </p:nvSpPr>
        <p:spPr>
          <a:xfrm>
            <a:off x="7543800" y="1810512"/>
            <a:ext cx="1143000" cy="457200"/>
          </a:xfrm>
          <a:prstGeom prst="rect">
            <a:avLst/>
          </a:prstGeom>
          <a:noFill/>
          <a:ln/>
        </p:spPr>
        <p:txBody>
          <a:bodyPr wrap="square" rtlCol="0" anchor="ctr"/>
          <a:lstStyle/>
          <a:p>
            <a:pPr marL="0" indent="0" algn="ctr">
              <a:buNone/>
            </a:pPr>
            <a:endParaRPr lang="en-US" sz="1200"/>
            <a:r>
              <a:rPr lang="en-US" dirty="0"/>
              <a:t>26 / 30</a:t>
            </a:r>
          </a:p>
        </p:txBody>
      </p:sp>
      <p:sp>
        <p:nvSpPr>
          <p:cNvPr id="13" name="Shape 10"/>
          <p:cNvSpPr/>
          <p:nvPr/>
        </p:nvSpPr>
        <p:spPr>
          <a:xfrm>
            <a:off x="457200" y="2340864"/>
            <a:ext cx="6949440" cy="457200"/>
          </a:xfrm>
          <a:prstGeom prst="roundRect">
            <a:avLst>
              <a:gd name="adj" fmla="val 8000"/>
            </a:avLst>
          </a:prstGeom>
          <a:solidFill>
            <a:srgbClr val="DFE7ED"/>
          </a:solidFill>
          <a:ln w="6350">
            <a:solidFill>
              <a:srgbClr val="B7C4CC"/>
            </a:solidFill>
            <a:prstDash val="solid"/>
          </a:ln>
        </p:spPr>
        <p:txBody>
          <a:bodyPr/>
          <a:lstStyle/>
          <a:p>
            <a:endParaRPr lang="en-US"/>
          </a:p>
        </p:txBody>
      </p:sp>
      <p:sp>
        <p:nvSpPr>
          <p:cNvPr id="14" name="Text 11"/>
          <p:cNvSpPr/>
          <p:nvPr/>
        </p:nvSpPr>
        <p:spPr>
          <a:xfrm>
            <a:off x="594360" y="2340864"/>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3.  LLM Evaluation &amp; Interpretability</a:t>
            </a:r>
            <a:endParaRPr lang="en-US" sz="1250"/>
          </a:p>
        </p:txBody>
      </p:sp>
      <p:sp>
        <p:nvSpPr>
          <p:cNvPr id="15" name="Shape 12"/>
          <p:cNvSpPr/>
          <p:nvPr/>
        </p:nvSpPr>
        <p:spPr>
          <a:xfrm>
            <a:off x="7543800" y="2340864"/>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16" name="Text 13"/>
          <p:cNvSpPr/>
          <p:nvPr/>
        </p:nvSpPr>
        <p:spPr>
          <a:xfrm>
            <a:off x="7543800" y="2340864"/>
            <a:ext cx="1143000" cy="457200"/>
          </a:xfrm>
          <a:prstGeom prst="rect">
            <a:avLst/>
          </a:prstGeom>
          <a:noFill/>
          <a:ln/>
        </p:spPr>
        <p:txBody>
          <a:bodyPr wrap="square" rtlCol="0" anchor="ctr"/>
          <a:lstStyle/>
          <a:p>
            <a:pPr marL="0" indent="0" algn="ctr">
              <a:buNone/>
            </a:pPr>
            <a:endParaRPr lang="en-US" sz="1200"/>
            <a:r>
              <a:rPr lang="en-US" dirty="0"/>
              <a:t>24 / 30</a:t>
            </a:r>
          </a:p>
        </p:txBody>
      </p:sp>
      <p:sp>
        <p:nvSpPr>
          <p:cNvPr id="17" name="Shape 14"/>
          <p:cNvSpPr/>
          <p:nvPr/>
        </p:nvSpPr>
        <p:spPr>
          <a:xfrm>
            <a:off x="457200" y="2871216"/>
            <a:ext cx="6949440" cy="457200"/>
          </a:xfrm>
          <a:prstGeom prst="roundRect">
            <a:avLst>
              <a:gd name="adj" fmla="val 8000"/>
            </a:avLst>
          </a:prstGeom>
          <a:solidFill>
            <a:srgbClr val="FFFFFF"/>
          </a:solidFill>
          <a:ln w="6350">
            <a:solidFill>
              <a:srgbClr val="B7C4CC"/>
            </a:solidFill>
            <a:prstDash val="solid"/>
          </a:ln>
        </p:spPr>
        <p:txBody>
          <a:bodyPr/>
          <a:lstStyle/>
          <a:p>
            <a:endParaRPr lang="en-US"/>
          </a:p>
        </p:txBody>
      </p:sp>
      <p:sp>
        <p:nvSpPr>
          <p:cNvPr id="18" name="Text 15"/>
          <p:cNvSpPr/>
          <p:nvPr/>
        </p:nvSpPr>
        <p:spPr>
          <a:xfrm>
            <a:off x="594360" y="2871216"/>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4.  Agent Design, Orchestration &amp; Ops</a:t>
            </a:r>
            <a:endParaRPr lang="en-US" sz="1250"/>
          </a:p>
        </p:txBody>
      </p:sp>
      <p:sp>
        <p:nvSpPr>
          <p:cNvPr id="19" name="Shape 16"/>
          <p:cNvSpPr/>
          <p:nvPr/>
        </p:nvSpPr>
        <p:spPr>
          <a:xfrm>
            <a:off x="7543800" y="2871216"/>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20" name="Text 17"/>
          <p:cNvSpPr/>
          <p:nvPr/>
        </p:nvSpPr>
        <p:spPr>
          <a:xfrm>
            <a:off x="7543800" y="2871216"/>
            <a:ext cx="1143000" cy="457200"/>
          </a:xfrm>
          <a:prstGeom prst="rect">
            <a:avLst/>
          </a:prstGeom>
          <a:noFill/>
          <a:ln/>
        </p:spPr>
        <p:txBody>
          <a:bodyPr wrap="square" rtlCol="0" anchor="ctr"/>
          <a:lstStyle/>
          <a:p>
            <a:pPr marL="0" indent="0" algn="ctr">
              <a:buNone/>
            </a:pPr>
            <a:endParaRPr lang="en-US" sz="1200"/>
            <a:r>
              <a:rPr lang="en-US" dirty="0"/>
              <a:t>24 / 30</a:t>
            </a:r>
          </a:p>
        </p:txBody>
      </p:sp>
      <p:sp>
        <p:nvSpPr>
          <p:cNvPr id="21" name="Shape 18"/>
          <p:cNvSpPr/>
          <p:nvPr/>
        </p:nvSpPr>
        <p:spPr>
          <a:xfrm>
            <a:off x="457200" y="3401568"/>
            <a:ext cx="6949440" cy="457200"/>
          </a:xfrm>
          <a:prstGeom prst="roundRect">
            <a:avLst>
              <a:gd name="adj" fmla="val 8000"/>
            </a:avLst>
          </a:prstGeom>
          <a:solidFill>
            <a:srgbClr val="DFE7ED"/>
          </a:solidFill>
          <a:ln w="6350">
            <a:solidFill>
              <a:srgbClr val="B7C4CC"/>
            </a:solidFill>
            <a:prstDash val="solid"/>
          </a:ln>
        </p:spPr>
        <p:txBody>
          <a:bodyPr/>
          <a:lstStyle/>
          <a:p>
            <a:endParaRPr lang="en-US"/>
          </a:p>
        </p:txBody>
      </p:sp>
      <p:sp>
        <p:nvSpPr>
          <p:cNvPr id="22" name="Text 19"/>
          <p:cNvSpPr/>
          <p:nvPr/>
        </p:nvSpPr>
        <p:spPr>
          <a:xfrm>
            <a:off x="594360" y="3401568"/>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5.  AI Tool Integration &amp; Extensibility</a:t>
            </a:r>
            <a:endParaRPr lang="en-US" sz="1250"/>
          </a:p>
        </p:txBody>
      </p:sp>
      <p:sp>
        <p:nvSpPr>
          <p:cNvPr id="23" name="Shape 20"/>
          <p:cNvSpPr/>
          <p:nvPr/>
        </p:nvSpPr>
        <p:spPr>
          <a:xfrm>
            <a:off x="7543800" y="3401568"/>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24" name="Text 21"/>
          <p:cNvSpPr/>
          <p:nvPr/>
        </p:nvSpPr>
        <p:spPr>
          <a:xfrm>
            <a:off x="7543800" y="3401568"/>
            <a:ext cx="1143000" cy="457200"/>
          </a:xfrm>
          <a:prstGeom prst="rect">
            <a:avLst/>
          </a:prstGeom>
          <a:noFill/>
          <a:ln/>
        </p:spPr>
        <p:txBody>
          <a:bodyPr wrap="square" rtlCol="0" anchor="ctr"/>
          <a:lstStyle/>
          <a:p>
            <a:pPr marL="0" indent="0" algn="ctr">
              <a:buNone/>
            </a:pPr>
            <a:endParaRPr lang="en-US" sz="1200"/>
            <a:r>
              <a:rPr lang="en-US" dirty="0"/>
              <a:t>18 / 30</a:t>
            </a:r>
          </a:p>
        </p:txBody>
      </p:sp>
      <p:sp>
        <p:nvSpPr>
          <p:cNvPr id="25" name="Shape 22"/>
          <p:cNvSpPr/>
          <p:nvPr/>
        </p:nvSpPr>
        <p:spPr>
          <a:xfrm>
            <a:off x="457200" y="3977640"/>
            <a:ext cx="8229600" cy="548640"/>
          </a:xfrm>
          <a:prstGeom prst="roundRect">
            <a:avLst>
              <a:gd name="adj" fmla="val 10000"/>
            </a:avLst>
          </a:prstGeom>
          <a:solidFill>
            <a:srgbClr val="075056"/>
          </a:solidFill>
          <a:ln/>
        </p:spPr>
        <p:txBody>
          <a:bodyPr/>
          <a:lstStyle/>
          <a:p>
            <a:endParaRPr lang="en-US"/>
          </a:p>
        </p:txBody>
      </p:sp>
      <p:sp>
        <p:nvSpPr>
          <p:cNvPr id="26" name="Text 23"/>
          <p:cNvSpPr/>
          <p:nvPr/>
        </p:nvSpPr>
        <p:spPr>
          <a:xfrm>
            <a:off x="640080" y="3977640"/>
            <a:ext cx="7863840" cy="548640"/>
          </a:xfrm>
          <a:prstGeom prst="rect">
            <a:avLst/>
          </a:prstGeom>
          <a:noFill/>
          <a:ln/>
        </p:spPr>
        <p:txBody>
          <a:bodyPr wrap="square" rtlCol="0" anchor="ctr"/>
          <a:lstStyle/>
          <a:p>
            <a:pPr marL="0" indent="0">
              <a:buNone/>
            </a:pPr>
            <a:endParaRPr lang="en-US" sz="1600"/>
            <a:r>
              <a:rPr lang="en-US" dirty="0"/>
              <a:t>My total:  114 / 150      Clear = 70+     (I demonstrated 5 of 5 topics)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Reflection &amp; Key Takeaway</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1097280"/>
            <a:ext cx="822960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Complete these sentences</a:t>
            </a:r>
            <a:endParaRPr lang="en-US" sz="1200"/>
          </a:p>
        </p:txBody>
      </p:sp>
      <p:sp>
        <p:nvSpPr>
          <p:cNvPr id="5" name="Shape 2"/>
          <p:cNvSpPr/>
          <p:nvPr/>
        </p:nvSpPr>
        <p:spPr>
          <a:xfrm>
            <a:off x="457200" y="1371600"/>
            <a:ext cx="822960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6" name="Text 3"/>
          <p:cNvSpPr/>
          <p:nvPr/>
        </p:nvSpPr>
        <p:spPr>
          <a:xfrm>
            <a:off x="566928" y="1371600"/>
            <a:ext cx="8010144" cy="457200"/>
          </a:xfrm>
          <a:prstGeom prst="rect">
            <a:avLst/>
          </a:prstGeom>
          <a:noFill/>
          <a:ln/>
        </p:spPr>
        <p:txBody>
          <a:bodyPr wrap="square" rtlCol="0" anchor="ctr"/>
          <a:lstStyle/>
          <a:p>
            <a:pPr marL="0" indent="0" algn="l">
              <a:buNone/>
            </a:pPr>
            <a:r>
              <a:rPr lang="en-US" sz="1100" i="1">
                <a:solidFill>
                  <a:srgbClr val="5A6B72"/>
                </a:solidFill>
                <a:latin typeface="Calibri" pitchFamily="34" charset="0"/>
                <a:ea typeface="Calibri" pitchFamily="34" charset="-122"/>
                <a:cs typeface="Calibri" pitchFamily="34" charset="-120"/>
              </a:rPr>
              <a:t>"Before this program, I thought AI was …"</a:t>
            </a:r>
            <a:endParaRPr lang="en-US" sz="1100"/>
          </a:p>
        </p:txBody>
      </p:sp>
      <p:sp>
        <p:nvSpPr>
          <p:cNvPr id="7" name="Shape 4"/>
          <p:cNvSpPr/>
          <p:nvPr/>
        </p:nvSpPr>
        <p:spPr>
          <a:xfrm>
            <a:off x="457200" y="1920240"/>
            <a:ext cx="822960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8" name="Text 5"/>
          <p:cNvSpPr/>
          <p:nvPr/>
        </p:nvSpPr>
        <p:spPr>
          <a:xfrm>
            <a:off x="566928" y="1920240"/>
            <a:ext cx="8010144" cy="457200"/>
          </a:xfrm>
          <a:prstGeom prst="rect">
            <a:avLst/>
          </a:prstGeom>
          <a:noFill/>
          <a:ln/>
        </p:spPr>
        <p:txBody>
          <a:bodyPr wrap="square" rtlCol="0" anchor="ctr"/>
          <a:lstStyle/>
          <a:p>
            <a:pPr marL="0" indent="0" algn="l">
              <a:buNone/>
            </a:pPr>
            <a:endParaRPr lang="en-US" sz="1100"/>
            <a:r>
              <a:rPr lang="en-US" dirty="0"/>
              <a:t>"Before this program, I thought AI was a code autocomplete tool — useful for boilerplate but too unreliable for autonomous end-to-end workflows."</a:t>
            </a:r>
          </a:p>
        </p:txBody>
      </p:sp>
      <p:sp>
        <p:nvSpPr>
          <p:cNvPr id="9" name="Text 6"/>
          <p:cNvSpPr/>
          <p:nvPr/>
        </p:nvSpPr>
        <p:spPr>
          <a:xfrm>
            <a:off x="457200" y="2606040"/>
            <a:ext cx="822960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My biggest learning</a:t>
            </a:r>
            <a:endParaRPr lang="en-US" sz="1200"/>
          </a:p>
        </p:txBody>
      </p:sp>
      <p:sp>
        <p:nvSpPr>
          <p:cNvPr id="10" name="Shape 7"/>
          <p:cNvSpPr/>
          <p:nvPr/>
        </p:nvSpPr>
        <p:spPr>
          <a:xfrm>
            <a:off x="457200" y="2880360"/>
            <a:ext cx="822960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1" name="Text 8"/>
          <p:cNvSpPr/>
          <p:nvPr/>
        </p:nvSpPr>
        <p:spPr>
          <a:xfrm>
            <a:off x="566928" y="2880360"/>
            <a:ext cx="8010144" cy="457200"/>
          </a:xfrm>
          <a:prstGeom prst="rect">
            <a:avLst/>
          </a:prstGeom>
          <a:noFill/>
          <a:ln/>
        </p:spPr>
        <p:txBody>
          <a:bodyPr wrap="square" rtlCol="0" anchor="ctr"/>
          <a:lstStyle/>
          <a:p>
            <a:pPr marL="0" indent="0" algn="l">
              <a:buNone/>
            </a:pPr>
            <a:endParaRPr lang="en-US" sz="1100"/>
            <a:r>
              <a:rPr lang="en-US" dirty="0"/>
              <a:t>The most valuable skill is not prompting — it is designing the failure handling path. An agent that validates its own tool output and retries with the failure reason embedded is fundamentally different from one that trusts every response. That difference is where production readiness lives.</a:t>
            </a:r>
          </a:p>
        </p:txBody>
      </p:sp>
      <p:sp>
        <p:nvSpPr>
          <p:cNvPr id="12" name="Text 9"/>
          <p:cNvSpPr/>
          <p:nvPr/>
        </p:nvSpPr>
        <p:spPr>
          <a:xfrm>
            <a:off x="457200" y="3520440"/>
            <a:ext cx="402336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Confidence using AI at work</a:t>
            </a:r>
            <a:endParaRPr lang="en-US" sz="1200"/>
          </a:p>
        </p:txBody>
      </p:sp>
      <p:sp>
        <p:nvSpPr>
          <p:cNvPr id="13" name="Text 10"/>
          <p:cNvSpPr/>
          <p:nvPr/>
        </p:nvSpPr>
        <p:spPr>
          <a:xfrm>
            <a:off x="457200" y="3794760"/>
            <a:ext cx="4023360" cy="365760"/>
          </a:xfrm>
          <a:prstGeom prst="rect">
            <a:avLst/>
          </a:prstGeom>
          <a:noFill/>
          <a:ln/>
        </p:spPr>
        <p:txBody>
          <a:bodyPr wrap="square" rtlCol="0" anchor="ctr"/>
          <a:lstStyle/>
          <a:p>
            <a:pPr marL="0" indent="0">
              <a:buNone/>
            </a:pPr>
            <a:endParaRPr lang="en-US" sz="1300"/>
            <a:r>
              <a:rPr lang="en-US" dirty="0"/>
              <a:t>Before: 4 / 10        After: 8 / 10</a:t>
            </a:r>
          </a:p>
        </p:txBody>
      </p:sp>
      <p:sp>
        <p:nvSpPr>
          <p:cNvPr id="14" name="Text 11"/>
          <p:cNvSpPr/>
          <p:nvPr/>
        </p:nvSpPr>
        <p:spPr>
          <a:xfrm>
            <a:off x="4709160" y="3520440"/>
            <a:ext cx="397764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One tip for the next cohort</a:t>
            </a:r>
            <a:endParaRPr lang="en-US" sz="1200"/>
          </a:p>
        </p:txBody>
      </p:sp>
      <p:sp>
        <p:nvSpPr>
          <p:cNvPr id="15" name="Shape 12"/>
          <p:cNvSpPr/>
          <p:nvPr/>
        </p:nvSpPr>
        <p:spPr>
          <a:xfrm>
            <a:off x="4709160" y="3794760"/>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6" name="Text 13"/>
          <p:cNvSpPr/>
          <p:nvPr/>
        </p:nvSpPr>
        <p:spPr>
          <a:xfrm>
            <a:off x="4818888" y="3794760"/>
            <a:ext cx="3758184" cy="457200"/>
          </a:xfrm>
          <a:prstGeom prst="rect">
            <a:avLst/>
          </a:prstGeom>
          <a:noFill/>
          <a:ln/>
        </p:spPr>
        <p:txBody>
          <a:bodyPr wrap="square" rtlCol="0" anchor="ctr"/>
          <a:lstStyle/>
          <a:p>
            <a:pPr marL="0" indent="0" algn="l">
              <a:buNone/>
            </a:pPr>
            <a:endParaRPr lang="en-US" sz="1100"/>
            <a:r>
              <a:rPr lang="en-US" dirty="0"/>
              <a:t>Give the agent a live DOM to work with (MCP Playwright), not just a static spec. The gap between what the spec says and what the running app actually renders is where most bugs hide — and only a live-browser agent can close that gap.</a:t>
            </a:r>
          </a:p>
        </p:txBody>
      </p:sp>
      <p:sp>
        <p:nvSpPr>
          <p:cNvPr id="17" name="Text 14"/>
          <p:cNvSpPr/>
          <p:nvPr/>
        </p:nvSpPr>
        <p:spPr>
          <a:xfrm>
            <a:off x="457200" y="4709160"/>
            <a:ext cx="8229600" cy="274320"/>
          </a:xfrm>
          <a:prstGeom prst="rect">
            <a:avLst/>
          </a:prstGeom>
          <a:noFill/>
          <a:ln/>
        </p:spPr>
        <p:txBody>
          <a:bodyPr wrap="square" rtlCol="0" anchor="ctr"/>
          <a:lstStyle/>
          <a:p>
            <a:pPr marL="0" indent="0">
              <a:buNone/>
            </a:pPr>
            <a:r>
              <a:rPr lang="en-US" sz="1000" i="1">
                <a:solidFill>
                  <a:srgbClr val="5A6B72"/>
                </a:solidFill>
                <a:latin typeface="Calibri" pitchFamily="34" charset="0"/>
                <a:ea typeface="Calibri" pitchFamily="34" charset="-122"/>
                <a:cs typeface="Calibri" pitchFamily="34" charset="-120"/>
              </a:rPr>
              <a:t>Thank you — Perficient Global AI First Academy</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75056"/>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548640"/>
          </a:xfrm>
          <a:prstGeom prst="rect">
            <a:avLst/>
          </a:prstGeom>
          <a:noFill/>
          <a:ln/>
        </p:spPr>
        <p:txBody>
          <a:bodyPr wrap="square" rtlCol="0" anchor="ctr"/>
          <a:lstStyle/>
          <a:p>
            <a:pPr marL="0" indent="0">
              <a:buNone/>
            </a:pPr>
            <a:r>
              <a:rPr lang="en-US" sz="2600" b="1">
                <a:solidFill>
                  <a:srgbClr val="FFFFFF"/>
                </a:solidFill>
                <a:latin typeface="Arial" pitchFamily="34" charset="0"/>
                <a:ea typeface="Arial" pitchFamily="34" charset="-122"/>
                <a:cs typeface="Arial" pitchFamily="34" charset="-120"/>
              </a:rPr>
              <a:t>Rubric Validation</a:t>
            </a:r>
            <a:endParaRPr lang="en-US" sz="2600"/>
          </a:p>
        </p:txBody>
      </p:sp>
      <p:sp>
        <p:nvSpPr>
          <p:cNvPr id="3" name="Text 1"/>
          <p:cNvSpPr/>
          <p:nvPr/>
        </p:nvSpPr>
        <p:spPr>
          <a:xfrm>
            <a:off x="457200" y="841248"/>
            <a:ext cx="7315200" cy="274320"/>
          </a:xfrm>
          <a:prstGeom prst="rect">
            <a:avLst/>
          </a:prstGeom>
          <a:noFill/>
          <a:ln/>
        </p:spPr>
        <p:txBody>
          <a:bodyPr wrap="square" rtlCol="0" anchor="ctr"/>
          <a:lstStyle/>
          <a:p>
            <a:pPr marL="0" indent="0">
              <a:buNone/>
            </a:pPr>
            <a:r>
              <a:rPr lang="en-US" sz="1300" i="1">
                <a:solidFill>
                  <a:srgbClr val="71D8C5"/>
                </a:solidFill>
                <a:latin typeface="Calibri" pitchFamily="34" charset="0"/>
                <a:ea typeface="Calibri" pitchFamily="34" charset="-122"/>
                <a:cs typeface="Calibri" pitchFamily="34" charset="-120"/>
              </a:rPr>
              <a:t>Validator use only</a:t>
            </a:r>
            <a:endParaRPr lang="en-US" sz="1300"/>
          </a:p>
        </p:txBody>
      </p:sp>
      <p:pic>
        <p:nvPicPr>
          <p:cNvPr id="4" name="Image 0" descr="preencoded.png"/>
          <p:cNvPicPr>
            <a:picLocks noChangeAspect="1"/>
          </p:cNvPicPr>
          <p:nvPr/>
        </p:nvPicPr>
        <p:blipFill>
          <a:blip r:embed="rId3"/>
          <a:stretch>
            <a:fillRect/>
          </a:stretch>
        </p:blipFill>
        <p:spPr>
          <a:xfrm>
            <a:off x="7635240" y="365760"/>
            <a:ext cx="1097280" cy="252618"/>
          </a:xfrm>
          <a:prstGeom prst="rect">
            <a:avLst/>
          </a:prstGeom>
        </p:spPr>
      </p:pic>
      <p:sp>
        <p:nvSpPr>
          <p:cNvPr id="5" name="Text 2"/>
          <p:cNvSpPr/>
          <p:nvPr/>
        </p:nvSpPr>
        <p:spPr>
          <a:xfrm>
            <a:off x="457200" y="13258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1.  Spec-Driven Development</a:t>
            </a:r>
            <a:endParaRPr lang="en-US" sz="1250"/>
          </a:p>
        </p:txBody>
      </p:sp>
      <p:sp>
        <p:nvSpPr>
          <p:cNvPr id="6" name="Shape 3"/>
          <p:cNvSpPr/>
          <p:nvPr/>
        </p:nvSpPr>
        <p:spPr>
          <a:xfrm>
            <a:off x="7543800" y="1325880"/>
            <a:ext cx="1143000" cy="384048"/>
          </a:xfrm>
          <a:prstGeom prst="roundRect">
            <a:avLst>
              <a:gd name="adj" fmla="val 9524"/>
            </a:avLst>
          </a:prstGeom>
          <a:solidFill>
            <a:srgbClr val="FFFFFF"/>
          </a:solidFill>
          <a:ln/>
        </p:spPr>
        <p:txBody>
          <a:bodyPr/>
          <a:lstStyle/>
          <a:p>
            <a:endParaRPr lang="en-US"/>
          </a:p>
        </p:txBody>
      </p:sp>
      <p:sp>
        <p:nvSpPr>
          <p:cNvPr id="7" name="Text 4"/>
          <p:cNvSpPr/>
          <p:nvPr/>
        </p:nvSpPr>
        <p:spPr>
          <a:xfrm>
            <a:off x="7543800" y="13258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8" name="Text 5"/>
          <p:cNvSpPr/>
          <p:nvPr/>
        </p:nvSpPr>
        <p:spPr>
          <a:xfrm>
            <a:off x="457200" y="17830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2.  AI-Powered Development</a:t>
            </a:r>
            <a:endParaRPr lang="en-US" sz="1250"/>
          </a:p>
        </p:txBody>
      </p:sp>
      <p:sp>
        <p:nvSpPr>
          <p:cNvPr id="9" name="Shape 6"/>
          <p:cNvSpPr/>
          <p:nvPr/>
        </p:nvSpPr>
        <p:spPr>
          <a:xfrm>
            <a:off x="7543800" y="1783080"/>
            <a:ext cx="1143000" cy="384048"/>
          </a:xfrm>
          <a:prstGeom prst="roundRect">
            <a:avLst>
              <a:gd name="adj" fmla="val 9524"/>
            </a:avLst>
          </a:prstGeom>
          <a:solidFill>
            <a:srgbClr val="FFFFFF"/>
          </a:solidFill>
          <a:ln/>
        </p:spPr>
        <p:txBody>
          <a:bodyPr/>
          <a:lstStyle/>
          <a:p>
            <a:endParaRPr lang="en-US"/>
          </a:p>
        </p:txBody>
      </p:sp>
      <p:sp>
        <p:nvSpPr>
          <p:cNvPr id="10" name="Text 7"/>
          <p:cNvSpPr/>
          <p:nvPr/>
        </p:nvSpPr>
        <p:spPr>
          <a:xfrm>
            <a:off x="7543800" y="17830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11" name="Text 8"/>
          <p:cNvSpPr/>
          <p:nvPr/>
        </p:nvSpPr>
        <p:spPr>
          <a:xfrm>
            <a:off x="457200" y="22402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3.  LLM Evaluation &amp; Interpretability</a:t>
            </a:r>
            <a:endParaRPr lang="en-US" sz="1250"/>
          </a:p>
        </p:txBody>
      </p:sp>
      <p:sp>
        <p:nvSpPr>
          <p:cNvPr id="12" name="Shape 9"/>
          <p:cNvSpPr/>
          <p:nvPr/>
        </p:nvSpPr>
        <p:spPr>
          <a:xfrm>
            <a:off x="7543800" y="2240280"/>
            <a:ext cx="1143000" cy="384048"/>
          </a:xfrm>
          <a:prstGeom prst="roundRect">
            <a:avLst>
              <a:gd name="adj" fmla="val 9524"/>
            </a:avLst>
          </a:prstGeom>
          <a:solidFill>
            <a:srgbClr val="FFFFFF"/>
          </a:solidFill>
          <a:ln/>
        </p:spPr>
        <p:txBody>
          <a:bodyPr/>
          <a:lstStyle/>
          <a:p>
            <a:endParaRPr lang="en-US"/>
          </a:p>
        </p:txBody>
      </p:sp>
      <p:sp>
        <p:nvSpPr>
          <p:cNvPr id="13" name="Text 10"/>
          <p:cNvSpPr/>
          <p:nvPr/>
        </p:nvSpPr>
        <p:spPr>
          <a:xfrm>
            <a:off x="7543800" y="22402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14" name="Text 11"/>
          <p:cNvSpPr/>
          <p:nvPr/>
        </p:nvSpPr>
        <p:spPr>
          <a:xfrm>
            <a:off x="457200" y="26974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4.  Agent Design, Orchestration &amp; Ops</a:t>
            </a:r>
            <a:endParaRPr lang="en-US" sz="1250"/>
          </a:p>
        </p:txBody>
      </p:sp>
      <p:sp>
        <p:nvSpPr>
          <p:cNvPr id="15" name="Shape 12"/>
          <p:cNvSpPr/>
          <p:nvPr/>
        </p:nvSpPr>
        <p:spPr>
          <a:xfrm>
            <a:off x="7543800" y="2697480"/>
            <a:ext cx="1143000" cy="384048"/>
          </a:xfrm>
          <a:prstGeom prst="roundRect">
            <a:avLst>
              <a:gd name="adj" fmla="val 9524"/>
            </a:avLst>
          </a:prstGeom>
          <a:solidFill>
            <a:srgbClr val="FFFFFF"/>
          </a:solidFill>
          <a:ln/>
        </p:spPr>
        <p:txBody>
          <a:bodyPr/>
          <a:lstStyle/>
          <a:p>
            <a:endParaRPr lang="en-US"/>
          </a:p>
        </p:txBody>
      </p:sp>
      <p:sp>
        <p:nvSpPr>
          <p:cNvPr id="16" name="Text 13"/>
          <p:cNvSpPr/>
          <p:nvPr/>
        </p:nvSpPr>
        <p:spPr>
          <a:xfrm>
            <a:off x="7543800" y="26974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17" name="Text 14"/>
          <p:cNvSpPr/>
          <p:nvPr/>
        </p:nvSpPr>
        <p:spPr>
          <a:xfrm>
            <a:off x="457200" y="31546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5.  AI Tool Integration &amp; Extensibility</a:t>
            </a:r>
            <a:endParaRPr lang="en-US" sz="1250"/>
          </a:p>
        </p:txBody>
      </p:sp>
      <p:sp>
        <p:nvSpPr>
          <p:cNvPr id="18" name="Shape 15"/>
          <p:cNvSpPr/>
          <p:nvPr/>
        </p:nvSpPr>
        <p:spPr>
          <a:xfrm>
            <a:off x="7543800" y="3154680"/>
            <a:ext cx="1143000" cy="384048"/>
          </a:xfrm>
          <a:prstGeom prst="roundRect">
            <a:avLst>
              <a:gd name="adj" fmla="val 9524"/>
            </a:avLst>
          </a:prstGeom>
          <a:solidFill>
            <a:srgbClr val="FFFFFF"/>
          </a:solidFill>
          <a:ln/>
        </p:spPr>
        <p:txBody>
          <a:bodyPr/>
          <a:lstStyle/>
          <a:p>
            <a:endParaRPr lang="en-US"/>
          </a:p>
        </p:txBody>
      </p:sp>
      <p:sp>
        <p:nvSpPr>
          <p:cNvPr id="19" name="Text 16"/>
          <p:cNvSpPr/>
          <p:nvPr/>
        </p:nvSpPr>
        <p:spPr>
          <a:xfrm>
            <a:off x="7543800" y="31546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20" name="Text 17"/>
          <p:cNvSpPr/>
          <p:nvPr/>
        </p:nvSpPr>
        <p:spPr>
          <a:xfrm>
            <a:off x="457200" y="3630168"/>
            <a:ext cx="5486400" cy="365760"/>
          </a:xfrm>
          <a:prstGeom prst="rect">
            <a:avLst/>
          </a:prstGeom>
          <a:noFill/>
          <a:ln/>
        </p:spPr>
        <p:txBody>
          <a:bodyPr wrap="square" rtlCol="0" anchor="ctr"/>
          <a:lstStyle/>
          <a:p>
            <a:pPr marL="0" indent="0">
              <a:buNone/>
            </a:pPr>
            <a:r>
              <a:rPr lang="en-US" sz="1500" b="1">
                <a:solidFill>
                  <a:srgbClr val="FFFFFF"/>
                </a:solidFill>
                <a:latin typeface="Arial" pitchFamily="34" charset="0"/>
                <a:ea typeface="Arial" pitchFamily="34" charset="-122"/>
                <a:cs typeface="Arial" pitchFamily="34" charset="-120"/>
              </a:rPr>
              <a:t>Validated total:  ____ / 150</a:t>
            </a:r>
            <a:r>
              <a:rPr lang="en-US" sz="1200">
                <a:solidFill>
                  <a:srgbClr val="71D8C5"/>
                </a:solidFill>
                <a:latin typeface="Arial" pitchFamily="34" charset="0"/>
                <a:ea typeface="Arial" pitchFamily="34" charset="-122"/>
                <a:cs typeface="Arial" pitchFamily="34" charset="-120"/>
              </a:rPr>
              <a:t>     Clear = 70+</a:t>
            </a:r>
            <a:endParaRPr lang="en-US" sz="1500"/>
          </a:p>
        </p:txBody>
      </p:sp>
      <p:sp>
        <p:nvSpPr>
          <p:cNvPr id="21" name="Shape 18"/>
          <p:cNvSpPr/>
          <p:nvPr/>
        </p:nvSpPr>
        <p:spPr>
          <a:xfrm>
            <a:off x="457200" y="4114800"/>
            <a:ext cx="2651760" cy="457200"/>
          </a:xfrm>
          <a:prstGeom prst="roundRect">
            <a:avLst>
              <a:gd name="adj" fmla="val 16000"/>
            </a:avLst>
          </a:prstGeom>
          <a:solidFill>
            <a:srgbClr val="FFFFFF"/>
          </a:solidFill>
          <a:ln w="25400">
            <a:solidFill>
              <a:srgbClr val="075056"/>
            </a:solidFill>
            <a:prstDash val="solid"/>
          </a:ln>
        </p:spPr>
        <p:txBody>
          <a:bodyPr/>
          <a:lstStyle/>
          <a:p>
            <a:endParaRPr lang="en-US"/>
          </a:p>
        </p:txBody>
      </p:sp>
      <p:sp>
        <p:nvSpPr>
          <p:cNvPr id="22" name="Text 19"/>
          <p:cNvSpPr/>
          <p:nvPr/>
        </p:nvSpPr>
        <p:spPr>
          <a:xfrm>
            <a:off x="457200" y="4114800"/>
            <a:ext cx="2651760" cy="457200"/>
          </a:xfrm>
          <a:prstGeom prst="rect">
            <a:avLst/>
          </a:prstGeom>
          <a:noFill/>
          <a:ln/>
        </p:spPr>
        <p:txBody>
          <a:bodyPr wrap="square" rtlCol="0" anchor="ctr"/>
          <a:lstStyle/>
          <a:p>
            <a:pPr marL="0" indent="0" algn="ctr">
              <a:buNone/>
            </a:pPr>
            <a:r>
              <a:rPr lang="en-US" sz="1200" b="1">
                <a:solidFill>
                  <a:srgbClr val="075056"/>
                </a:solidFill>
                <a:latin typeface="Arial" pitchFamily="34" charset="0"/>
                <a:ea typeface="Arial" pitchFamily="34" charset="-122"/>
                <a:cs typeface="Arial" pitchFamily="34" charset="-120"/>
              </a:rPr>
              <a:t>☐  Yes, Agree — certify</a:t>
            </a:r>
            <a:endParaRPr lang="en-US" sz="1200"/>
          </a:p>
        </p:txBody>
      </p:sp>
      <p:sp>
        <p:nvSpPr>
          <p:cNvPr id="23" name="Shape 20"/>
          <p:cNvSpPr/>
          <p:nvPr/>
        </p:nvSpPr>
        <p:spPr>
          <a:xfrm>
            <a:off x="3291840" y="4114800"/>
            <a:ext cx="2651760" cy="457200"/>
          </a:xfrm>
          <a:prstGeom prst="roundRect">
            <a:avLst>
              <a:gd name="adj" fmla="val 16000"/>
            </a:avLst>
          </a:prstGeom>
          <a:solidFill>
            <a:srgbClr val="FFFFFF"/>
          </a:solidFill>
          <a:ln w="25400">
            <a:solidFill>
              <a:srgbClr val="FE3A39"/>
            </a:solidFill>
            <a:prstDash val="solid"/>
          </a:ln>
        </p:spPr>
        <p:txBody>
          <a:bodyPr/>
          <a:lstStyle/>
          <a:p>
            <a:endParaRPr lang="en-US"/>
          </a:p>
        </p:txBody>
      </p:sp>
      <p:sp>
        <p:nvSpPr>
          <p:cNvPr id="24" name="Text 21"/>
          <p:cNvSpPr/>
          <p:nvPr/>
        </p:nvSpPr>
        <p:spPr>
          <a:xfrm>
            <a:off x="3291840" y="4114800"/>
            <a:ext cx="2651760" cy="457200"/>
          </a:xfrm>
          <a:prstGeom prst="rect">
            <a:avLst/>
          </a:prstGeom>
          <a:noFill/>
          <a:ln/>
        </p:spPr>
        <p:txBody>
          <a:bodyPr wrap="square" rtlCol="0" anchor="ctr"/>
          <a:lstStyle/>
          <a:p>
            <a:pPr marL="0" indent="0" algn="ctr">
              <a:buNone/>
            </a:pPr>
            <a:r>
              <a:rPr lang="en-US" sz="1200" b="1">
                <a:solidFill>
                  <a:srgbClr val="FE3A39"/>
                </a:solidFill>
                <a:latin typeface="Arial" pitchFamily="34" charset="0"/>
                <a:ea typeface="Arial" pitchFamily="34" charset="-122"/>
                <a:cs typeface="Arial" pitchFamily="34" charset="-120"/>
              </a:rPr>
              <a:t>☐  No, Do not certify</a:t>
            </a:r>
            <a:endParaRPr lang="en-US" sz="1200"/>
          </a:p>
        </p:txBody>
      </p:sp>
      <p:sp>
        <p:nvSpPr>
          <p:cNvPr id="25" name="Text 22"/>
          <p:cNvSpPr/>
          <p:nvPr/>
        </p:nvSpPr>
        <p:spPr>
          <a:xfrm>
            <a:off x="6126480" y="4178808"/>
            <a:ext cx="3017520" cy="365760"/>
          </a:xfrm>
          <a:prstGeom prst="rect">
            <a:avLst/>
          </a:prstGeom>
          <a:noFill/>
          <a:ln/>
        </p:spPr>
        <p:txBody>
          <a:bodyPr wrap="square" rtlCol="0" anchor="ctr"/>
          <a:lstStyle/>
          <a:p>
            <a:pPr marL="0" indent="0">
              <a:buNone/>
            </a:pPr>
            <a:r>
              <a:rPr lang="en-US" sz="1050" b="1">
                <a:solidFill>
                  <a:srgbClr val="FFFFFF"/>
                </a:solidFill>
                <a:latin typeface="Calibri" pitchFamily="34" charset="0"/>
                <a:ea typeface="Calibri" pitchFamily="34" charset="-122"/>
                <a:cs typeface="Calibri" pitchFamily="34" charset="-120"/>
              </a:rPr>
              <a:t>Validator signature: </a:t>
            </a:r>
            <a:r>
              <a:rPr lang="en-US" sz="1050">
                <a:solidFill>
                  <a:srgbClr val="FFFFFF"/>
                </a:solidFill>
                <a:latin typeface="Calibri" pitchFamily="34" charset="0"/>
                <a:ea typeface="Calibri" pitchFamily="34" charset="-122"/>
                <a:cs typeface="Calibri" pitchFamily="34" charset="-120"/>
              </a:rPr>
              <a:t>__________________     </a:t>
            </a:r>
            <a:r>
              <a:rPr lang="en-US" sz="1050" b="1">
                <a:solidFill>
                  <a:srgbClr val="FFFFFF"/>
                </a:solidFill>
                <a:latin typeface="Calibri" pitchFamily="34" charset="0"/>
                <a:ea typeface="Calibri" pitchFamily="34" charset="-122"/>
                <a:cs typeface="Calibri" pitchFamily="34" charset="-120"/>
              </a:rPr>
              <a:t>Date: </a:t>
            </a:r>
            <a:r>
              <a:rPr lang="en-US" sz="1050">
                <a:solidFill>
                  <a:srgbClr val="FFFFFF"/>
                </a:solidFill>
                <a:latin typeface="Calibri" pitchFamily="34" charset="0"/>
                <a:ea typeface="Calibri" pitchFamily="34" charset="-122"/>
                <a:cs typeface="Calibri" pitchFamily="34" charset="-120"/>
              </a:rPr>
              <a:t>________</a:t>
            </a:r>
            <a:endParaRPr lang="en-US" sz="1050"/>
          </a:p>
        </p:txBody>
      </p:sp>
      <p:sp>
        <p:nvSpPr>
          <p:cNvPr id="26" name="Text 23"/>
          <p:cNvSpPr/>
          <p:nvPr/>
        </p:nvSpPr>
        <p:spPr>
          <a:xfrm>
            <a:off x="457200" y="4754880"/>
            <a:ext cx="8229600" cy="274320"/>
          </a:xfrm>
          <a:prstGeom prst="rect">
            <a:avLst/>
          </a:prstGeom>
          <a:noFill/>
          <a:ln/>
        </p:spPr>
        <p:txBody>
          <a:bodyPr wrap="square" rtlCol="0" anchor="ctr"/>
          <a:lstStyle/>
          <a:p>
            <a:pPr marL="0" indent="0">
              <a:buNone/>
            </a:pPr>
            <a:r>
              <a:rPr lang="en-US" sz="950" i="1">
                <a:solidFill>
                  <a:srgbClr val="71D8C5"/>
                </a:solidFill>
                <a:latin typeface="Calibri" pitchFamily="34" charset="0"/>
                <a:ea typeface="Calibri" pitchFamily="34" charset="-122"/>
                <a:cs typeface="Calibri" pitchFamily="34" charset="-120"/>
              </a:rPr>
              <a:t>Certification is issued only on "Yes, Agree". A score ≥ 70 is a recommendation, not automatic certification.</a:t>
            </a:r>
            <a:endParaRPr lang="en-US" sz="9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8BDE5FBDD49645B4C97074EE65F842" ma:contentTypeVersion="12" ma:contentTypeDescription="Create a new document." ma:contentTypeScope="" ma:versionID="5312b329c996433ceb2b53c55abbd94c">
  <xsd:schema xmlns:xsd="http://www.w3.org/2001/XMLSchema" xmlns:xs="http://www.w3.org/2001/XMLSchema" xmlns:p="http://schemas.microsoft.com/office/2006/metadata/properties" xmlns:ns2="726f94d6-fa4c-4578-9923-387e8e08487a" xmlns:ns3="7a392144-d9c7-4700-81e3-5d9ccc7560d2" targetNamespace="http://schemas.microsoft.com/office/2006/metadata/properties" ma:root="true" ma:fieldsID="4c00a87271a249586203d6baa24a7578" ns2:_="" ns3:_="">
    <xsd:import namespace="726f94d6-fa4c-4578-9923-387e8e08487a"/>
    <xsd:import namespace="7a392144-d9c7-4700-81e3-5d9ccc7560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echa_x002f_hor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6f94d6-fa4c-4578-9923-387e8e0848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98e266-1b5a-423d-aa71-fcb68a1b755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Fecha_x002f_hora" ma:index="19" nillable="true" ma:displayName="Fecha/hora" ma:format="DateTime" ma:internalName="Fecha_x002f_hora">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7a392144-d9c7-4700-81e3-5d9ccc7560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a24c2efa-4133-4b24-8c74-08d4563e1292}" ma:internalName="TaxCatchAll" ma:showField="CatchAllData" ma:web="7a392144-d9c7-4700-81e3-5d9ccc7560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26f94d6-fa4c-4578-9923-387e8e08487a">
      <Terms xmlns="http://schemas.microsoft.com/office/infopath/2007/PartnerControls"/>
    </lcf76f155ced4ddcb4097134ff3c332f>
    <TaxCatchAll xmlns="7a392144-d9c7-4700-81e3-5d9ccc7560d2" xsi:nil="true"/>
    <Fecha_x002f_hora xmlns="726f94d6-fa4c-4578-9923-387e8e08487a" xsi:nil="true"/>
  </documentManagement>
</p:properties>
</file>

<file path=customXml/itemProps1.xml><?xml version="1.0" encoding="utf-8"?>
<ds:datastoreItem xmlns:ds="http://schemas.openxmlformats.org/officeDocument/2006/customXml" ds:itemID="{22674E81-17EB-43AD-A4DC-3DD0F2DF9E2A}">
  <ds:schemaRefs>
    <ds:schemaRef ds:uri="726f94d6-fa4c-4578-9923-387e8e08487a"/>
    <ds:schemaRef ds:uri="7a392144-d9c7-4700-81e3-5d9ccc7560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68DD810-7AED-43B6-BB17-F254283372F2}">
  <ds:schemaRefs>
    <ds:schemaRef ds:uri="http://schemas.microsoft.com/sharepoint/v3/contenttype/forms"/>
  </ds:schemaRefs>
</ds:datastoreItem>
</file>

<file path=customXml/itemProps3.xml><?xml version="1.0" encoding="utf-8"?>
<ds:datastoreItem xmlns:ds="http://schemas.openxmlformats.org/officeDocument/2006/customXml" ds:itemID="{6C7FDC5A-70C0-4588-82CA-E8B6F6B3A12D}">
  <ds:schemaRefs>
    <ds:schemaRef ds:uri="http://schemas.openxmlformats.org/package/2006/metadata/core-properties"/>
    <ds:schemaRef ds:uri="http://schemas.microsoft.com/office/2006/metadata/properties"/>
    <ds:schemaRef ds:uri="http://purl.org/dc/terms/"/>
    <ds:schemaRef ds:uri="http://purl.org/dc/dcmitype/"/>
    <ds:schemaRef ds:uri="http://purl.org/dc/elements/1.1/"/>
    <ds:schemaRef ds:uri="http://www.w3.org/XML/1998/namespace"/>
    <ds:schemaRef ds:uri="http://schemas.microsoft.com/office/2006/documentManagement/types"/>
    <ds:schemaRef ds:uri="http://schemas.microsoft.com/office/infopath/2007/PartnerControls"/>
    <ds:schemaRef ds:uri="7a392144-d9c7-4700-81e3-5d9ccc7560d2"/>
    <ds:schemaRef ds:uri="726f94d6-fa4c-4578-9923-387e8e08487a"/>
  </ds:schemaRefs>
</ds:datastoreItem>
</file>

<file path=docProps/app.xml><?xml version="1.0" encoding="utf-8"?>
<Properties xmlns="http://schemas.openxmlformats.org/officeDocument/2006/extended-properties" xmlns:vt="http://schemas.openxmlformats.org/officeDocument/2006/docPropsVTypes">
  <TotalTime>0</TotalTime>
  <Words>1185</Words>
  <Application>Microsoft Office PowerPoint</Application>
  <PresentationFormat>On-screen Show (16:9)</PresentationFormat>
  <Paragraphs>206</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Gonzalo Munoz</cp:lastModifiedBy>
  <cp:revision>2</cp:revision>
  <dcterms:created xsi:type="dcterms:W3CDTF">2026-07-11T21:26:25Z</dcterms:created>
  <dcterms:modified xsi:type="dcterms:W3CDTF">2026-08-14T16:34:54Z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0x010100178BDE5FBDD49645B4C97074EE65F842</vt:lpwstr>
  </property>
  <property fmtid="{D5CDD505-2E9C-101B-9397-08002B2CF9AE}" pid="3" name="MediaServiceImageTags">
    <vt:lpwstr/>
  </property>
</Properties>
</file>