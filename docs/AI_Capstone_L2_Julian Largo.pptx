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21"/>
  </p:notesMasterIdLst>
  <p:sldIdLst>
    <p:sldId id="256" r:id="rId5"/>
    <p:sldId id="257" r:id="rId6"/>
    <p:sldId id="258" r:id="rId7"/>
    <p:sldId id="259" r:id="rId8"/>
    <p:sldId id="260" r:id="rId9"/>
    <p:sldId id="269" r:id="rId10"/>
    <p:sldId id="262" r:id="rId11"/>
    <p:sldId id="263" r:id="rId12"/>
    <p:sldId id="264" r:id="rId13"/>
    <p:sldId id="270" r:id="rId14"/>
    <p:sldId id="271" r:id="rId15"/>
    <p:sldId id="272" r:id="rId16"/>
    <p:sldId id="265" r:id="rId17"/>
    <p:sldId id="266" r:id="rId18"/>
    <p:sldId id="268" r:id="rId19"/>
    <p:sldId id="267" r:id="rId20"/>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763900BE-E093-A2C5-E3C7-969F2E40EA55}" v="16" dt="2026-08-06T22:20:32.978"/>
    <p1510:client id="{F429A452-885F-DF8F-A9B2-74C2246A3D9F}" v="12" dt="2026-08-06T17:53:52.17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33" d="100"/>
          <a:sy n="133" d="100"/>
        </p:scale>
        <p:origin x="378" y="12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ableStyles" Target="tableStyle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heme" Target="theme/theme1.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viewProps" Target="viewProp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409537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WHITE">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5056"/>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457200" y="411480"/>
            <a:ext cx="1737360" cy="399979"/>
          </a:xfrm>
          <a:prstGeom prst="rect">
            <a:avLst/>
          </a:prstGeom>
        </p:spPr>
      </p:pic>
      <p:sp>
        <p:nvSpPr>
          <p:cNvPr id="3" name="Text 0"/>
          <p:cNvSpPr/>
          <p:nvPr/>
        </p:nvSpPr>
        <p:spPr>
          <a:xfrm>
            <a:off x="457200" y="1417320"/>
            <a:ext cx="8229600" cy="822960"/>
          </a:xfrm>
          <a:prstGeom prst="rect">
            <a:avLst/>
          </a:prstGeom>
          <a:noFill/>
          <a:ln/>
        </p:spPr>
        <p:txBody>
          <a:bodyPr wrap="square" rtlCol="0" anchor="ctr"/>
          <a:lstStyle/>
          <a:p>
            <a:pPr marL="0" indent="0">
              <a:buNone/>
            </a:pPr>
            <a:r>
              <a:rPr lang="en-US" sz="4400" b="1" kern="0" spc="200" dirty="0">
                <a:solidFill>
                  <a:srgbClr val="FFFFFF"/>
                </a:solidFill>
                <a:latin typeface="Arial" pitchFamily="34" charset="0"/>
                <a:ea typeface="Arial" pitchFamily="34" charset="-122"/>
                <a:cs typeface="Arial" pitchFamily="34" charset="-120"/>
              </a:rPr>
              <a:t>CAPSTONE PROJECT</a:t>
            </a:r>
            <a:endParaRPr lang="en-US" sz="4400" dirty="0"/>
          </a:p>
        </p:txBody>
      </p:sp>
      <p:sp>
        <p:nvSpPr>
          <p:cNvPr id="4" name="Text 1"/>
          <p:cNvSpPr/>
          <p:nvPr/>
        </p:nvSpPr>
        <p:spPr>
          <a:xfrm>
            <a:off x="457200" y="2286000"/>
            <a:ext cx="8229600" cy="457200"/>
          </a:xfrm>
          <a:prstGeom prst="rect">
            <a:avLst/>
          </a:prstGeom>
          <a:noFill/>
          <a:ln/>
        </p:spPr>
        <p:txBody>
          <a:bodyPr wrap="square" rtlCol="0" anchor="ctr"/>
          <a:lstStyle/>
          <a:p>
            <a:pPr marL="0" indent="0">
              <a:buNone/>
            </a:pPr>
            <a:r>
              <a:rPr lang="en-US" sz="2200" b="1">
                <a:solidFill>
                  <a:srgbClr val="71D8C5"/>
                </a:solidFill>
                <a:latin typeface="Arial" pitchFamily="34" charset="0"/>
                <a:ea typeface="Arial" pitchFamily="34" charset="-122"/>
                <a:cs typeface="Arial" pitchFamily="34" charset="-120"/>
              </a:rPr>
              <a:t>L2 — Agentic SDLC</a:t>
            </a:r>
            <a:endParaRPr lang="en-US" sz="2200"/>
          </a:p>
        </p:txBody>
      </p:sp>
      <p:sp>
        <p:nvSpPr>
          <p:cNvPr id="5" name="Text 2"/>
          <p:cNvSpPr/>
          <p:nvPr/>
        </p:nvSpPr>
        <p:spPr>
          <a:xfrm>
            <a:off x="457200" y="2743200"/>
            <a:ext cx="8229600" cy="320040"/>
          </a:xfrm>
          <a:prstGeom prst="rect">
            <a:avLst/>
          </a:prstGeom>
          <a:noFill/>
          <a:ln/>
        </p:spPr>
        <p:txBody>
          <a:bodyPr wrap="square" lIns="91440" tIns="45720" rIns="91440" bIns="45720" rtlCol="0" anchor="ctr"/>
          <a:lstStyle/>
          <a:p>
            <a:pPr marL="0" indent="0">
              <a:buNone/>
            </a:pPr>
            <a:r>
              <a:rPr lang="en-US" dirty="0">
                <a:solidFill>
                  <a:schemeClr val="bg1"/>
                </a:solidFill>
              </a:rPr>
              <a:t>Submission Template - Option 4</a:t>
            </a:r>
          </a:p>
        </p:txBody>
      </p:sp>
      <p:sp>
        <p:nvSpPr>
          <p:cNvPr id="6" name="Shape 3"/>
          <p:cNvSpPr/>
          <p:nvPr/>
        </p:nvSpPr>
        <p:spPr>
          <a:xfrm>
            <a:off x="457200" y="3291840"/>
            <a:ext cx="3931920" cy="502920"/>
          </a:xfrm>
          <a:prstGeom prst="roundRect">
            <a:avLst>
              <a:gd name="adj" fmla="val 14545"/>
            </a:avLst>
          </a:prstGeom>
          <a:solidFill>
            <a:srgbClr val="FFFFFF"/>
          </a:solidFill>
          <a:ln w="19050">
            <a:solidFill>
              <a:srgbClr val="71D8C5"/>
            </a:solidFill>
            <a:prstDash val="solid"/>
          </a:ln>
        </p:spPr>
        <p:txBody>
          <a:bodyPr/>
          <a:lstStyle/>
          <a:p>
            <a:endParaRPr lang="en-US"/>
          </a:p>
        </p:txBody>
      </p:sp>
      <p:sp>
        <p:nvSpPr>
          <p:cNvPr id="7" name="Text 4"/>
          <p:cNvSpPr/>
          <p:nvPr/>
        </p:nvSpPr>
        <p:spPr>
          <a:xfrm>
            <a:off x="548640" y="3291840"/>
            <a:ext cx="3749040" cy="502920"/>
          </a:xfrm>
          <a:prstGeom prst="rect">
            <a:avLst/>
          </a:prstGeom>
          <a:noFill/>
          <a:ln/>
        </p:spPr>
        <p:txBody>
          <a:bodyPr wrap="square" lIns="91440" tIns="45720" rIns="91440" bIns="45720" rtlCol="0" anchor="ctr"/>
          <a:lstStyle/>
          <a:p>
            <a:pPr algn="ctr"/>
            <a:r>
              <a:rPr lang="en-US" dirty="0"/>
              <a:t>Option 4 - AI Case Study</a:t>
            </a:r>
          </a:p>
        </p:txBody>
      </p:sp>
      <p:sp>
        <p:nvSpPr>
          <p:cNvPr id="10" name="Text 7"/>
          <p:cNvSpPr/>
          <p:nvPr/>
        </p:nvSpPr>
        <p:spPr>
          <a:xfrm>
            <a:off x="457200" y="3840480"/>
            <a:ext cx="8229600" cy="274320"/>
          </a:xfrm>
          <a:prstGeom prst="rect">
            <a:avLst/>
          </a:prstGeom>
          <a:noFill/>
          <a:ln/>
        </p:spPr>
        <p:txBody>
          <a:bodyPr wrap="square" lIns="91440" tIns="45720" rIns="91440" bIns="45720" rtlCol="0" anchor="ctr"/>
          <a:lstStyle/>
          <a:p>
            <a:r>
              <a:rPr lang="en-US" sz="1000" i="1">
                <a:solidFill>
                  <a:srgbClr val="71D8C5"/>
                </a:solidFill>
                <a:latin typeface="Calibri"/>
                <a:ea typeface="Calibri"/>
                <a:cs typeface="Calibri"/>
              </a:rPr>
              <a:t>Keep the option you are submitting; delete the other.</a:t>
            </a:r>
            <a:endParaRPr lang="en-US" sz="1000">
              <a:solidFill>
                <a:srgbClr val="000000"/>
              </a:solidFill>
              <a:latin typeface="Calibri"/>
              <a:ea typeface="Calibri"/>
              <a:cs typeface="Calibri"/>
            </a:endParaRPr>
          </a:p>
        </p:txBody>
      </p:sp>
      <p:sp>
        <p:nvSpPr>
          <p:cNvPr id="11" name="Text 8"/>
          <p:cNvSpPr/>
          <p:nvPr/>
        </p:nvSpPr>
        <p:spPr>
          <a:xfrm>
            <a:off x="457200" y="4343400"/>
            <a:ext cx="8229600" cy="365760"/>
          </a:xfrm>
          <a:prstGeom prst="rect">
            <a:avLst/>
          </a:prstGeom>
          <a:noFill/>
          <a:ln/>
        </p:spPr>
        <p:txBody>
          <a:bodyPr wrap="square" lIns="91440" tIns="45720" rIns="91440" bIns="45720" rtlCol="0" anchor="ctr"/>
          <a:lstStyle/>
          <a:p>
            <a:r>
              <a:rPr lang="en-US" dirty="0">
                <a:solidFill>
                  <a:schemeClr val="bg1"/>
                </a:solidFill>
              </a:rPr>
              <a:t>Name: Julian Largo Ramirez     Date: 2026-08-14</a:t>
            </a:r>
          </a:p>
        </p:txBody>
      </p:sp>
      <p:sp>
        <p:nvSpPr>
          <p:cNvPr id="12" name="Text 9"/>
          <p:cNvSpPr/>
          <p:nvPr/>
        </p:nvSpPr>
        <p:spPr>
          <a:xfrm>
            <a:off x="457200" y="4709160"/>
            <a:ext cx="8229600" cy="274320"/>
          </a:xfrm>
          <a:prstGeom prst="rect">
            <a:avLst/>
          </a:prstGeom>
          <a:noFill/>
          <a:ln/>
        </p:spPr>
        <p:txBody>
          <a:bodyPr wrap="square" rtlCol="0" anchor="ctr"/>
          <a:lstStyle/>
          <a:p>
            <a:pPr marL="0" indent="0">
              <a:buNone/>
            </a:pPr>
            <a:r>
              <a:rPr lang="en-US" sz="1000">
                <a:solidFill>
                  <a:srgbClr val="71D8C5"/>
                </a:solidFill>
                <a:latin typeface="Calibri" pitchFamily="34" charset="0"/>
                <a:ea typeface="Calibri" pitchFamily="34" charset="-122"/>
                <a:cs typeface="Calibri" pitchFamily="34" charset="-120"/>
              </a:rPr>
              <a:t>Perficient Global AI First Academy</a:t>
            </a:r>
            <a:endParaRPr lang="en-US" sz="100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7498080" cy="548640"/>
          </a:xfrm>
          <a:prstGeom prst="rect">
            <a:avLst/>
          </a:prstGeom>
          <a:noFill/>
          <a:ln/>
        </p:spPr>
        <p:txBody>
          <a:bodyPr wrap="square" rtlCol="0" anchor="ctr"/>
          <a:lstStyle/>
          <a:p>
            <a:pPr marL="0" indent="0" algn="l">
              <a:buNone/>
            </a:pPr>
            <a:r>
              <a:rPr lang="en-US" sz="2600" b="1">
                <a:solidFill>
                  <a:srgbClr val="024879"/>
                </a:solidFill>
                <a:latin typeface="Arial" pitchFamily="34" charset="0"/>
                <a:ea typeface="Arial" pitchFamily="34" charset="-122"/>
                <a:cs typeface="Arial" pitchFamily="34" charset="-120"/>
              </a:rPr>
              <a:t>How to Use This Template</a:t>
            </a:r>
            <a:endParaRPr lang="en-US" sz="2600"/>
          </a:p>
        </p:txBody>
      </p:sp>
      <p:pic>
        <p:nvPicPr>
          <p:cNvPr id="3" name="Image 0" descr="preencoded.png"/>
          <p:cNvPicPr>
            <a:picLocks noChangeAspect="1"/>
          </p:cNvPicPr>
          <p:nvPr/>
        </p:nvPicPr>
        <p:blipFill>
          <a:blip r:embed="rId3"/>
          <a:stretch>
            <a:fillRect/>
          </a:stretch>
        </p:blipFill>
        <p:spPr>
          <a:xfrm>
            <a:off x="7818120" y="292608"/>
            <a:ext cx="914400" cy="274730"/>
          </a:xfrm>
          <a:prstGeom prst="rect">
            <a:avLst/>
          </a:prstGeom>
        </p:spPr>
      </p:pic>
      <p:sp>
        <p:nvSpPr>
          <p:cNvPr id="4" name="Shape 1"/>
          <p:cNvSpPr/>
          <p:nvPr/>
        </p:nvSpPr>
        <p:spPr>
          <a:xfrm>
            <a:off x="457200" y="1143000"/>
            <a:ext cx="310896" cy="310896"/>
          </a:xfrm>
          <a:prstGeom prst="ellipse">
            <a:avLst/>
          </a:prstGeom>
          <a:solidFill>
            <a:srgbClr val="075056"/>
          </a:solidFill>
          <a:ln/>
        </p:spPr>
        <p:txBody>
          <a:bodyPr/>
          <a:lstStyle/>
          <a:p>
            <a:endParaRPr lang="en-US"/>
          </a:p>
        </p:txBody>
      </p:sp>
      <p:sp>
        <p:nvSpPr>
          <p:cNvPr id="5" name="Text 2"/>
          <p:cNvSpPr/>
          <p:nvPr/>
        </p:nvSpPr>
        <p:spPr>
          <a:xfrm>
            <a:off x="457200" y="1143000"/>
            <a:ext cx="310896" cy="310896"/>
          </a:xfrm>
          <a:prstGeom prst="rect">
            <a:avLst/>
          </a:prstGeom>
          <a:noFill/>
          <a:ln/>
        </p:spPr>
        <p:txBody>
          <a:bodyPr wrap="square" rtlCol="0" anchor="ctr"/>
          <a:lstStyle/>
          <a:p>
            <a:pPr marL="0" indent="0" algn="ctr">
              <a:buNone/>
            </a:pPr>
            <a:r>
              <a:rPr lang="en-US" sz="1400" b="1">
                <a:solidFill>
                  <a:srgbClr val="FFFFFF"/>
                </a:solidFill>
                <a:latin typeface="Arial" pitchFamily="34" charset="0"/>
                <a:ea typeface="Arial" pitchFamily="34" charset="-122"/>
                <a:cs typeface="Arial" pitchFamily="34" charset="-120"/>
              </a:rPr>
              <a:t>1</a:t>
            </a:r>
            <a:endParaRPr lang="en-US" sz="1400"/>
          </a:p>
        </p:txBody>
      </p:sp>
      <p:sp>
        <p:nvSpPr>
          <p:cNvPr id="6" name="Text 3"/>
          <p:cNvSpPr/>
          <p:nvPr/>
        </p:nvSpPr>
        <p:spPr>
          <a:xfrm>
            <a:off x="914400" y="1097280"/>
            <a:ext cx="7680960" cy="457200"/>
          </a:xfrm>
          <a:prstGeom prst="rect">
            <a:avLst/>
          </a:prstGeom>
          <a:noFill/>
          <a:ln/>
        </p:spPr>
        <p:txBody>
          <a:bodyPr wrap="square" rtlCol="0" anchor="ctr"/>
          <a:lstStyle/>
          <a:p>
            <a:pPr marL="0" indent="0">
              <a:buNone/>
            </a:pPr>
            <a:r>
              <a:rPr lang="en-US" sz="1300" b="1">
                <a:solidFill>
                  <a:srgbClr val="024879"/>
                </a:solidFill>
                <a:latin typeface="Calibri" pitchFamily="34" charset="0"/>
                <a:ea typeface="Calibri" pitchFamily="34" charset="-122"/>
                <a:cs typeface="Calibri" pitchFamily="34" charset="-120"/>
              </a:rPr>
              <a:t>Pick your option  </a:t>
            </a:r>
            <a:r>
              <a:rPr lang="en-US" sz="1300">
                <a:solidFill>
                  <a:srgbClr val="1B2227"/>
                </a:solidFill>
                <a:latin typeface="Calibri" pitchFamily="34" charset="0"/>
                <a:ea typeface="Calibri" pitchFamily="34" charset="-122"/>
                <a:cs typeface="Calibri" pitchFamily="34" charset="-120"/>
              </a:rPr>
              <a:t>Keep Option 1 (client work) or Option 2 (platform contribution) or Option 4 (AI Case Study). Fill every slide; delete instruction notes.</a:t>
            </a:r>
            <a:endParaRPr lang="en-US" sz="1300"/>
          </a:p>
        </p:txBody>
      </p:sp>
      <p:sp>
        <p:nvSpPr>
          <p:cNvPr id="7" name="Shape 4"/>
          <p:cNvSpPr/>
          <p:nvPr/>
        </p:nvSpPr>
        <p:spPr>
          <a:xfrm>
            <a:off x="457200" y="1709928"/>
            <a:ext cx="310896" cy="310896"/>
          </a:xfrm>
          <a:prstGeom prst="ellipse">
            <a:avLst/>
          </a:prstGeom>
          <a:solidFill>
            <a:srgbClr val="075056"/>
          </a:solidFill>
          <a:ln/>
        </p:spPr>
        <p:txBody>
          <a:bodyPr/>
          <a:lstStyle/>
          <a:p>
            <a:endParaRPr lang="en-US"/>
          </a:p>
        </p:txBody>
      </p:sp>
      <p:sp>
        <p:nvSpPr>
          <p:cNvPr id="8" name="Text 5"/>
          <p:cNvSpPr/>
          <p:nvPr/>
        </p:nvSpPr>
        <p:spPr>
          <a:xfrm>
            <a:off x="457200" y="1709928"/>
            <a:ext cx="310896" cy="310896"/>
          </a:xfrm>
          <a:prstGeom prst="rect">
            <a:avLst/>
          </a:prstGeom>
          <a:noFill/>
          <a:ln/>
        </p:spPr>
        <p:txBody>
          <a:bodyPr wrap="square" rtlCol="0" anchor="ctr"/>
          <a:lstStyle/>
          <a:p>
            <a:pPr marL="0" indent="0" algn="ctr">
              <a:buNone/>
            </a:pPr>
            <a:r>
              <a:rPr lang="en-US" sz="1400" b="1">
                <a:solidFill>
                  <a:srgbClr val="FFFFFF"/>
                </a:solidFill>
                <a:latin typeface="Arial" pitchFamily="34" charset="0"/>
                <a:ea typeface="Arial" pitchFamily="34" charset="-122"/>
                <a:cs typeface="Arial" pitchFamily="34" charset="-120"/>
              </a:rPr>
              <a:t>2</a:t>
            </a:r>
            <a:endParaRPr lang="en-US" sz="1400"/>
          </a:p>
        </p:txBody>
      </p:sp>
      <p:sp>
        <p:nvSpPr>
          <p:cNvPr id="9" name="Text 6"/>
          <p:cNvSpPr/>
          <p:nvPr/>
        </p:nvSpPr>
        <p:spPr>
          <a:xfrm>
            <a:off x="914400" y="1664208"/>
            <a:ext cx="7680960" cy="457200"/>
          </a:xfrm>
          <a:prstGeom prst="rect">
            <a:avLst/>
          </a:prstGeom>
          <a:noFill/>
          <a:ln/>
        </p:spPr>
        <p:txBody>
          <a:bodyPr wrap="square" rtlCol="0" anchor="ctr"/>
          <a:lstStyle/>
          <a:p>
            <a:pPr marL="0" indent="0">
              <a:buNone/>
            </a:pPr>
            <a:r>
              <a:rPr lang="en-US" sz="1300" b="1">
                <a:solidFill>
                  <a:srgbClr val="024879"/>
                </a:solidFill>
                <a:latin typeface="Calibri" pitchFamily="34" charset="0"/>
                <a:ea typeface="Calibri" pitchFamily="34" charset="-122"/>
                <a:cs typeface="Calibri" pitchFamily="34" charset="-120"/>
              </a:rPr>
              <a:t>Show at least 3 of 5 competencies  </a:t>
            </a:r>
            <a:r>
              <a:rPr lang="en-US" sz="1300">
                <a:solidFill>
                  <a:srgbClr val="1B2227"/>
                </a:solidFill>
                <a:latin typeface="Calibri" pitchFamily="34" charset="0"/>
                <a:ea typeface="Calibri" pitchFamily="34" charset="-122"/>
                <a:cs typeface="Calibri" pitchFamily="34" charset="-120"/>
              </a:rPr>
              <a:t>The rubric has 5 topics. Demonstrate a minimum of 3 with real evidence.</a:t>
            </a:r>
            <a:endParaRPr lang="en-US" sz="1300"/>
          </a:p>
        </p:txBody>
      </p:sp>
      <p:sp>
        <p:nvSpPr>
          <p:cNvPr id="10" name="Shape 7"/>
          <p:cNvSpPr/>
          <p:nvPr/>
        </p:nvSpPr>
        <p:spPr>
          <a:xfrm>
            <a:off x="457200" y="2276856"/>
            <a:ext cx="310896" cy="310896"/>
          </a:xfrm>
          <a:prstGeom prst="ellipse">
            <a:avLst/>
          </a:prstGeom>
          <a:solidFill>
            <a:srgbClr val="075056"/>
          </a:solidFill>
          <a:ln/>
        </p:spPr>
        <p:txBody>
          <a:bodyPr/>
          <a:lstStyle/>
          <a:p>
            <a:endParaRPr lang="en-US"/>
          </a:p>
        </p:txBody>
      </p:sp>
      <p:sp>
        <p:nvSpPr>
          <p:cNvPr id="11" name="Text 8"/>
          <p:cNvSpPr/>
          <p:nvPr/>
        </p:nvSpPr>
        <p:spPr>
          <a:xfrm>
            <a:off x="457200" y="2276856"/>
            <a:ext cx="310896" cy="310896"/>
          </a:xfrm>
          <a:prstGeom prst="rect">
            <a:avLst/>
          </a:prstGeom>
          <a:noFill/>
          <a:ln/>
        </p:spPr>
        <p:txBody>
          <a:bodyPr wrap="square" rtlCol="0" anchor="ctr"/>
          <a:lstStyle/>
          <a:p>
            <a:pPr marL="0" indent="0" algn="ctr">
              <a:buNone/>
            </a:pPr>
            <a:r>
              <a:rPr lang="en-US" sz="1400" b="1">
                <a:solidFill>
                  <a:srgbClr val="FFFFFF"/>
                </a:solidFill>
                <a:latin typeface="Arial" pitchFamily="34" charset="0"/>
                <a:ea typeface="Arial" pitchFamily="34" charset="-122"/>
                <a:cs typeface="Arial" pitchFamily="34" charset="-120"/>
              </a:rPr>
              <a:t>3</a:t>
            </a:r>
            <a:endParaRPr lang="en-US" sz="1400"/>
          </a:p>
        </p:txBody>
      </p:sp>
      <p:sp>
        <p:nvSpPr>
          <p:cNvPr id="12" name="Text 9"/>
          <p:cNvSpPr/>
          <p:nvPr/>
        </p:nvSpPr>
        <p:spPr>
          <a:xfrm>
            <a:off x="914400" y="2231136"/>
            <a:ext cx="7680960" cy="457200"/>
          </a:xfrm>
          <a:prstGeom prst="rect">
            <a:avLst/>
          </a:prstGeom>
          <a:noFill/>
          <a:ln/>
        </p:spPr>
        <p:txBody>
          <a:bodyPr wrap="square" rtlCol="0" anchor="ctr"/>
          <a:lstStyle/>
          <a:p>
            <a:pPr marL="0" indent="0">
              <a:buNone/>
            </a:pPr>
            <a:r>
              <a:rPr lang="en-US" sz="1300" b="1">
                <a:solidFill>
                  <a:srgbClr val="024879"/>
                </a:solidFill>
                <a:latin typeface="Calibri" pitchFamily="34" charset="0"/>
                <a:ea typeface="Calibri" pitchFamily="34" charset="-122"/>
                <a:cs typeface="Calibri" pitchFamily="34" charset="-120"/>
              </a:rPr>
              <a:t>Capture impact &amp; reusability  </a:t>
            </a:r>
            <a:r>
              <a:rPr lang="en-US" sz="1300">
                <a:solidFill>
                  <a:srgbClr val="1B2227"/>
                </a:solidFill>
                <a:latin typeface="Calibri" pitchFamily="34" charset="0"/>
                <a:ea typeface="Calibri" pitchFamily="34" charset="-122"/>
                <a:cs typeface="Calibri" pitchFamily="34" charset="-120"/>
              </a:rPr>
              <a:t>Quantify before/after and show whether others can reuse your work.</a:t>
            </a:r>
            <a:endParaRPr lang="en-US" sz="1300"/>
          </a:p>
        </p:txBody>
      </p:sp>
      <p:sp>
        <p:nvSpPr>
          <p:cNvPr id="13" name="Shape 10"/>
          <p:cNvSpPr/>
          <p:nvPr/>
        </p:nvSpPr>
        <p:spPr>
          <a:xfrm>
            <a:off x="457200" y="2843784"/>
            <a:ext cx="310896" cy="310896"/>
          </a:xfrm>
          <a:prstGeom prst="ellipse">
            <a:avLst/>
          </a:prstGeom>
          <a:solidFill>
            <a:srgbClr val="024879"/>
          </a:solidFill>
          <a:ln/>
        </p:spPr>
        <p:txBody>
          <a:bodyPr/>
          <a:lstStyle/>
          <a:p>
            <a:endParaRPr lang="en-US"/>
          </a:p>
        </p:txBody>
      </p:sp>
      <p:sp>
        <p:nvSpPr>
          <p:cNvPr id="14" name="Text 11"/>
          <p:cNvSpPr/>
          <p:nvPr/>
        </p:nvSpPr>
        <p:spPr>
          <a:xfrm>
            <a:off x="457200" y="2843784"/>
            <a:ext cx="310896" cy="310896"/>
          </a:xfrm>
          <a:prstGeom prst="rect">
            <a:avLst/>
          </a:prstGeom>
          <a:noFill/>
          <a:ln/>
        </p:spPr>
        <p:txBody>
          <a:bodyPr wrap="square" rtlCol="0" anchor="ctr"/>
          <a:lstStyle/>
          <a:p>
            <a:pPr marL="0" indent="0" algn="ctr">
              <a:buNone/>
            </a:pPr>
            <a:r>
              <a:rPr lang="en-US" sz="1400" b="1">
                <a:solidFill>
                  <a:srgbClr val="FFFFFF"/>
                </a:solidFill>
                <a:latin typeface="Arial" pitchFamily="34" charset="0"/>
                <a:ea typeface="Arial" pitchFamily="34" charset="-122"/>
                <a:cs typeface="Arial" pitchFamily="34" charset="-120"/>
              </a:rPr>
              <a:t>4</a:t>
            </a:r>
            <a:endParaRPr lang="en-US" sz="1400"/>
          </a:p>
        </p:txBody>
      </p:sp>
      <p:sp>
        <p:nvSpPr>
          <p:cNvPr id="15" name="Text 12"/>
          <p:cNvSpPr/>
          <p:nvPr/>
        </p:nvSpPr>
        <p:spPr>
          <a:xfrm>
            <a:off x="914400" y="2798064"/>
            <a:ext cx="7680960" cy="457200"/>
          </a:xfrm>
          <a:prstGeom prst="rect">
            <a:avLst/>
          </a:prstGeom>
          <a:noFill/>
          <a:ln/>
        </p:spPr>
        <p:txBody>
          <a:bodyPr wrap="square" rtlCol="0" anchor="ctr"/>
          <a:lstStyle/>
          <a:p>
            <a:pPr marL="0" indent="0">
              <a:buNone/>
            </a:pPr>
            <a:r>
              <a:rPr lang="en-US" sz="1300" b="1">
                <a:solidFill>
                  <a:srgbClr val="024879"/>
                </a:solidFill>
                <a:latin typeface="Calibri" pitchFamily="34" charset="0"/>
                <a:ea typeface="Calibri" pitchFamily="34" charset="-122"/>
                <a:cs typeface="Calibri" pitchFamily="34" charset="-120"/>
              </a:rPr>
              <a:t>Self-rate honestly  </a:t>
            </a:r>
            <a:r>
              <a:rPr lang="en-US" sz="1300">
                <a:solidFill>
                  <a:srgbClr val="1B2227"/>
                </a:solidFill>
                <a:latin typeface="Calibri" pitchFamily="34" charset="0"/>
                <a:ea typeface="Calibri" pitchFamily="34" charset="-122"/>
                <a:cs typeface="Calibri" pitchFamily="34" charset="-120"/>
              </a:rPr>
              <a:t>Score each topic 0–30 on the Self-Rating slide. Attach evidence for every claim.</a:t>
            </a:r>
            <a:endParaRPr lang="en-US" sz="1300"/>
          </a:p>
        </p:txBody>
      </p:sp>
      <p:sp>
        <p:nvSpPr>
          <p:cNvPr id="16" name="Shape 13"/>
          <p:cNvSpPr/>
          <p:nvPr/>
        </p:nvSpPr>
        <p:spPr>
          <a:xfrm>
            <a:off x="457200" y="3410712"/>
            <a:ext cx="310896" cy="310896"/>
          </a:xfrm>
          <a:prstGeom prst="ellipse">
            <a:avLst/>
          </a:prstGeom>
          <a:solidFill>
            <a:srgbClr val="024879"/>
          </a:solidFill>
          <a:ln/>
        </p:spPr>
        <p:txBody>
          <a:bodyPr/>
          <a:lstStyle/>
          <a:p>
            <a:endParaRPr lang="en-US"/>
          </a:p>
        </p:txBody>
      </p:sp>
      <p:sp>
        <p:nvSpPr>
          <p:cNvPr id="17" name="Text 14"/>
          <p:cNvSpPr/>
          <p:nvPr/>
        </p:nvSpPr>
        <p:spPr>
          <a:xfrm>
            <a:off x="457200" y="3410712"/>
            <a:ext cx="310896" cy="310896"/>
          </a:xfrm>
          <a:prstGeom prst="rect">
            <a:avLst/>
          </a:prstGeom>
          <a:noFill/>
          <a:ln/>
        </p:spPr>
        <p:txBody>
          <a:bodyPr wrap="square" rtlCol="0" anchor="ctr"/>
          <a:lstStyle/>
          <a:p>
            <a:pPr marL="0" indent="0" algn="ctr">
              <a:buNone/>
            </a:pPr>
            <a:r>
              <a:rPr lang="en-US" sz="1400" b="1">
                <a:solidFill>
                  <a:srgbClr val="FFFFFF"/>
                </a:solidFill>
                <a:latin typeface="Arial" pitchFamily="34" charset="0"/>
                <a:ea typeface="Arial" pitchFamily="34" charset="-122"/>
                <a:cs typeface="Arial" pitchFamily="34" charset="-120"/>
              </a:rPr>
              <a:t>5</a:t>
            </a:r>
            <a:endParaRPr lang="en-US" sz="1400"/>
          </a:p>
        </p:txBody>
      </p:sp>
      <p:sp>
        <p:nvSpPr>
          <p:cNvPr id="18" name="Text 15"/>
          <p:cNvSpPr/>
          <p:nvPr/>
        </p:nvSpPr>
        <p:spPr>
          <a:xfrm>
            <a:off x="914400" y="3364992"/>
            <a:ext cx="7680960" cy="457200"/>
          </a:xfrm>
          <a:prstGeom prst="rect">
            <a:avLst/>
          </a:prstGeom>
          <a:noFill/>
          <a:ln/>
        </p:spPr>
        <p:txBody>
          <a:bodyPr wrap="square" rtlCol="0" anchor="ctr"/>
          <a:lstStyle/>
          <a:p>
            <a:pPr marL="0" indent="0">
              <a:buNone/>
            </a:pPr>
            <a:r>
              <a:rPr lang="en-US" sz="1300" b="1">
                <a:solidFill>
                  <a:srgbClr val="024879"/>
                </a:solidFill>
                <a:latin typeface="Calibri" pitchFamily="34" charset="0"/>
                <a:ea typeface="Calibri" pitchFamily="34" charset="-122"/>
                <a:cs typeface="Calibri" pitchFamily="34" charset="-120"/>
              </a:rPr>
              <a:t>Route to your validator  </a:t>
            </a:r>
            <a:r>
              <a:rPr lang="en-US" sz="1300">
                <a:solidFill>
                  <a:srgbClr val="1B2227"/>
                </a:solidFill>
                <a:latin typeface="Calibri" pitchFamily="34" charset="0"/>
                <a:ea typeface="Calibri" pitchFamily="34" charset="-122"/>
                <a:cs typeface="Calibri" pitchFamily="34" charset="-120"/>
              </a:rPr>
              <a:t>Your named validator scores and signs off: Agree or Do not certify.</a:t>
            </a:r>
            <a:endParaRPr lang="en-US" sz="1300"/>
          </a:p>
        </p:txBody>
      </p:sp>
      <p:sp>
        <p:nvSpPr>
          <p:cNvPr id="19" name="Shape 16"/>
          <p:cNvSpPr/>
          <p:nvPr/>
        </p:nvSpPr>
        <p:spPr>
          <a:xfrm>
            <a:off x="457200" y="4160520"/>
            <a:ext cx="8229600" cy="640080"/>
          </a:xfrm>
          <a:prstGeom prst="roundRect">
            <a:avLst>
              <a:gd name="adj" fmla="val 8571"/>
            </a:avLst>
          </a:prstGeom>
          <a:solidFill>
            <a:srgbClr val="075056"/>
          </a:solidFill>
          <a:ln/>
        </p:spPr>
        <p:txBody>
          <a:bodyPr/>
          <a:lstStyle/>
          <a:p>
            <a:endParaRPr lang="en-US"/>
          </a:p>
        </p:txBody>
      </p:sp>
      <p:sp>
        <p:nvSpPr>
          <p:cNvPr id="20" name="Text 17"/>
          <p:cNvSpPr/>
          <p:nvPr/>
        </p:nvSpPr>
        <p:spPr>
          <a:xfrm>
            <a:off x="640080" y="4160520"/>
            <a:ext cx="7863840" cy="640080"/>
          </a:xfrm>
          <a:prstGeom prst="rect">
            <a:avLst/>
          </a:prstGeom>
          <a:noFill/>
          <a:ln/>
        </p:spPr>
        <p:txBody>
          <a:bodyPr wrap="square" rtlCol="0" anchor="ctr"/>
          <a:lstStyle/>
          <a:p>
            <a:pPr marL="0" indent="0">
              <a:buNone/>
            </a:pPr>
            <a:r>
              <a:rPr lang="en-US" sz="1600" b="1">
                <a:solidFill>
                  <a:srgbClr val="FFFFFF"/>
                </a:solidFill>
                <a:latin typeface="Arial" pitchFamily="34" charset="0"/>
                <a:ea typeface="Arial" pitchFamily="34" charset="-122"/>
                <a:cs typeface="Arial" pitchFamily="34" charset="-120"/>
              </a:rPr>
              <a:t>Score to clear:  70 / 150 minimum</a:t>
            </a:r>
            <a:r>
              <a:rPr lang="en-US" sz="1200">
                <a:solidFill>
                  <a:srgbClr val="71D8C5"/>
                </a:solidFill>
                <a:latin typeface="Arial" pitchFamily="34" charset="0"/>
                <a:ea typeface="Arial" pitchFamily="34" charset="-122"/>
                <a:cs typeface="Arial" pitchFamily="34" charset="-120"/>
              </a:rPr>
              <a:t>     •  5 topics × 30 max each  •  minimum 3 topics demonstrated</a:t>
            </a:r>
            <a:endParaRPr lang="en-US" sz="16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7498080" cy="548640"/>
          </a:xfrm>
          <a:prstGeom prst="rect">
            <a:avLst/>
          </a:prstGeom>
          <a:noFill/>
          <a:ln/>
        </p:spPr>
        <p:txBody>
          <a:bodyPr wrap="square" rtlCol="0" anchor="ctr"/>
          <a:lstStyle/>
          <a:p>
            <a:pPr marL="0" indent="0" algn="l">
              <a:buNone/>
            </a:pPr>
            <a:r>
              <a:rPr lang="en-US" sz="2600" b="1">
                <a:solidFill>
                  <a:srgbClr val="024879"/>
                </a:solidFill>
                <a:latin typeface="Arial" pitchFamily="34" charset="0"/>
                <a:ea typeface="Arial" pitchFamily="34" charset="-122"/>
                <a:cs typeface="Arial" pitchFamily="34" charset="-120"/>
              </a:rPr>
              <a:t>My Project Overview</a:t>
            </a:r>
            <a:endParaRPr lang="en-US" sz="2600"/>
          </a:p>
        </p:txBody>
      </p:sp>
      <p:pic>
        <p:nvPicPr>
          <p:cNvPr id="3" name="Image 0" descr="preencoded.png"/>
          <p:cNvPicPr>
            <a:picLocks noChangeAspect="1"/>
          </p:cNvPicPr>
          <p:nvPr/>
        </p:nvPicPr>
        <p:blipFill>
          <a:blip r:embed="rId3"/>
          <a:stretch>
            <a:fillRect/>
          </a:stretch>
        </p:blipFill>
        <p:spPr>
          <a:xfrm>
            <a:off x="7818120" y="292608"/>
            <a:ext cx="914400" cy="274730"/>
          </a:xfrm>
          <a:prstGeom prst="rect">
            <a:avLst/>
          </a:prstGeom>
        </p:spPr>
      </p:pic>
      <p:sp>
        <p:nvSpPr>
          <p:cNvPr id="4" name="Shape 1"/>
          <p:cNvSpPr/>
          <p:nvPr/>
        </p:nvSpPr>
        <p:spPr>
          <a:xfrm>
            <a:off x="548640" y="1106424"/>
            <a:ext cx="3977640" cy="457200"/>
          </a:xfrm>
          <a:prstGeom prst="roundRect">
            <a:avLst>
              <a:gd name="adj" fmla="val 10000"/>
            </a:avLst>
          </a:prstGeom>
          <a:solidFill>
            <a:srgbClr val="024879"/>
          </a:solidFill>
          <a:ln/>
        </p:spPr>
        <p:txBody>
          <a:bodyPr/>
          <a:lstStyle/>
          <a:p>
            <a:r>
              <a:rPr lang="en-US" sz="1400" b="1" dirty="0">
                <a:solidFill>
                  <a:srgbClr val="FFFFFF"/>
                </a:solidFill>
                <a:latin typeface="Arial" pitchFamily="34" charset="0"/>
                <a:ea typeface="Arial" pitchFamily="34" charset="-122"/>
                <a:cs typeface="Arial" pitchFamily="34" charset="-120"/>
              </a:rPr>
              <a:t>OPTION 1 — Customer Project</a:t>
            </a:r>
            <a:endParaRPr lang="en-US" sz="1400" dirty="0"/>
          </a:p>
          <a:p>
            <a:endParaRPr lang="en-US" dirty="0"/>
          </a:p>
        </p:txBody>
      </p:sp>
      <p:sp>
        <p:nvSpPr>
          <p:cNvPr id="5" name="Text 2"/>
          <p:cNvSpPr/>
          <p:nvPr/>
        </p:nvSpPr>
        <p:spPr>
          <a:xfrm>
            <a:off x="548640" y="1097280"/>
            <a:ext cx="3794760" cy="457200"/>
          </a:xfrm>
          <a:prstGeom prst="rect">
            <a:avLst/>
          </a:prstGeom>
          <a:noFill/>
          <a:ln/>
        </p:spPr>
        <p:txBody>
          <a:bodyPr wrap="square" rtlCol="0" anchor="ctr"/>
          <a:lstStyle/>
          <a:p>
            <a:pPr marL="0" indent="0" algn="ctr">
              <a:buNone/>
            </a:pPr>
            <a:endParaRPr lang="en-US" sz="1300"/>
          </a:p>
        </p:txBody>
      </p:sp>
      <p:sp>
        <p:nvSpPr>
          <p:cNvPr id="6" name="Text 3"/>
          <p:cNvSpPr/>
          <p:nvPr/>
        </p:nvSpPr>
        <p:spPr>
          <a:xfrm>
            <a:off x="457200" y="1691640"/>
            <a:ext cx="3931920" cy="256032"/>
          </a:xfrm>
          <a:prstGeom prst="rect">
            <a:avLst/>
          </a:prstGeom>
          <a:noFill/>
          <a:ln/>
        </p:spPr>
        <p:txBody>
          <a:bodyPr wrap="square" rtlCol="0" anchor="ctr"/>
          <a:lstStyle/>
          <a:p>
            <a:pPr marL="0" indent="0" algn="l">
              <a:buNone/>
            </a:pPr>
            <a:endParaRPr lang="en-US" sz="1200"/>
          </a:p>
        </p:txBody>
      </p:sp>
      <p:sp>
        <p:nvSpPr>
          <p:cNvPr id="7" name="Shape 4"/>
          <p:cNvSpPr/>
          <p:nvPr/>
        </p:nvSpPr>
        <p:spPr>
          <a:xfrm>
            <a:off x="521208" y="1627632"/>
            <a:ext cx="3977640" cy="941832"/>
          </a:xfrm>
          <a:prstGeom prst="roundRect">
            <a:avLst>
              <a:gd name="adj" fmla="val 10000"/>
            </a:avLst>
          </a:prstGeom>
          <a:solidFill>
            <a:srgbClr val="DFE7ED"/>
          </a:solidFill>
          <a:ln w="12700">
            <a:solidFill>
              <a:srgbClr val="C5DCEE"/>
            </a:solidFill>
            <a:prstDash val="solid"/>
          </a:ln>
        </p:spPr>
        <p:txBody>
          <a:bodyPr/>
          <a:lstStyle/>
          <a:p>
            <a:endParaRPr lang="en-US"/>
          </a:p>
        </p:txBody>
      </p:sp>
      <p:sp>
        <p:nvSpPr>
          <p:cNvPr id="8" name="Text 5"/>
          <p:cNvSpPr/>
          <p:nvPr/>
        </p:nvSpPr>
        <p:spPr>
          <a:xfrm>
            <a:off x="566928" y="1852704"/>
            <a:ext cx="3758184" cy="457200"/>
          </a:xfrm>
          <a:prstGeom prst="rect">
            <a:avLst/>
          </a:prstGeom>
          <a:noFill/>
          <a:ln/>
        </p:spPr>
        <p:txBody>
          <a:bodyPr wrap="square" rtlCol="0" anchor="ctr"/>
          <a:lstStyle/>
          <a:p>
            <a:pPr marL="0" indent="0" algn="l">
              <a:buNone/>
            </a:pPr>
            <a:r>
              <a:rPr lang="en-US" sz="1200" dirty="0">
                <a:latin typeface="Arial" panose="020B0604020202020204" pitchFamily="34" charset="0"/>
                <a:cs typeface="Arial" panose="020B0604020202020204" pitchFamily="34" charset="0"/>
              </a:rPr>
              <a:t>QA Engineering - Cypress to Playwright Migration</a:t>
            </a:r>
          </a:p>
          <a:p>
            <a:pPr marL="0" indent="0" algn="l">
              <a:buNone/>
            </a:pPr>
            <a:r>
              <a:rPr lang="en-US" sz="1200" dirty="0">
                <a:latin typeface="Arial" panose="020B0604020202020204" pitchFamily="34" charset="0"/>
                <a:cs typeface="Arial" panose="020B0604020202020204" pitchFamily="34" charset="0"/>
              </a:rPr>
              <a:t>Perficient AI Capstone L2 (internal, OrangeHRM public demo)</a:t>
            </a:r>
          </a:p>
        </p:txBody>
      </p:sp>
      <p:sp>
        <p:nvSpPr>
          <p:cNvPr id="9" name="Text 6"/>
          <p:cNvSpPr/>
          <p:nvPr/>
        </p:nvSpPr>
        <p:spPr>
          <a:xfrm>
            <a:off x="457200" y="2532888"/>
            <a:ext cx="3931920" cy="256032"/>
          </a:xfrm>
          <a:prstGeom prst="rect">
            <a:avLst/>
          </a:prstGeom>
          <a:noFill/>
          <a:ln/>
        </p:spPr>
        <p:txBody>
          <a:bodyPr wrap="square" rtlCol="0" anchor="ctr"/>
          <a:lstStyle/>
          <a:p>
            <a:pPr marL="0" indent="0" algn="l">
              <a:buNone/>
            </a:pPr>
            <a:endParaRPr lang="en-US" sz="1200"/>
          </a:p>
        </p:txBody>
      </p:sp>
      <p:sp>
        <p:nvSpPr>
          <p:cNvPr id="10" name="Shape 7"/>
          <p:cNvSpPr/>
          <p:nvPr/>
        </p:nvSpPr>
        <p:spPr>
          <a:xfrm>
            <a:off x="502920" y="2718648"/>
            <a:ext cx="3977640" cy="941832"/>
          </a:xfrm>
          <a:prstGeom prst="roundRect">
            <a:avLst>
              <a:gd name="adj" fmla="val 10000"/>
            </a:avLst>
          </a:prstGeom>
          <a:solidFill>
            <a:srgbClr val="DFE7ED"/>
          </a:solidFill>
          <a:ln w="12700">
            <a:solidFill>
              <a:srgbClr val="C5DCEE"/>
            </a:solidFill>
            <a:prstDash val="solid"/>
          </a:ln>
        </p:spPr>
        <p:txBody>
          <a:bodyPr/>
          <a:lstStyle/>
          <a:p>
            <a:endParaRPr lang="en-US"/>
          </a:p>
        </p:txBody>
      </p:sp>
      <p:sp>
        <p:nvSpPr>
          <p:cNvPr id="11" name="Text 8"/>
          <p:cNvSpPr/>
          <p:nvPr/>
        </p:nvSpPr>
        <p:spPr>
          <a:xfrm>
            <a:off x="612648" y="2938284"/>
            <a:ext cx="3758184" cy="457200"/>
          </a:xfrm>
          <a:prstGeom prst="rect">
            <a:avLst/>
          </a:prstGeom>
          <a:noFill/>
          <a:ln/>
        </p:spPr>
        <p:txBody>
          <a:bodyPr wrap="square" rtlCol="0" anchor="ctr"/>
          <a:lstStyle/>
          <a:p>
            <a:pPr marL="0" indent="0" algn="l">
              <a:buNone/>
            </a:pPr>
            <a:r>
              <a:rPr lang="en-US" sz="1200" dirty="0">
                <a:latin typeface="Arial" panose="020B0604020202020204" pitchFamily="34" charset="0"/>
                <a:cs typeface="Arial" panose="020B0604020202020204" pitchFamily="34" charset="0"/>
              </a:rPr>
              <a:t>7 Cypress TypeScript E2E tests migrated to Playwright Python BDD.</a:t>
            </a:r>
          </a:p>
          <a:p>
            <a:pPr marL="0" indent="0" algn="l">
              <a:buNone/>
            </a:pPr>
            <a:r>
              <a:rPr lang="en-US" sz="1200" dirty="0">
                <a:latin typeface="Arial" panose="020B0604020202020204" pitchFamily="34" charset="0"/>
                <a:cs typeface="Arial" panose="020B0604020202020204" pitchFamily="34" charset="0"/>
              </a:rPr>
              <a:t>Claude Code agent with MCP Playwright validated selectors, generated Gherkin + POM code, and fixed 3 bugs.</a:t>
            </a:r>
          </a:p>
        </p:txBody>
      </p:sp>
      <p:sp>
        <p:nvSpPr>
          <p:cNvPr id="12" name="Text 9"/>
          <p:cNvSpPr/>
          <p:nvPr/>
        </p:nvSpPr>
        <p:spPr>
          <a:xfrm>
            <a:off x="457200" y="3374136"/>
            <a:ext cx="3931920" cy="256032"/>
          </a:xfrm>
          <a:prstGeom prst="rect">
            <a:avLst/>
          </a:prstGeom>
          <a:noFill/>
          <a:ln/>
        </p:spPr>
        <p:txBody>
          <a:bodyPr wrap="square" rtlCol="0" anchor="ctr"/>
          <a:lstStyle/>
          <a:p>
            <a:pPr marL="0" indent="0" algn="l">
              <a:buNone/>
            </a:pPr>
            <a:endParaRPr lang="en-US" sz="1200"/>
          </a:p>
        </p:txBody>
      </p:sp>
      <p:sp>
        <p:nvSpPr>
          <p:cNvPr id="13" name="Shape 10"/>
          <p:cNvSpPr/>
          <p:nvPr/>
        </p:nvSpPr>
        <p:spPr>
          <a:xfrm>
            <a:off x="502920" y="3774780"/>
            <a:ext cx="3977640" cy="941832"/>
          </a:xfrm>
          <a:prstGeom prst="roundRect">
            <a:avLst>
              <a:gd name="adj" fmla="val 10000"/>
            </a:avLst>
          </a:prstGeom>
          <a:solidFill>
            <a:srgbClr val="DFE7ED"/>
          </a:solidFill>
          <a:ln w="12700">
            <a:solidFill>
              <a:srgbClr val="C5DCEE"/>
            </a:solidFill>
            <a:prstDash val="solid"/>
          </a:ln>
        </p:spPr>
        <p:txBody>
          <a:bodyPr/>
          <a:lstStyle/>
          <a:p>
            <a:endParaRPr lang="en-US"/>
          </a:p>
        </p:txBody>
      </p:sp>
      <p:sp>
        <p:nvSpPr>
          <p:cNvPr id="14" name="Text 11"/>
          <p:cNvSpPr/>
          <p:nvPr/>
        </p:nvSpPr>
        <p:spPr>
          <a:xfrm>
            <a:off x="630936" y="3980520"/>
            <a:ext cx="3758184" cy="457200"/>
          </a:xfrm>
          <a:prstGeom prst="rect">
            <a:avLst/>
          </a:prstGeom>
          <a:noFill/>
          <a:ln/>
        </p:spPr>
        <p:txBody>
          <a:bodyPr wrap="square" rtlCol="0" anchor="ctr"/>
          <a:lstStyle/>
          <a:p>
            <a:pPr marL="0" indent="0" algn="l">
              <a:buNone/>
            </a:pPr>
            <a:r>
              <a:rPr lang="en-US" sz="1200" dirty="0">
                <a:latin typeface="Arial" panose="020B0604020202020204" pitchFamily="34" charset="0"/>
                <a:cs typeface="Arial" panose="020B0604020202020204" pitchFamily="34" charset="0"/>
              </a:rPr>
              <a:t>8/8 Cypress + 8/8 Playwright tests passing.</a:t>
            </a:r>
          </a:p>
          <a:p>
            <a:pPr marL="0" indent="0" algn="l">
              <a:buNone/>
            </a:pPr>
            <a:r>
              <a:rPr lang="en-US" sz="1200" dirty="0">
                <a:latin typeface="Arial" panose="020B0604020202020204" pitchFamily="34" charset="0"/>
                <a:cs typeface="Arial" panose="020B0604020202020204" pitchFamily="34" charset="0"/>
              </a:rPr>
              <a:t>Migration: 2-3 days manual -&gt; 3.5 h agent session (75% time reduction).</a:t>
            </a:r>
          </a:p>
          <a:p>
            <a:pPr marL="0" indent="0" algn="l">
              <a:buNone/>
            </a:pPr>
            <a:r>
              <a:rPr lang="en-US" sz="1200" dirty="0">
                <a:latin typeface="Arial" panose="020B0604020202020204" pitchFamily="34" charset="0"/>
                <a:cs typeface="Arial" panose="020B0604020202020204" pitchFamily="34" charset="0"/>
              </a:rPr>
              <a:t>3 failure modes caught &amp; fixed autonomously.</a:t>
            </a:r>
          </a:p>
        </p:txBody>
      </p:sp>
      <p:sp>
        <p:nvSpPr>
          <p:cNvPr id="15" name="Shape 12"/>
          <p:cNvSpPr/>
          <p:nvPr/>
        </p:nvSpPr>
        <p:spPr>
          <a:xfrm>
            <a:off x="4709160" y="1097280"/>
            <a:ext cx="3977640" cy="457200"/>
          </a:xfrm>
          <a:prstGeom prst="roundRect">
            <a:avLst>
              <a:gd name="adj" fmla="val 10000"/>
            </a:avLst>
          </a:prstGeom>
          <a:solidFill>
            <a:srgbClr val="024879"/>
          </a:solidFill>
          <a:ln/>
        </p:spPr>
        <p:txBody>
          <a:bodyPr/>
          <a:lstStyle/>
          <a:p>
            <a:endParaRPr lang="en-US"/>
          </a:p>
        </p:txBody>
      </p:sp>
      <p:sp>
        <p:nvSpPr>
          <p:cNvPr id="16" name="Text 13"/>
          <p:cNvSpPr/>
          <p:nvPr/>
        </p:nvSpPr>
        <p:spPr>
          <a:xfrm>
            <a:off x="4800600" y="1097280"/>
            <a:ext cx="3794760" cy="457200"/>
          </a:xfrm>
          <a:prstGeom prst="rect">
            <a:avLst/>
          </a:prstGeom>
          <a:noFill/>
          <a:ln/>
        </p:spPr>
        <p:txBody>
          <a:bodyPr wrap="square" rtlCol="0" anchor="ctr"/>
          <a:lstStyle/>
          <a:p>
            <a:pPr marL="0" indent="0" algn="ctr">
              <a:buNone/>
            </a:pPr>
            <a:r>
              <a:rPr lang="en-US" sz="1300" b="1" dirty="0">
                <a:solidFill>
                  <a:srgbClr val="FFFFFF"/>
                </a:solidFill>
                <a:latin typeface="Arial" pitchFamily="34" charset="0"/>
                <a:ea typeface="Arial" pitchFamily="34" charset="-122"/>
                <a:cs typeface="Arial" pitchFamily="34" charset="-120"/>
              </a:rPr>
              <a:t>OPTION 2 — Platform Contribution</a:t>
            </a:r>
            <a:endParaRPr lang="en-US" sz="1300" dirty="0"/>
          </a:p>
        </p:txBody>
      </p:sp>
      <p:sp>
        <p:nvSpPr>
          <p:cNvPr id="17" name="Text 14"/>
          <p:cNvSpPr/>
          <p:nvPr/>
        </p:nvSpPr>
        <p:spPr>
          <a:xfrm>
            <a:off x="4709160" y="1691640"/>
            <a:ext cx="3931920" cy="256032"/>
          </a:xfrm>
          <a:prstGeom prst="rect">
            <a:avLst/>
          </a:prstGeom>
          <a:noFill/>
          <a:ln/>
        </p:spPr>
        <p:txBody>
          <a:bodyPr wrap="square" rtlCol="0" anchor="ctr"/>
          <a:lstStyle/>
          <a:p>
            <a:pPr marL="0" indent="0" algn="l">
              <a:buNone/>
            </a:pPr>
            <a:r>
              <a:rPr lang="en-US" sz="1200" b="1">
                <a:solidFill>
                  <a:srgbClr val="075056"/>
                </a:solidFill>
                <a:latin typeface="Arial" pitchFamily="34" charset="0"/>
                <a:ea typeface="Arial" pitchFamily="34" charset="-122"/>
                <a:cs typeface="Arial" pitchFamily="34" charset="-120"/>
              </a:rPr>
              <a:t>Platform contributed to</a:t>
            </a:r>
            <a:endParaRPr lang="en-US" sz="1200"/>
          </a:p>
        </p:txBody>
      </p:sp>
      <p:sp>
        <p:nvSpPr>
          <p:cNvPr id="18" name="Shape 15"/>
          <p:cNvSpPr/>
          <p:nvPr/>
        </p:nvSpPr>
        <p:spPr>
          <a:xfrm>
            <a:off x="4709160" y="1947672"/>
            <a:ext cx="3977640" cy="457200"/>
          </a:xfrm>
          <a:prstGeom prst="roundRect">
            <a:avLst>
              <a:gd name="adj" fmla="val 10000"/>
            </a:avLst>
          </a:prstGeom>
          <a:solidFill>
            <a:srgbClr val="DFE7ED"/>
          </a:solidFill>
          <a:ln w="12700">
            <a:solidFill>
              <a:srgbClr val="C5DCEE"/>
            </a:solidFill>
            <a:prstDash val="solid"/>
          </a:ln>
        </p:spPr>
        <p:txBody>
          <a:bodyPr/>
          <a:lstStyle/>
          <a:p>
            <a:endParaRPr lang="en-US"/>
          </a:p>
        </p:txBody>
      </p:sp>
      <p:sp>
        <p:nvSpPr>
          <p:cNvPr id="19" name="Text 16"/>
          <p:cNvSpPr/>
          <p:nvPr/>
        </p:nvSpPr>
        <p:spPr>
          <a:xfrm>
            <a:off x="4818888" y="1947672"/>
            <a:ext cx="3758184" cy="457200"/>
          </a:xfrm>
          <a:prstGeom prst="rect">
            <a:avLst/>
          </a:prstGeom>
          <a:noFill/>
          <a:ln/>
        </p:spPr>
        <p:txBody>
          <a:bodyPr wrap="square" rtlCol="0" anchor="ctr"/>
          <a:lstStyle/>
          <a:p>
            <a:pPr marL="0" indent="0" algn="l">
              <a:buNone/>
            </a:pPr>
            <a:endParaRPr lang="en-US" sz="1100"/>
          </a:p>
        </p:txBody>
      </p:sp>
      <p:sp>
        <p:nvSpPr>
          <p:cNvPr id="20" name="Text 17"/>
          <p:cNvSpPr/>
          <p:nvPr/>
        </p:nvSpPr>
        <p:spPr>
          <a:xfrm>
            <a:off x="4709160" y="2532888"/>
            <a:ext cx="3931920" cy="256032"/>
          </a:xfrm>
          <a:prstGeom prst="rect">
            <a:avLst/>
          </a:prstGeom>
          <a:noFill/>
          <a:ln/>
        </p:spPr>
        <p:txBody>
          <a:bodyPr wrap="square" rtlCol="0" anchor="ctr"/>
          <a:lstStyle/>
          <a:p>
            <a:pPr marL="0" indent="0" algn="l">
              <a:buNone/>
            </a:pPr>
            <a:r>
              <a:rPr lang="en-US" sz="1200" b="1">
                <a:solidFill>
                  <a:srgbClr val="075056"/>
                </a:solidFill>
                <a:latin typeface="Arial" pitchFamily="34" charset="0"/>
                <a:ea typeface="Arial" pitchFamily="34" charset="-122"/>
                <a:cs typeface="Arial" pitchFamily="34" charset="-120"/>
              </a:rPr>
              <a:t>Feature / innovation contributed</a:t>
            </a:r>
            <a:endParaRPr lang="en-US" sz="1200"/>
          </a:p>
        </p:txBody>
      </p:sp>
      <p:sp>
        <p:nvSpPr>
          <p:cNvPr id="21" name="Shape 18"/>
          <p:cNvSpPr/>
          <p:nvPr/>
        </p:nvSpPr>
        <p:spPr>
          <a:xfrm>
            <a:off x="4709160" y="2788920"/>
            <a:ext cx="3977640" cy="457200"/>
          </a:xfrm>
          <a:prstGeom prst="roundRect">
            <a:avLst>
              <a:gd name="adj" fmla="val 10000"/>
            </a:avLst>
          </a:prstGeom>
          <a:solidFill>
            <a:srgbClr val="DFE7ED"/>
          </a:solidFill>
          <a:ln w="12700">
            <a:solidFill>
              <a:srgbClr val="C5DCEE"/>
            </a:solidFill>
            <a:prstDash val="solid"/>
          </a:ln>
        </p:spPr>
        <p:txBody>
          <a:bodyPr/>
          <a:lstStyle/>
          <a:p>
            <a:endParaRPr lang="en-US"/>
          </a:p>
        </p:txBody>
      </p:sp>
      <p:sp>
        <p:nvSpPr>
          <p:cNvPr id="22" name="Text 19"/>
          <p:cNvSpPr/>
          <p:nvPr/>
        </p:nvSpPr>
        <p:spPr>
          <a:xfrm>
            <a:off x="4818888" y="2788920"/>
            <a:ext cx="3758184" cy="457200"/>
          </a:xfrm>
          <a:prstGeom prst="rect">
            <a:avLst/>
          </a:prstGeom>
          <a:noFill/>
          <a:ln/>
        </p:spPr>
        <p:txBody>
          <a:bodyPr wrap="square" rtlCol="0" anchor="ctr"/>
          <a:lstStyle/>
          <a:p>
            <a:pPr marL="0" indent="0" algn="l">
              <a:buNone/>
            </a:pPr>
            <a:endParaRPr lang="en-US" sz="1100"/>
          </a:p>
        </p:txBody>
      </p:sp>
      <p:sp>
        <p:nvSpPr>
          <p:cNvPr id="23" name="Text 20"/>
          <p:cNvSpPr/>
          <p:nvPr/>
        </p:nvSpPr>
        <p:spPr>
          <a:xfrm>
            <a:off x="4709160" y="3374136"/>
            <a:ext cx="3931920" cy="256032"/>
          </a:xfrm>
          <a:prstGeom prst="rect">
            <a:avLst/>
          </a:prstGeom>
          <a:noFill/>
          <a:ln/>
        </p:spPr>
        <p:txBody>
          <a:bodyPr wrap="square" rtlCol="0" anchor="ctr"/>
          <a:lstStyle/>
          <a:p>
            <a:pPr marL="0" indent="0" algn="l">
              <a:buNone/>
            </a:pPr>
            <a:r>
              <a:rPr lang="en-US" sz="1200" b="1">
                <a:solidFill>
                  <a:srgbClr val="075056"/>
                </a:solidFill>
                <a:latin typeface="Arial" pitchFamily="34" charset="0"/>
                <a:ea typeface="Arial" pitchFamily="34" charset="-122"/>
                <a:cs typeface="Arial" pitchFamily="34" charset="-120"/>
              </a:rPr>
              <a:t>Org-scale AI capability impact</a:t>
            </a:r>
            <a:endParaRPr lang="en-US" sz="1200"/>
          </a:p>
        </p:txBody>
      </p:sp>
      <p:sp>
        <p:nvSpPr>
          <p:cNvPr id="24" name="Shape 21"/>
          <p:cNvSpPr/>
          <p:nvPr/>
        </p:nvSpPr>
        <p:spPr>
          <a:xfrm>
            <a:off x="4709160" y="3630168"/>
            <a:ext cx="3977640" cy="457200"/>
          </a:xfrm>
          <a:prstGeom prst="roundRect">
            <a:avLst>
              <a:gd name="adj" fmla="val 10000"/>
            </a:avLst>
          </a:prstGeom>
          <a:solidFill>
            <a:srgbClr val="DFE7ED"/>
          </a:solidFill>
          <a:ln w="12700">
            <a:solidFill>
              <a:srgbClr val="C5DCEE"/>
            </a:solidFill>
            <a:prstDash val="solid"/>
          </a:ln>
        </p:spPr>
        <p:txBody>
          <a:bodyPr/>
          <a:lstStyle/>
          <a:p>
            <a:endParaRPr lang="en-US"/>
          </a:p>
        </p:txBody>
      </p:sp>
      <p:sp>
        <p:nvSpPr>
          <p:cNvPr id="25" name="Text 22"/>
          <p:cNvSpPr/>
          <p:nvPr/>
        </p:nvSpPr>
        <p:spPr>
          <a:xfrm>
            <a:off x="4818888" y="3630168"/>
            <a:ext cx="3758184" cy="457200"/>
          </a:xfrm>
          <a:prstGeom prst="rect">
            <a:avLst/>
          </a:prstGeom>
          <a:noFill/>
          <a:ln/>
        </p:spPr>
        <p:txBody>
          <a:bodyPr wrap="square" rtlCol="0" anchor="ctr"/>
          <a:lstStyle/>
          <a:p>
            <a:pPr marL="0" indent="0" algn="l">
              <a:buNone/>
            </a:pPr>
            <a:endParaRPr lang="en-US" sz="11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7498080" cy="548640"/>
          </a:xfrm>
          <a:prstGeom prst="rect">
            <a:avLst/>
          </a:prstGeom>
          <a:noFill/>
          <a:ln/>
        </p:spPr>
        <p:txBody>
          <a:bodyPr wrap="square" rtlCol="0" anchor="ctr"/>
          <a:lstStyle/>
          <a:p>
            <a:pPr marL="0" indent="0" algn="l">
              <a:buNone/>
            </a:pPr>
            <a:r>
              <a:rPr lang="en-US" sz="2600" b="1">
                <a:solidFill>
                  <a:srgbClr val="024879"/>
                </a:solidFill>
                <a:latin typeface="Arial" pitchFamily="34" charset="0"/>
                <a:ea typeface="Arial" pitchFamily="34" charset="-122"/>
                <a:cs typeface="Arial" pitchFamily="34" charset="-120"/>
              </a:rPr>
              <a:t>My AI Approach</a:t>
            </a:r>
            <a:endParaRPr lang="en-US" sz="2600"/>
          </a:p>
        </p:txBody>
      </p:sp>
      <p:pic>
        <p:nvPicPr>
          <p:cNvPr id="3" name="Image 0" descr="preencoded.png"/>
          <p:cNvPicPr>
            <a:picLocks noChangeAspect="1"/>
          </p:cNvPicPr>
          <p:nvPr/>
        </p:nvPicPr>
        <p:blipFill>
          <a:blip r:embed="rId3"/>
          <a:stretch>
            <a:fillRect/>
          </a:stretch>
        </p:blipFill>
        <p:spPr>
          <a:xfrm>
            <a:off x="7818120" y="292608"/>
            <a:ext cx="914400" cy="274730"/>
          </a:xfrm>
          <a:prstGeom prst="rect">
            <a:avLst/>
          </a:prstGeom>
        </p:spPr>
      </p:pic>
      <p:sp>
        <p:nvSpPr>
          <p:cNvPr id="4" name="Text 1"/>
          <p:cNvSpPr/>
          <p:nvPr/>
        </p:nvSpPr>
        <p:spPr>
          <a:xfrm>
            <a:off x="457200" y="1097280"/>
            <a:ext cx="8229600" cy="256032"/>
          </a:xfrm>
          <a:prstGeom prst="rect">
            <a:avLst/>
          </a:prstGeom>
          <a:noFill/>
          <a:ln/>
        </p:spPr>
        <p:txBody>
          <a:bodyPr wrap="square" rtlCol="0" anchor="ctr"/>
          <a:lstStyle/>
          <a:p>
            <a:pPr marL="0" indent="0" algn="l">
              <a:buNone/>
            </a:pPr>
            <a:r>
              <a:rPr lang="en-US" sz="1200" b="1">
                <a:solidFill>
                  <a:srgbClr val="075056"/>
                </a:solidFill>
                <a:latin typeface="Arial" pitchFamily="34" charset="0"/>
                <a:ea typeface="Arial" pitchFamily="34" charset="-122"/>
                <a:cs typeface="Arial" pitchFamily="34" charset="-120"/>
              </a:rPr>
              <a:t>Goal — one sentence: the repeatable outcome you wanted AI to deliver</a:t>
            </a:r>
            <a:endParaRPr lang="en-US" sz="1200"/>
          </a:p>
        </p:txBody>
      </p:sp>
      <p:sp>
        <p:nvSpPr>
          <p:cNvPr id="5" name="Shape 2"/>
          <p:cNvSpPr/>
          <p:nvPr/>
        </p:nvSpPr>
        <p:spPr>
          <a:xfrm>
            <a:off x="457200" y="1371600"/>
            <a:ext cx="8229600" cy="457200"/>
          </a:xfrm>
          <a:prstGeom prst="roundRect">
            <a:avLst>
              <a:gd name="adj" fmla="val 10000"/>
            </a:avLst>
          </a:prstGeom>
          <a:solidFill>
            <a:srgbClr val="DFE7ED"/>
          </a:solidFill>
          <a:ln w="12700">
            <a:solidFill>
              <a:srgbClr val="C5DCEE"/>
            </a:solidFill>
            <a:prstDash val="solid"/>
          </a:ln>
        </p:spPr>
        <p:txBody>
          <a:bodyPr/>
          <a:lstStyle/>
          <a:p>
            <a:endParaRPr lang="en-US"/>
          </a:p>
        </p:txBody>
      </p:sp>
      <p:sp>
        <p:nvSpPr>
          <p:cNvPr id="6" name="Text 3"/>
          <p:cNvSpPr/>
          <p:nvPr/>
        </p:nvSpPr>
        <p:spPr>
          <a:xfrm>
            <a:off x="566928" y="1371600"/>
            <a:ext cx="8010144" cy="457200"/>
          </a:xfrm>
          <a:prstGeom prst="rect">
            <a:avLst/>
          </a:prstGeom>
          <a:noFill/>
          <a:ln/>
        </p:spPr>
        <p:txBody>
          <a:bodyPr wrap="square" rtlCol="0" anchor="ctr"/>
          <a:lstStyle/>
          <a:p>
            <a:pPr marL="0" indent="0" algn="l">
              <a:buNone/>
            </a:pPr>
            <a:r>
              <a:rPr lang="en-US" sz="1200" dirty="0">
                <a:latin typeface="Arial" panose="020B0604020202020204" pitchFamily="34" charset="0"/>
                <a:cs typeface="Arial" panose="020B0604020202020204" pitchFamily="34" charset="0"/>
              </a:rPr>
              <a:t>Migrate a 7-requirement Cypress TypeScript suite to Playwright Python BDD in one agent session - zero manual selector work, passing on first run.</a:t>
            </a:r>
          </a:p>
        </p:txBody>
      </p:sp>
      <p:sp>
        <p:nvSpPr>
          <p:cNvPr id="7" name="Shape 4"/>
          <p:cNvSpPr/>
          <p:nvPr/>
        </p:nvSpPr>
        <p:spPr>
          <a:xfrm>
            <a:off x="457200" y="2057400"/>
            <a:ext cx="1572768" cy="2811780"/>
          </a:xfrm>
          <a:prstGeom prst="roundRect">
            <a:avLst>
              <a:gd name="adj" fmla="val 3488"/>
            </a:avLst>
          </a:prstGeom>
          <a:solidFill>
            <a:srgbClr val="DFE7ED"/>
          </a:solidFill>
          <a:ln/>
        </p:spPr>
        <p:txBody>
          <a:bodyPr/>
          <a:lstStyle/>
          <a:p>
            <a:endParaRPr lang="en-US"/>
          </a:p>
        </p:txBody>
      </p:sp>
      <p:sp>
        <p:nvSpPr>
          <p:cNvPr id="8" name="Shape 5"/>
          <p:cNvSpPr/>
          <p:nvPr/>
        </p:nvSpPr>
        <p:spPr>
          <a:xfrm>
            <a:off x="1042416" y="2194560"/>
            <a:ext cx="402336" cy="402336"/>
          </a:xfrm>
          <a:prstGeom prst="ellipse">
            <a:avLst/>
          </a:prstGeom>
          <a:solidFill>
            <a:srgbClr val="075056"/>
          </a:solidFill>
          <a:ln/>
        </p:spPr>
        <p:txBody>
          <a:bodyPr/>
          <a:lstStyle/>
          <a:p>
            <a:endParaRPr lang="en-US"/>
          </a:p>
        </p:txBody>
      </p:sp>
      <p:sp>
        <p:nvSpPr>
          <p:cNvPr id="9" name="Text 6"/>
          <p:cNvSpPr/>
          <p:nvPr/>
        </p:nvSpPr>
        <p:spPr>
          <a:xfrm>
            <a:off x="1042416" y="2194560"/>
            <a:ext cx="402336" cy="402336"/>
          </a:xfrm>
          <a:prstGeom prst="rect">
            <a:avLst/>
          </a:prstGeom>
          <a:noFill/>
          <a:ln/>
        </p:spPr>
        <p:txBody>
          <a:bodyPr wrap="square" rtlCol="0" anchor="ctr"/>
          <a:lstStyle/>
          <a:p>
            <a:pPr marL="0" indent="0" algn="ctr">
              <a:buNone/>
            </a:pPr>
            <a:r>
              <a:rPr lang="en-US" sz="1600" b="1">
                <a:solidFill>
                  <a:srgbClr val="FFFFFF"/>
                </a:solidFill>
                <a:latin typeface="Arial" pitchFamily="34" charset="0"/>
                <a:ea typeface="Arial" pitchFamily="34" charset="-122"/>
                <a:cs typeface="Arial" pitchFamily="34" charset="-120"/>
              </a:rPr>
              <a:t>1</a:t>
            </a:r>
            <a:endParaRPr lang="en-US" sz="1600"/>
          </a:p>
        </p:txBody>
      </p:sp>
      <p:sp>
        <p:nvSpPr>
          <p:cNvPr id="11" name="Text 8"/>
          <p:cNvSpPr/>
          <p:nvPr/>
        </p:nvSpPr>
        <p:spPr>
          <a:xfrm>
            <a:off x="530352" y="3093120"/>
            <a:ext cx="1426464" cy="1097280"/>
          </a:xfrm>
          <a:prstGeom prst="rect">
            <a:avLst/>
          </a:prstGeom>
          <a:noFill/>
          <a:ln/>
        </p:spPr>
        <p:txBody>
          <a:bodyPr wrap="square" rtlCol="0" anchor="ctr"/>
          <a:lstStyle/>
          <a:p>
            <a:pPr marL="0" indent="0" algn="ctr">
              <a:buNone/>
            </a:pPr>
            <a:r>
              <a:rPr lang="en-US" sz="1200" dirty="0">
                <a:latin typeface="Arial" panose="020B0604020202020204" pitchFamily="34" charset="0"/>
                <a:cs typeface="Arial" panose="020B0604020202020204" pitchFamily="34" charset="0"/>
              </a:rPr>
              <a:t>Claude Code reads functional_requirements.md and all Cypress specs; extracts test intent per REQ-ID without executing any browser yet.</a:t>
            </a:r>
          </a:p>
        </p:txBody>
      </p:sp>
      <p:sp>
        <p:nvSpPr>
          <p:cNvPr id="12" name="Shape 9"/>
          <p:cNvSpPr/>
          <p:nvPr/>
        </p:nvSpPr>
        <p:spPr>
          <a:xfrm>
            <a:off x="2148840" y="2057400"/>
            <a:ext cx="1572768" cy="2811780"/>
          </a:xfrm>
          <a:prstGeom prst="roundRect">
            <a:avLst>
              <a:gd name="adj" fmla="val 3488"/>
            </a:avLst>
          </a:prstGeom>
          <a:solidFill>
            <a:srgbClr val="C5DCEE"/>
          </a:solidFill>
          <a:ln/>
        </p:spPr>
        <p:txBody>
          <a:bodyPr/>
          <a:lstStyle/>
          <a:p>
            <a:endParaRPr lang="en-US"/>
          </a:p>
        </p:txBody>
      </p:sp>
      <p:sp>
        <p:nvSpPr>
          <p:cNvPr id="13" name="Shape 10"/>
          <p:cNvSpPr/>
          <p:nvPr/>
        </p:nvSpPr>
        <p:spPr>
          <a:xfrm>
            <a:off x="2734056" y="2194560"/>
            <a:ext cx="402336" cy="402336"/>
          </a:xfrm>
          <a:prstGeom prst="ellipse">
            <a:avLst/>
          </a:prstGeom>
          <a:solidFill>
            <a:srgbClr val="075056"/>
          </a:solidFill>
          <a:ln/>
        </p:spPr>
        <p:txBody>
          <a:bodyPr/>
          <a:lstStyle/>
          <a:p>
            <a:endParaRPr lang="en-US"/>
          </a:p>
        </p:txBody>
      </p:sp>
      <p:sp>
        <p:nvSpPr>
          <p:cNvPr id="14" name="Text 11"/>
          <p:cNvSpPr/>
          <p:nvPr/>
        </p:nvSpPr>
        <p:spPr>
          <a:xfrm>
            <a:off x="2734056" y="2194560"/>
            <a:ext cx="402336" cy="402336"/>
          </a:xfrm>
          <a:prstGeom prst="rect">
            <a:avLst/>
          </a:prstGeom>
          <a:noFill/>
          <a:ln/>
        </p:spPr>
        <p:txBody>
          <a:bodyPr wrap="square" rtlCol="0" anchor="ctr"/>
          <a:lstStyle/>
          <a:p>
            <a:pPr marL="0" indent="0" algn="ctr">
              <a:buNone/>
            </a:pPr>
            <a:r>
              <a:rPr lang="en-US" sz="1600" b="1">
                <a:solidFill>
                  <a:srgbClr val="FFFFFF"/>
                </a:solidFill>
                <a:latin typeface="Arial" pitchFamily="34" charset="0"/>
                <a:ea typeface="Arial" pitchFamily="34" charset="-122"/>
                <a:cs typeface="Arial" pitchFamily="34" charset="-120"/>
              </a:rPr>
              <a:t>2</a:t>
            </a:r>
            <a:endParaRPr lang="en-US" sz="1600"/>
          </a:p>
        </p:txBody>
      </p:sp>
      <p:sp>
        <p:nvSpPr>
          <p:cNvPr id="15" name="Text 12"/>
          <p:cNvSpPr/>
          <p:nvPr/>
        </p:nvSpPr>
        <p:spPr>
          <a:xfrm>
            <a:off x="2203704" y="2782656"/>
            <a:ext cx="1463040" cy="274320"/>
          </a:xfrm>
          <a:prstGeom prst="rect">
            <a:avLst/>
          </a:prstGeom>
          <a:noFill/>
          <a:ln/>
        </p:spPr>
        <p:txBody>
          <a:bodyPr wrap="square" rtlCol="0" anchor="ctr"/>
          <a:lstStyle/>
          <a:p>
            <a:pPr marL="0" indent="0" algn="ctr">
              <a:buNone/>
            </a:pPr>
            <a:r>
              <a:rPr lang="en-US" sz="1200" b="1" dirty="0">
                <a:latin typeface="Arial" panose="020B0604020202020204" pitchFamily="34" charset="0"/>
                <a:cs typeface="Arial" panose="020B0604020202020204" pitchFamily="34" charset="0"/>
              </a:rPr>
              <a:t>MCP Playwright Exploration</a:t>
            </a:r>
          </a:p>
        </p:txBody>
      </p:sp>
      <p:sp>
        <p:nvSpPr>
          <p:cNvPr id="16" name="Text 13"/>
          <p:cNvSpPr/>
          <p:nvPr/>
        </p:nvSpPr>
        <p:spPr>
          <a:xfrm>
            <a:off x="2240280" y="3423798"/>
            <a:ext cx="1426464" cy="1097280"/>
          </a:xfrm>
          <a:prstGeom prst="rect">
            <a:avLst/>
          </a:prstGeom>
          <a:noFill/>
          <a:ln/>
        </p:spPr>
        <p:txBody>
          <a:bodyPr wrap="square" rtlCol="0" anchor="ctr"/>
          <a:lstStyle/>
          <a:p>
            <a:pPr marL="0" indent="0" algn="ctr">
              <a:buNone/>
            </a:pPr>
            <a:r>
              <a:rPr lang="en-US" sz="1200" dirty="0">
                <a:latin typeface="Arial" panose="020B0604020202020204" pitchFamily="34" charset="0"/>
                <a:cs typeface="Arial" panose="020B0604020202020204" pitchFamily="34" charset="0"/>
              </a:rPr>
              <a:t>Agent navigates live OrangeHRM via browser_ snapshot + browser_evaluate; validates every selector against real DOM.</a:t>
            </a:r>
          </a:p>
        </p:txBody>
      </p:sp>
      <p:sp>
        <p:nvSpPr>
          <p:cNvPr id="17" name="Shape 14"/>
          <p:cNvSpPr/>
          <p:nvPr/>
        </p:nvSpPr>
        <p:spPr>
          <a:xfrm>
            <a:off x="3840480" y="2057400"/>
            <a:ext cx="1572768" cy="2811780"/>
          </a:xfrm>
          <a:prstGeom prst="roundRect">
            <a:avLst>
              <a:gd name="adj" fmla="val 3488"/>
            </a:avLst>
          </a:prstGeom>
          <a:solidFill>
            <a:srgbClr val="DFE7ED"/>
          </a:solidFill>
          <a:ln/>
        </p:spPr>
        <p:txBody>
          <a:bodyPr/>
          <a:lstStyle/>
          <a:p>
            <a:endParaRPr lang="en-US"/>
          </a:p>
        </p:txBody>
      </p:sp>
      <p:sp>
        <p:nvSpPr>
          <p:cNvPr id="18" name="Shape 15"/>
          <p:cNvSpPr/>
          <p:nvPr/>
        </p:nvSpPr>
        <p:spPr>
          <a:xfrm>
            <a:off x="4425696" y="2194560"/>
            <a:ext cx="402336" cy="402336"/>
          </a:xfrm>
          <a:prstGeom prst="ellipse">
            <a:avLst/>
          </a:prstGeom>
          <a:solidFill>
            <a:srgbClr val="075056"/>
          </a:solidFill>
          <a:ln/>
        </p:spPr>
        <p:txBody>
          <a:bodyPr/>
          <a:lstStyle/>
          <a:p>
            <a:endParaRPr lang="en-US"/>
          </a:p>
        </p:txBody>
      </p:sp>
      <p:sp>
        <p:nvSpPr>
          <p:cNvPr id="19" name="Text 16"/>
          <p:cNvSpPr/>
          <p:nvPr/>
        </p:nvSpPr>
        <p:spPr>
          <a:xfrm>
            <a:off x="4425696" y="2194560"/>
            <a:ext cx="402336" cy="402336"/>
          </a:xfrm>
          <a:prstGeom prst="rect">
            <a:avLst/>
          </a:prstGeom>
          <a:noFill/>
          <a:ln/>
        </p:spPr>
        <p:txBody>
          <a:bodyPr wrap="square" rtlCol="0" anchor="ctr"/>
          <a:lstStyle/>
          <a:p>
            <a:pPr marL="0" indent="0" algn="ctr">
              <a:buNone/>
            </a:pPr>
            <a:r>
              <a:rPr lang="en-US" sz="1600" b="1">
                <a:solidFill>
                  <a:srgbClr val="FFFFFF"/>
                </a:solidFill>
                <a:latin typeface="Arial" pitchFamily="34" charset="0"/>
                <a:ea typeface="Arial" pitchFamily="34" charset="-122"/>
                <a:cs typeface="Arial" pitchFamily="34" charset="-120"/>
              </a:rPr>
              <a:t>3</a:t>
            </a:r>
            <a:endParaRPr lang="en-US" sz="1600"/>
          </a:p>
        </p:txBody>
      </p:sp>
      <p:sp>
        <p:nvSpPr>
          <p:cNvPr id="20" name="Text 17"/>
          <p:cNvSpPr/>
          <p:nvPr/>
        </p:nvSpPr>
        <p:spPr>
          <a:xfrm>
            <a:off x="3895344" y="2697480"/>
            <a:ext cx="1463040" cy="274320"/>
          </a:xfrm>
          <a:prstGeom prst="rect">
            <a:avLst/>
          </a:prstGeom>
          <a:noFill/>
          <a:ln/>
        </p:spPr>
        <p:txBody>
          <a:bodyPr wrap="square" rtlCol="0" anchor="ctr"/>
          <a:lstStyle/>
          <a:p>
            <a:pPr marL="0" indent="0" algn="ctr">
              <a:buNone/>
            </a:pPr>
            <a:r>
              <a:rPr lang="en-US" sz="1200" b="1" dirty="0">
                <a:latin typeface="Arial" panose="020B0604020202020204" pitchFamily="34" charset="0"/>
                <a:cs typeface="Arial" panose="020B0604020202020204" pitchFamily="34" charset="0"/>
              </a:rPr>
              <a:t>Code Generation</a:t>
            </a:r>
          </a:p>
        </p:txBody>
      </p:sp>
      <p:sp>
        <p:nvSpPr>
          <p:cNvPr id="21" name="Text 18"/>
          <p:cNvSpPr/>
          <p:nvPr/>
        </p:nvSpPr>
        <p:spPr>
          <a:xfrm>
            <a:off x="3895344" y="3420198"/>
            <a:ext cx="1426464" cy="1097280"/>
          </a:xfrm>
          <a:prstGeom prst="rect">
            <a:avLst/>
          </a:prstGeom>
          <a:noFill/>
          <a:ln/>
        </p:spPr>
        <p:txBody>
          <a:bodyPr wrap="square" rtlCol="0" anchor="ctr"/>
          <a:lstStyle/>
          <a:p>
            <a:pPr marL="0" indent="0" algn="ctr">
              <a:buNone/>
            </a:pPr>
            <a:r>
              <a:rPr lang="en-US" sz="1200" dirty="0">
                <a:latin typeface="Arial" panose="020B0604020202020204" pitchFamily="34" charset="0"/>
                <a:cs typeface="Arial" panose="020B0604020202020204" pitchFamily="34" charset="0"/>
              </a:rPr>
              <a:t>Agent writes three artifacts per REQ: Gherkin .feature file, Python Page Object class (POM), and pytest-bdd step definitions.</a:t>
            </a:r>
          </a:p>
        </p:txBody>
      </p:sp>
      <p:sp>
        <p:nvSpPr>
          <p:cNvPr id="22" name="Shape 19"/>
          <p:cNvSpPr/>
          <p:nvPr/>
        </p:nvSpPr>
        <p:spPr>
          <a:xfrm>
            <a:off x="5532120" y="2057400"/>
            <a:ext cx="1572768" cy="2811780"/>
          </a:xfrm>
          <a:prstGeom prst="roundRect">
            <a:avLst>
              <a:gd name="adj" fmla="val 3488"/>
            </a:avLst>
          </a:prstGeom>
          <a:solidFill>
            <a:srgbClr val="C5DCEE"/>
          </a:solidFill>
          <a:ln/>
        </p:spPr>
        <p:txBody>
          <a:bodyPr/>
          <a:lstStyle/>
          <a:p>
            <a:endParaRPr lang="en-US"/>
          </a:p>
        </p:txBody>
      </p:sp>
      <p:sp>
        <p:nvSpPr>
          <p:cNvPr id="23" name="Shape 20"/>
          <p:cNvSpPr/>
          <p:nvPr/>
        </p:nvSpPr>
        <p:spPr>
          <a:xfrm>
            <a:off x="6117336" y="2194560"/>
            <a:ext cx="402336" cy="402336"/>
          </a:xfrm>
          <a:prstGeom prst="ellipse">
            <a:avLst/>
          </a:prstGeom>
          <a:solidFill>
            <a:srgbClr val="075056"/>
          </a:solidFill>
          <a:ln/>
        </p:spPr>
        <p:txBody>
          <a:bodyPr/>
          <a:lstStyle/>
          <a:p>
            <a:endParaRPr lang="en-US"/>
          </a:p>
        </p:txBody>
      </p:sp>
      <p:sp>
        <p:nvSpPr>
          <p:cNvPr id="24" name="Text 21"/>
          <p:cNvSpPr/>
          <p:nvPr/>
        </p:nvSpPr>
        <p:spPr>
          <a:xfrm>
            <a:off x="6117336" y="2194560"/>
            <a:ext cx="402336" cy="402336"/>
          </a:xfrm>
          <a:prstGeom prst="rect">
            <a:avLst/>
          </a:prstGeom>
          <a:noFill/>
          <a:ln/>
        </p:spPr>
        <p:txBody>
          <a:bodyPr wrap="square" rtlCol="0" anchor="ctr"/>
          <a:lstStyle/>
          <a:p>
            <a:pPr marL="0" indent="0" algn="ctr">
              <a:buNone/>
            </a:pPr>
            <a:r>
              <a:rPr lang="en-US" sz="1600" b="1">
                <a:solidFill>
                  <a:srgbClr val="FFFFFF"/>
                </a:solidFill>
                <a:latin typeface="Arial" pitchFamily="34" charset="0"/>
                <a:ea typeface="Arial" pitchFamily="34" charset="-122"/>
                <a:cs typeface="Arial" pitchFamily="34" charset="-120"/>
              </a:rPr>
              <a:t>4</a:t>
            </a:r>
            <a:endParaRPr lang="en-US" sz="1600"/>
          </a:p>
        </p:txBody>
      </p:sp>
      <p:sp>
        <p:nvSpPr>
          <p:cNvPr id="25" name="Text 22"/>
          <p:cNvSpPr/>
          <p:nvPr/>
        </p:nvSpPr>
        <p:spPr>
          <a:xfrm>
            <a:off x="5422392" y="2688336"/>
            <a:ext cx="1822824" cy="274320"/>
          </a:xfrm>
          <a:prstGeom prst="rect">
            <a:avLst/>
          </a:prstGeom>
          <a:noFill/>
          <a:ln/>
        </p:spPr>
        <p:txBody>
          <a:bodyPr wrap="square" rtlCol="0" anchor="ctr"/>
          <a:lstStyle/>
          <a:p>
            <a:pPr marL="0" indent="0" algn="ctr">
              <a:buNone/>
            </a:pPr>
            <a:r>
              <a:rPr lang="en-US" sz="1200" b="1" dirty="0">
                <a:latin typeface="Arial" panose="020B0604020202020204" pitchFamily="34" charset="0"/>
                <a:cs typeface="Arial" panose="020B0604020202020204" pitchFamily="34" charset="0"/>
              </a:rPr>
              <a:t>Execution &amp; Validation</a:t>
            </a:r>
          </a:p>
        </p:txBody>
      </p:sp>
      <p:sp>
        <p:nvSpPr>
          <p:cNvPr id="26" name="Text 23"/>
          <p:cNvSpPr/>
          <p:nvPr/>
        </p:nvSpPr>
        <p:spPr>
          <a:xfrm>
            <a:off x="5605272" y="3420198"/>
            <a:ext cx="1426464" cy="1097280"/>
          </a:xfrm>
          <a:prstGeom prst="rect">
            <a:avLst/>
          </a:prstGeom>
          <a:noFill/>
          <a:ln/>
        </p:spPr>
        <p:txBody>
          <a:bodyPr wrap="square" rtlCol="0" anchor="ctr"/>
          <a:lstStyle/>
          <a:p>
            <a:pPr marL="0" indent="0" algn="ctr">
              <a:buNone/>
            </a:pPr>
            <a:r>
              <a:rPr lang="en-US" sz="1200" dirty="0">
                <a:latin typeface="Arial" panose="020B0604020202020204" pitchFamily="34" charset="0"/>
                <a:cs typeface="Arial" panose="020B0604020202020204" pitchFamily="34" charset="0"/>
              </a:rPr>
              <a:t>pytest run; agent reads stdout/HTML report; on failure diagnoses root cause from URL + DOM state and patches the affected POM method.</a:t>
            </a:r>
          </a:p>
        </p:txBody>
      </p:sp>
      <p:sp>
        <p:nvSpPr>
          <p:cNvPr id="27" name="Shape 24"/>
          <p:cNvSpPr/>
          <p:nvPr/>
        </p:nvSpPr>
        <p:spPr>
          <a:xfrm>
            <a:off x="7223760" y="2057400"/>
            <a:ext cx="1572768" cy="2811780"/>
          </a:xfrm>
          <a:prstGeom prst="roundRect">
            <a:avLst>
              <a:gd name="adj" fmla="val 3488"/>
            </a:avLst>
          </a:prstGeom>
          <a:solidFill>
            <a:srgbClr val="DFE7ED"/>
          </a:solidFill>
          <a:ln/>
        </p:spPr>
        <p:txBody>
          <a:bodyPr/>
          <a:lstStyle/>
          <a:p>
            <a:endParaRPr lang="en-US"/>
          </a:p>
        </p:txBody>
      </p:sp>
      <p:sp>
        <p:nvSpPr>
          <p:cNvPr id="28" name="Shape 25"/>
          <p:cNvSpPr/>
          <p:nvPr/>
        </p:nvSpPr>
        <p:spPr>
          <a:xfrm>
            <a:off x="7808976" y="2194560"/>
            <a:ext cx="402336" cy="402336"/>
          </a:xfrm>
          <a:prstGeom prst="ellipse">
            <a:avLst/>
          </a:prstGeom>
          <a:solidFill>
            <a:srgbClr val="075056"/>
          </a:solidFill>
          <a:ln/>
        </p:spPr>
        <p:txBody>
          <a:bodyPr/>
          <a:lstStyle/>
          <a:p>
            <a:endParaRPr lang="en-US"/>
          </a:p>
        </p:txBody>
      </p:sp>
      <p:sp>
        <p:nvSpPr>
          <p:cNvPr id="29" name="Text 26"/>
          <p:cNvSpPr/>
          <p:nvPr/>
        </p:nvSpPr>
        <p:spPr>
          <a:xfrm>
            <a:off x="7808976" y="2194560"/>
            <a:ext cx="402336" cy="402336"/>
          </a:xfrm>
          <a:prstGeom prst="rect">
            <a:avLst/>
          </a:prstGeom>
          <a:noFill/>
          <a:ln/>
        </p:spPr>
        <p:txBody>
          <a:bodyPr wrap="square" rtlCol="0" anchor="ctr"/>
          <a:lstStyle/>
          <a:p>
            <a:pPr marL="0" indent="0" algn="ctr">
              <a:buNone/>
            </a:pPr>
            <a:r>
              <a:rPr lang="en-US" sz="1600" b="1">
                <a:solidFill>
                  <a:srgbClr val="FFFFFF"/>
                </a:solidFill>
                <a:latin typeface="Arial" pitchFamily="34" charset="0"/>
                <a:ea typeface="Arial" pitchFamily="34" charset="-122"/>
                <a:cs typeface="Arial" pitchFamily="34" charset="-120"/>
              </a:rPr>
              <a:t>5</a:t>
            </a:r>
            <a:endParaRPr lang="en-US" sz="1600"/>
          </a:p>
        </p:txBody>
      </p:sp>
      <p:sp>
        <p:nvSpPr>
          <p:cNvPr id="30" name="Text 27"/>
          <p:cNvSpPr/>
          <p:nvPr/>
        </p:nvSpPr>
        <p:spPr>
          <a:xfrm>
            <a:off x="7168896" y="2627406"/>
            <a:ext cx="1627632" cy="274320"/>
          </a:xfrm>
          <a:prstGeom prst="rect">
            <a:avLst/>
          </a:prstGeom>
          <a:noFill/>
          <a:ln/>
        </p:spPr>
        <p:txBody>
          <a:bodyPr wrap="square" rtlCol="0" anchor="ctr"/>
          <a:lstStyle/>
          <a:p>
            <a:pPr marL="0" indent="0" algn="ctr">
              <a:buNone/>
            </a:pPr>
            <a:r>
              <a:rPr lang="en-US" sz="1200" b="1" dirty="0">
                <a:latin typeface="Arial" panose="020B0604020202020204" pitchFamily="34" charset="0"/>
                <a:cs typeface="Arial" panose="020B0604020202020204" pitchFamily="34" charset="0"/>
              </a:rPr>
              <a:t>Evidence &amp; Commit</a:t>
            </a:r>
          </a:p>
        </p:txBody>
      </p:sp>
      <p:sp>
        <p:nvSpPr>
          <p:cNvPr id="31" name="Text 28"/>
          <p:cNvSpPr/>
          <p:nvPr/>
        </p:nvSpPr>
        <p:spPr>
          <a:xfrm>
            <a:off x="7278624" y="3371850"/>
            <a:ext cx="1426464" cy="1097280"/>
          </a:xfrm>
          <a:prstGeom prst="rect">
            <a:avLst/>
          </a:prstGeom>
          <a:noFill/>
          <a:ln/>
        </p:spPr>
        <p:txBody>
          <a:bodyPr wrap="square" rtlCol="0" anchor="ctr"/>
          <a:lstStyle/>
          <a:p>
            <a:pPr marL="0" indent="0" algn="ctr">
              <a:buNone/>
            </a:pPr>
            <a:r>
              <a:rPr lang="en-US" sz="1200" dirty="0">
                <a:latin typeface="Arial" panose="020B0604020202020204" pitchFamily="34" charset="0"/>
                <a:cs typeface="Arial" panose="020B0604020202020204" pitchFamily="34" charset="0"/>
              </a:rPr>
              <a:t>HTML report saved to reports/playwright/; session transcript JSONL serves as observability trace; changes committed to branch L2.</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7498080" cy="548640"/>
          </a:xfrm>
          <a:prstGeom prst="rect">
            <a:avLst/>
          </a:prstGeom>
          <a:noFill/>
          <a:ln/>
        </p:spPr>
        <p:txBody>
          <a:bodyPr wrap="square" rtlCol="0" anchor="ctr"/>
          <a:lstStyle/>
          <a:p>
            <a:pPr marL="0" indent="0" algn="l">
              <a:buNone/>
            </a:pPr>
            <a:r>
              <a:rPr lang="en-US" sz="2600" b="1">
                <a:solidFill>
                  <a:srgbClr val="024879"/>
                </a:solidFill>
                <a:latin typeface="Arial" pitchFamily="34" charset="0"/>
                <a:ea typeface="Arial" pitchFamily="34" charset="-122"/>
                <a:cs typeface="Arial" pitchFamily="34" charset="-120"/>
              </a:rPr>
              <a:t>Before → After</a:t>
            </a:r>
            <a:endParaRPr lang="en-US" sz="2600"/>
          </a:p>
        </p:txBody>
      </p:sp>
      <p:pic>
        <p:nvPicPr>
          <p:cNvPr id="3" name="Image 0" descr="preencoded.png"/>
          <p:cNvPicPr>
            <a:picLocks noChangeAspect="1"/>
          </p:cNvPicPr>
          <p:nvPr/>
        </p:nvPicPr>
        <p:blipFill>
          <a:blip r:embed="rId3"/>
          <a:stretch>
            <a:fillRect/>
          </a:stretch>
        </p:blipFill>
        <p:spPr>
          <a:xfrm>
            <a:off x="7818120" y="292608"/>
            <a:ext cx="914400" cy="274730"/>
          </a:xfrm>
          <a:prstGeom prst="rect">
            <a:avLst/>
          </a:prstGeom>
        </p:spPr>
      </p:pic>
      <p:sp>
        <p:nvSpPr>
          <p:cNvPr id="4" name="Shape 1"/>
          <p:cNvSpPr/>
          <p:nvPr/>
        </p:nvSpPr>
        <p:spPr>
          <a:xfrm>
            <a:off x="457200" y="1097280"/>
            <a:ext cx="3977640" cy="457200"/>
          </a:xfrm>
          <a:prstGeom prst="roundRect">
            <a:avLst>
              <a:gd name="adj" fmla="val 10000"/>
            </a:avLst>
          </a:prstGeom>
          <a:solidFill>
            <a:srgbClr val="5A6B72"/>
          </a:solidFill>
          <a:ln/>
        </p:spPr>
        <p:txBody>
          <a:bodyPr/>
          <a:lstStyle/>
          <a:p>
            <a:endParaRPr lang="en-US"/>
          </a:p>
        </p:txBody>
      </p:sp>
      <p:sp>
        <p:nvSpPr>
          <p:cNvPr id="5" name="Text 2"/>
          <p:cNvSpPr/>
          <p:nvPr/>
        </p:nvSpPr>
        <p:spPr>
          <a:xfrm>
            <a:off x="457200" y="1097280"/>
            <a:ext cx="3977640" cy="457200"/>
          </a:xfrm>
          <a:prstGeom prst="rect">
            <a:avLst/>
          </a:prstGeom>
          <a:noFill/>
          <a:ln/>
        </p:spPr>
        <p:txBody>
          <a:bodyPr wrap="square" rtlCol="0" anchor="ctr"/>
          <a:lstStyle/>
          <a:p>
            <a:pPr marL="0" indent="0" algn="ctr">
              <a:buNone/>
            </a:pPr>
            <a:r>
              <a:rPr lang="en-US" sz="1400" b="1" dirty="0">
                <a:solidFill>
                  <a:srgbClr val="FFFFFF"/>
                </a:solidFill>
                <a:latin typeface="Arial" pitchFamily="34" charset="0"/>
                <a:ea typeface="Arial" pitchFamily="34" charset="-122"/>
                <a:cs typeface="Arial" pitchFamily="34" charset="-120"/>
              </a:rPr>
              <a:t>BEFORE — The Manual Way</a:t>
            </a:r>
            <a:endParaRPr lang="en-US" sz="1400" dirty="0"/>
          </a:p>
        </p:txBody>
      </p:sp>
      <p:sp>
        <p:nvSpPr>
          <p:cNvPr id="6" name="Text 3"/>
          <p:cNvSpPr/>
          <p:nvPr/>
        </p:nvSpPr>
        <p:spPr>
          <a:xfrm>
            <a:off x="548640" y="1691640"/>
            <a:ext cx="3794760" cy="2926080"/>
          </a:xfrm>
          <a:prstGeom prst="rect">
            <a:avLst/>
          </a:prstGeom>
          <a:noFill/>
          <a:ln/>
        </p:spPr>
        <p:txBody>
          <a:bodyPr wrap="square" rtlCol="0" anchor="t"/>
          <a:lstStyle/>
          <a:p>
            <a:pPr>
              <a:spcAft>
                <a:spcPts val="600"/>
              </a:spcAft>
              <a:buSzPct val="100000"/>
            </a:pPr>
            <a:endParaRPr lang="en-US" sz="1200" dirty="0">
              <a:solidFill>
                <a:srgbClr val="1B2227"/>
              </a:solidFill>
              <a:latin typeface="Calibri" pitchFamily="34" charset="0"/>
              <a:ea typeface="Calibri" pitchFamily="34" charset="-122"/>
              <a:cs typeface="Calibri" pitchFamily="34" charset="-120"/>
            </a:endParaRPr>
          </a:p>
          <a:p>
            <a:pPr marL="152400" indent="-152400">
              <a:spcAft>
                <a:spcPts val="600"/>
              </a:spcAft>
              <a:buSzPct val="100000"/>
              <a:buChar char="•"/>
            </a:pPr>
            <a:r>
              <a:rPr lang="en-US" sz="1200" dirty="0">
                <a:solidFill>
                  <a:srgbClr val="1B2227"/>
                </a:solidFill>
                <a:latin typeface="Calibri" pitchFamily="34" charset="0"/>
                <a:ea typeface="Calibri" pitchFamily="34" charset="-122"/>
                <a:cs typeface="Calibri" pitchFamily="34" charset="-120"/>
              </a:rPr>
              <a:t>1) Read each Cypress spec and understand selector intent</a:t>
            </a:r>
          </a:p>
          <a:p>
            <a:pPr marL="152400" indent="-152400">
              <a:spcAft>
                <a:spcPts val="600"/>
              </a:spcAft>
              <a:buSzPct val="100000"/>
              <a:buChar char="•"/>
            </a:pPr>
            <a:r>
              <a:rPr lang="en-US" sz="1200" dirty="0">
                <a:solidFill>
                  <a:srgbClr val="1B2227"/>
                </a:solidFill>
                <a:latin typeface="Calibri" pitchFamily="34" charset="0"/>
                <a:ea typeface="Calibri" pitchFamily="34" charset="-122"/>
                <a:cs typeface="Calibri" pitchFamily="34" charset="-120"/>
              </a:rPr>
              <a:t>2) Open browser </a:t>
            </a:r>
            <a:r>
              <a:rPr lang="en-US" sz="1200" dirty="0" err="1">
                <a:solidFill>
                  <a:srgbClr val="1B2227"/>
                </a:solidFill>
                <a:latin typeface="Calibri" pitchFamily="34" charset="0"/>
                <a:ea typeface="Calibri" pitchFamily="34" charset="-122"/>
                <a:cs typeface="Calibri" pitchFamily="34" charset="-120"/>
              </a:rPr>
              <a:t>DevTools</a:t>
            </a:r>
            <a:r>
              <a:rPr lang="en-US" sz="1200" dirty="0">
                <a:solidFill>
                  <a:srgbClr val="1B2227"/>
                </a:solidFill>
                <a:latin typeface="Calibri" pitchFamily="34" charset="0"/>
                <a:ea typeface="Calibri" pitchFamily="34" charset="-122"/>
                <a:cs typeface="Calibri" pitchFamily="34" charset="-120"/>
              </a:rPr>
              <a:t>, locate and test each selector</a:t>
            </a:r>
          </a:p>
          <a:p>
            <a:pPr marL="152400" indent="-152400">
              <a:spcAft>
                <a:spcPts val="600"/>
              </a:spcAft>
              <a:buSzPct val="100000"/>
              <a:buChar char="•"/>
            </a:pPr>
            <a:r>
              <a:rPr lang="en-US" sz="1200" dirty="0">
                <a:solidFill>
                  <a:srgbClr val="1B2227"/>
                </a:solidFill>
                <a:latin typeface="Calibri" pitchFamily="34" charset="0"/>
                <a:ea typeface="Calibri" pitchFamily="34" charset="-122"/>
                <a:cs typeface="Calibri" pitchFamily="34" charset="-120"/>
              </a:rPr>
              <a:t>3) Rewrite TypeScript Page Objects in Python (class by class)</a:t>
            </a:r>
          </a:p>
          <a:p>
            <a:pPr marL="152400" indent="-152400">
              <a:spcAft>
                <a:spcPts val="600"/>
              </a:spcAft>
              <a:buSzPct val="100000"/>
              <a:buChar char="•"/>
            </a:pPr>
            <a:r>
              <a:rPr lang="en-US" sz="1200" dirty="0">
                <a:solidFill>
                  <a:srgbClr val="1B2227"/>
                </a:solidFill>
                <a:latin typeface="Calibri" pitchFamily="34" charset="0"/>
                <a:ea typeface="Calibri" pitchFamily="34" charset="-122"/>
                <a:cs typeface="Calibri" pitchFamily="34" charset="-120"/>
              </a:rPr>
              <a:t>4) Author Gherkin .feature files from scratch per requirement</a:t>
            </a:r>
          </a:p>
          <a:p>
            <a:pPr marL="152400" indent="-152400">
              <a:spcAft>
                <a:spcPts val="600"/>
              </a:spcAft>
              <a:buSzPct val="100000"/>
              <a:buChar char="•"/>
            </a:pPr>
            <a:r>
              <a:rPr lang="en-US" sz="1200" dirty="0">
                <a:solidFill>
                  <a:srgbClr val="1B2227"/>
                </a:solidFill>
                <a:latin typeface="Calibri" pitchFamily="34" charset="0"/>
                <a:ea typeface="Calibri" pitchFamily="34" charset="-122"/>
                <a:cs typeface="Calibri" pitchFamily="34" charset="-120"/>
              </a:rPr>
              <a:t>5) Debug import path issues and dependency conflicts</a:t>
            </a:r>
          </a:p>
          <a:p>
            <a:pPr marL="152400" indent="-152400">
              <a:spcAft>
                <a:spcPts val="600"/>
              </a:spcAft>
              <a:buSzPct val="100000"/>
              <a:buChar char="•"/>
            </a:pPr>
            <a:r>
              <a:rPr lang="en-US" sz="1200" dirty="0">
                <a:solidFill>
                  <a:srgbClr val="1B2227"/>
                </a:solidFill>
                <a:latin typeface="Calibri" pitchFamily="34" charset="0"/>
                <a:ea typeface="Calibri" pitchFamily="34" charset="-122"/>
                <a:cs typeface="Calibri" pitchFamily="34" charset="-120"/>
              </a:rPr>
              <a:t>6) Diagnose Vue reactive timing gaps causing flaky assertions</a:t>
            </a:r>
          </a:p>
          <a:p>
            <a:pPr marL="152400" indent="-152400">
              <a:spcAft>
                <a:spcPts val="600"/>
              </a:spcAft>
              <a:buSzPct val="100000"/>
              <a:buChar char="•"/>
            </a:pPr>
            <a:r>
              <a:rPr lang="en-US" sz="1200" dirty="0">
                <a:solidFill>
                  <a:srgbClr val="1B2227"/>
                </a:solidFill>
                <a:latin typeface="Calibri" pitchFamily="34" charset="0"/>
                <a:ea typeface="Calibri" pitchFamily="34" charset="-122"/>
                <a:cs typeface="Calibri" pitchFamily="34" charset="-120"/>
              </a:rPr>
              <a:t>Time: 2-3 days (est. 16-24 h) for 7 requirements</a:t>
            </a:r>
          </a:p>
        </p:txBody>
      </p:sp>
      <p:sp>
        <p:nvSpPr>
          <p:cNvPr id="7" name="Shape 4"/>
          <p:cNvSpPr/>
          <p:nvPr/>
        </p:nvSpPr>
        <p:spPr>
          <a:xfrm>
            <a:off x="4800600" y="1097280"/>
            <a:ext cx="3977640" cy="457200"/>
          </a:xfrm>
          <a:prstGeom prst="roundRect">
            <a:avLst>
              <a:gd name="adj" fmla="val 10000"/>
            </a:avLst>
          </a:prstGeom>
          <a:solidFill>
            <a:srgbClr val="075056"/>
          </a:solidFill>
          <a:ln/>
        </p:spPr>
        <p:txBody>
          <a:bodyPr/>
          <a:lstStyle/>
          <a:p>
            <a:r>
              <a:rPr lang="en-US" sz="1400" b="1" dirty="0">
                <a:solidFill>
                  <a:srgbClr val="FFFFFF"/>
                </a:solidFill>
                <a:latin typeface="Arial" pitchFamily="34" charset="0"/>
                <a:ea typeface="Arial" pitchFamily="34" charset="-122"/>
                <a:cs typeface="Arial" pitchFamily="34" charset="-120"/>
              </a:rPr>
              <a:t>         AFTER - Agent-Driven Migration</a:t>
            </a:r>
            <a:endParaRPr lang="en-US" sz="1400" dirty="0"/>
          </a:p>
        </p:txBody>
      </p:sp>
      <p:sp>
        <p:nvSpPr>
          <p:cNvPr id="8" name="Text 5"/>
          <p:cNvSpPr/>
          <p:nvPr/>
        </p:nvSpPr>
        <p:spPr>
          <a:xfrm>
            <a:off x="4709160" y="1097280"/>
            <a:ext cx="3977640" cy="457200"/>
          </a:xfrm>
          <a:prstGeom prst="rect">
            <a:avLst/>
          </a:prstGeom>
          <a:noFill/>
          <a:ln/>
        </p:spPr>
        <p:txBody>
          <a:bodyPr wrap="square" rtlCol="0" anchor="ctr"/>
          <a:lstStyle/>
          <a:p>
            <a:pPr marL="0" indent="0" algn="ctr">
              <a:buNone/>
            </a:pPr>
            <a:endParaRPr lang="en-US" sz="1400"/>
          </a:p>
          <a:p>
            <a:pPr marL="0" indent="0" algn="ctr">
              <a:buNone/>
            </a:pPr>
            <a:endParaRPr lang="en-US" sz="1400"/>
          </a:p>
          <a:p>
            <a:pPr marL="0" indent="0" algn="ctr">
              <a:buNone/>
            </a:pPr>
            <a:endParaRPr lang="en-US" sz="1400"/>
          </a:p>
          <a:p>
            <a:pPr marL="0" indent="0" algn="ctr">
              <a:buNone/>
            </a:pPr>
            <a:endParaRPr lang="en-US" sz="1400"/>
          </a:p>
          <a:p>
            <a:pPr marL="0" indent="0" algn="ctr">
              <a:buNone/>
            </a:pPr>
            <a:endParaRPr lang="en-US" sz="1400"/>
          </a:p>
          <a:p>
            <a:pPr marL="0" indent="0" algn="ctr">
              <a:buNone/>
            </a:pPr>
            <a:endParaRPr lang="en-US" sz="1400"/>
          </a:p>
          <a:p>
            <a:pPr marL="0" indent="0" algn="ctr">
              <a:buNone/>
            </a:pPr>
            <a:endParaRPr lang="en-US" sz="1400"/>
          </a:p>
          <a:p>
            <a:pPr marL="0" indent="0" algn="ctr">
              <a:buNone/>
            </a:pPr>
            <a:endParaRPr lang="en-US" sz="1400"/>
          </a:p>
          <a:p>
            <a:pPr marL="0" indent="0" algn="ctr">
              <a:buNone/>
            </a:pPr>
            <a:endParaRPr lang="en-US" sz="1400"/>
          </a:p>
          <a:p>
            <a:pPr marL="0" indent="0" algn="ctr">
              <a:buNone/>
            </a:pPr>
            <a:endParaRPr lang="en-US" sz="1400"/>
          </a:p>
        </p:txBody>
      </p:sp>
      <p:sp>
        <p:nvSpPr>
          <p:cNvPr id="9" name="Text 6"/>
          <p:cNvSpPr/>
          <p:nvPr/>
        </p:nvSpPr>
        <p:spPr>
          <a:xfrm>
            <a:off x="4800600" y="1901542"/>
            <a:ext cx="3794760" cy="2761898"/>
          </a:xfrm>
          <a:prstGeom prst="rect">
            <a:avLst/>
          </a:prstGeom>
          <a:noFill/>
          <a:ln/>
        </p:spPr>
        <p:txBody>
          <a:bodyPr wrap="square" rtlCol="0" anchor="t"/>
          <a:lstStyle/>
          <a:p>
            <a:pPr marL="152400" indent="-152400">
              <a:spcAft>
                <a:spcPts val="600"/>
              </a:spcAft>
              <a:buSzPct val="100000"/>
              <a:buChar char="•"/>
            </a:pPr>
            <a:r>
              <a:rPr lang="en-US" sz="1200" dirty="0">
                <a:latin typeface="Arial" panose="020B0604020202020204" pitchFamily="34" charset="0"/>
                <a:cs typeface="Arial" panose="020B0604020202020204" pitchFamily="34" charset="0"/>
              </a:rPr>
              <a:t>Claude Code agent: snapshot -&gt; validate selectors -&gt; generate POM -&gt; run pytest -&gt; patch</a:t>
            </a:r>
          </a:p>
          <a:p>
            <a:pPr marL="152400" indent="-152400">
              <a:spcAft>
                <a:spcPts val="600"/>
              </a:spcAft>
              <a:buSzPct val="100000"/>
              <a:buChar char="•"/>
            </a:pPr>
            <a:r>
              <a:rPr lang="en-US" sz="1200" dirty="0">
                <a:latin typeface="Arial" panose="020B0604020202020204" pitchFamily="34" charset="0"/>
                <a:cs typeface="Arial" panose="020B0604020202020204" pitchFamily="34" charset="0"/>
              </a:rPr>
              <a:t>2 patch cycles required (Employee ID conflict + Vue timing race)</a:t>
            </a:r>
          </a:p>
          <a:p>
            <a:pPr marL="152400" indent="-152400">
              <a:spcAft>
                <a:spcPts val="600"/>
              </a:spcAft>
              <a:buSzPct val="100000"/>
              <a:buChar char="•"/>
            </a:pPr>
            <a:r>
              <a:rPr lang="en-US" sz="1200" dirty="0">
                <a:latin typeface="Arial" panose="020B0604020202020204" pitchFamily="34" charset="0"/>
                <a:cs typeface="Arial" panose="020B0604020202020204" pitchFamily="34" charset="0"/>
              </a:rPr>
              <a:t>First-pass accuracy: ~80% (6/8 tests pass without manual intervention)</a:t>
            </a:r>
          </a:p>
          <a:p>
            <a:pPr marL="152400" indent="-152400">
              <a:spcAft>
                <a:spcPts val="600"/>
              </a:spcAft>
              <a:buSzPct val="100000"/>
              <a:buChar char="•"/>
            </a:pPr>
            <a:r>
              <a:rPr lang="en-US" sz="1200" dirty="0">
                <a:latin typeface="Arial" panose="020B0604020202020204" pitchFamily="34" charset="0"/>
                <a:cs typeface="Arial" panose="020B0604020202020204" pitchFamily="34" charset="0"/>
              </a:rPr>
              <a:t>Time: 3.5 h total agent session for same 7 requirements</a:t>
            </a:r>
          </a:p>
          <a:p>
            <a:pPr marL="152400" indent="-152400">
              <a:spcAft>
                <a:spcPts val="600"/>
              </a:spcAft>
              <a:buSzPct val="100000"/>
              <a:buChar char="•"/>
            </a:pPr>
            <a:r>
              <a:rPr lang="en-US" sz="1200" dirty="0">
                <a:latin typeface="Arial" panose="020B0604020202020204" pitchFamily="34" charset="0"/>
                <a:cs typeface="Arial" panose="020B0604020202020204" pitchFamily="34" charset="0"/>
              </a:rPr>
              <a:t>75% time reduction vs. manual baseline</a:t>
            </a:r>
          </a:p>
        </p:txBody>
      </p:sp>
      <p:sp>
        <p:nvSpPr>
          <p:cNvPr id="10" name="Text 7"/>
          <p:cNvSpPr/>
          <p:nvPr/>
        </p:nvSpPr>
        <p:spPr>
          <a:xfrm>
            <a:off x="457200" y="4709160"/>
            <a:ext cx="8229600" cy="274320"/>
          </a:xfrm>
          <a:prstGeom prst="rect">
            <a:avLst/>
          </a:prstGeom>
          <a:noFill/>
          <a:ln/>
        </p:spPr>
        <p:txBody>
          <a:bodyPr wrap="square" rtlCol="0" anchor="ctr"/>
          <a:lstStyle/>
          <a:p>
            <a:pPr marL="0" indent="0">
              <a:buNone/>
            </a:pPr>
            <a:endParaRPr lang="en-US" sz="10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457200" y="274320"/>
            <a:ext cx="7498080" cy="548640"/>
          </a:xfrm>
          <a:prstGeom prst="rect">
            <a:avLst/>
          </a:prstGeom>
          <a:noFill/>
          <a:ln/>
        </p:spPr>
        <p:txBody>
          <a:bodyPr wrap="square" rtlCol="0" anchor="ctr"/>
          <a:lstStyle/>
          <a:p>
            <a:pPr marL="0" indent="0" algn="l">
              <a:buNone/>
            </a:pPr>
            <a:r>
              <a:rPr lang="en-US" sz="2600" b="1">
                <a:solidFill>
                  <a:srgbClr val="024879"/>
                </a:solidFill>
                <a:latin typeface="Arial" pitchFamily="34" charset="0"/>
                <a:ea typeface="Arial" pitchFamily="34" charset="-122"/>
                <a:cs typeface="Arial" pitchFamily="34" charset="-120"/>
              </a:rPr>
              <a:t>AI Impact Scorecard</a:t>
            </a:r>
            <a:endParaRPr lang="en-US" sz="2600"/>
          </a:p>
        </p:txBody>
      </p:sp>
      <p:pic>
        <p:nvPicPr>
          <p:cNvPr id="3" name="Image 0" descr="preencoded.png"/>
          <p:cNvPicPr>
            <a:picLocks noChangeAspect="1"/>
          </p:cNvPicPr>
          <p:nvPr/>
        </p:nvPicPr>
        <p:blipFill>
          <a:blip r:embed="rId3"/>
          <a:stretch>
            <a:fillRect/>
          </a:stretch>
        </p:blipFill>
        <p:spPr>
          <a:xfrm>
            <a:off x="7818120" y="292608"/>
            <a:ext cx="914400" cy="274730"/>
          </a:xfrm>
          <a:prstGeom prst="rect">
            <a:avLst/>
          </a:prstGeom>
        </p:spPr>
      </p:pic>
      <p:graphicFrame>
        <p:nvGraphicFramePr>
          <p:cNvPr id="7" name="Table 0"/>
          <p:cNvGraphicFramePr>
            <a:graphicFrameLocks noGrp="1"/>
          </p:cNvGraphicFramePr>
          <p:nvPr/>
        </p:nvGraphicFramePr>
        <p:xfrm>
          <a:off x="457200" y="1143000"/>
          <a:ext cx="8229600" cy="2240280"/>
        </p:xfrm>
        <a:graphic>
          <a:graphicData uri="http://schemas.openxmlformats.org/drawingml/2006/table">
            <a:tbl>
              <a:tblPr/>
              <a:tblGrid>
                <a:gridCol w="27432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828800">
                  <a:extLst>
                    <a:ext uri="{9D8B030D-6E8A-4147-A177-3AD203B41FA5}">
                      <a16:colId xmlns:a16="http://schemas.microsoft.com/office/drawing/2014/main" val="20003"/>
                    </a:ext>
                  </a:extLst>
                </a:gridCol>
              </a:tblGrid>
              <a:tr h="411480">
                <a:tc>
                  <a:txBody>
                    <a:bodyPr/>
                    <a:lstStyle/>
                    <a:p>
                      <a:pPr marL="0" indent="0">
                        <a:buNone/>
                      </a:pPr>
                      <a:r>
                        <a:rPr lang="en-US" sz="1200" b="1">
                          <a:solidFill>
                            <a:srgbClr val="FFFFFF"/>
                          </a:solidFill>
                          <a:latin typeface="Calibri" pitchFamily="34" charset="0"/>
                          <a:ea typeface="Calibri" pitchFamily="34" charset="-122"/>
                          <a:cs typeface="Calibri" pitchFamily="34" charset="-120"/>
                        </a:rPr>
                        <a:t>Metric</a:t>
                      </a:r>
                      <a:endParaRPr lang="en-US" sz="12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075056"/>
                    </a:solidFill>
                  </a:tcPr>
                </a:tc>
                <a:tc>
                  <a:txBody>
                    <a:bodyPr/>
                    <a:lstStyle/>
                    <a:p>
                      <a:pPr marL="0" indent="0">
                        <a:buNone/>
                      </a:pPr>
                      <a:r>
                        <a:rPr lang="en-US" sz="1200" b="1">
                          <a:solidFill>
                            <a:srgbClr val="FFFFFF"/>
                          </a:solidFill>
                          <a:latin typeface="Calibri" pitchFamily="34" charset="0"/>
                          <a:ea typeface="Calibri" pitchFamily="34" charset="-122"/>
                          <a:cs typeface="Calibri" pitchFamily="34" charset="-120"/>
                        </a:rPr>
                        <a:t>Before AI</a:t>
                      </a:r>
                      <a:endParaRPr lang="en-US" sz="12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075056"/>
                    </a:solidFill>
                  </a:tcPr>
                </a:tc>
                <a:tc>
                  <a:txBody>
                    <a:bodyPr/>
                    <a:lstStyle/>
                    <a:p>
                      <a:pPr marL="0" indent="0">
                        <a:buNone/>
                      </a:pPr>
                      <a:r>
                        <a:rPr lang="en-US" sz="1200" b="1">
                          <a:solidFill>
                            <a:srgbClr val="FFFFFF"/>
                          </a:solidFill>
                          <a:latin typeface="Calibri" pitchFamily="34" charset="0"/>
                          <a:ea typeface="Calibri" pitchFamily="34" charset="-122"/>
                          <a:cs typeface="Calibri" pitchFamily="34" charset="-120"/>
                        </a:rPr>
                        <a:t>After AI</a:t>
                      </a:r>
                      <a:endParaRPr lang="en-US" sz="12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075056"/>
                    </a:solidFill>
                  </a:tcPr>
                </a:tc>
                <a:tc>
                  <a:txBody>
                    <a:bodyPr/>
                    <a:lstStyle/>
                    <a:p>
                      <a:pPr marL="0" indent="0">
                        <a:buNone/>
                      </a:pPr>
                      <a:r>
                        <a:rPr lang="en-US" sz="1200" b="1">
                          <a:solidFill>
                            <a:srgbClr val="FFFFFF"/>
                          </a:solidFill>
                          <a:latin typeface="Calibri" pitchFamily="34" charset="0"/>
                          <a:ea typeface="Calibri" pitchFamily="34" charset="-122"/>
                          <a:cs typeface="Calibri" pitchFamily="34" charset="-120"/>
                        </a:rPr>
                        <a:t>Impact</a:t>
                      </a:r>
                      <a:endParaRPr lang="en-US" sz="12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075056"/>
                    </a:solidFill>
                  </a:tcPr>
                </a:tc>
                <a:extLst>
                  <a:ext uri="{0D108BD9-81ED-4DB2-BD59-A6C34878D82A}">
                    <a16:rowId xmlns:a16="http://schemas.microsoft.com/office/drawing/2014/main" val="10000"/>
                  </a:ext>
                </a:extLst>
              </a:tr>
              <a:tr h="457200">
                <a:tc>
                  <a:txBody>
                    <a:bodyPr/>
                    <a:lstStyle/>
                    <a:p>
                      <a:pPr marL="0" indent="0">
                        <a:buNone/>
                      </a:pPr>
                      <a:r>
                        <a:rPr lang="en-US" sz="1200" dirty="0">
                          <a:solidFill>
                            <a:srgbClr val="1B2227"/>
                          </a:solidFill>
                          <a:latin typeface="Calibri" pitchFamily="34" charset="0"/>
                          <a:ea typeface="Calibri" pitchFamily="34" charset="-122"/>
                          <a:cs typeface="Calibri" pitchFamily="34" charset="-120"/>
                        </a:rPr>
                        <a:t>Scenarios in Cypress framework - Typescript</a:t>
                      </a:r>
                      <a:endParaRPr lang="en-US" sz="1200" dirty="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tc>
                  <a:txBody>
                    <a:bodyPr/>
                    <a:lstStyle/>
                    <a:p>
                      <a:pPr marL="0" indent="0">
                        <a:buNone/>
                      </a:pPr>
                      <a:r>
                        <a:rPr lang="en-US" sz="1200" dirty="0">
                          <a:solidFill>
                            <a:srgbClr val="1B2227"/>
                          </a:solidFill>
                          <a:latin typeface="Calibri" pitchFamily="34" charset="0"/>
                          <a:ea typeface="Calibri" pitchFamily="34" charset="-122"/>
                          <a:cs typeface="Calibri" pitchFamily="34" charset="-120"/>
                        </a:rPr>
                        <a:t>8 Hours</a:t>
                      </a:r>
                      <a:endParaRPr lang="en-US" sz="1200" dirty="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tc>
                  <a:txBody>
                    <a:bodyPr/>
                    <a:lstStyle/>
                    <a:p>
                      <a:pPr marL="0" indent="0">
                        <a:buNone/>
                      </a:pPr>
                      <a:r>
                        <a:rPr lang="en-US" sz="1200" dirty="0">
                          <a:solidFill>
                            <a:srgbClr val="1B2227"/>
                          </a:solidFill>
                          <a:latin typeface="Calibri" pitchFamily="34" charset="0"/>
                          <a:ea typeface="Calibri" pitchFamily="34" charset="-122"/>
                          <a:cs typeface="Calibri" pitchFamily="34" charset="-120"/>
                        </a:rPr>
                        <a:t>1 Hour</a:t>
                      </a:r>
                      <a:endParaRPr lang="en-US" sz="1200" dirty="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tc>
                  <a:txBody>
                    <a:bodyPr/>
                    <a:lstStyle/>
                    <a:p>
                      <a:pPr marL="0" indent="0">
                        <a:buNone/>
                      </a:pPr>
                      <a:r>
                        <a:rPr lang="en-US" sz="1200" dirty="0">
                          <a:solidFill>
                            <a:srgbClr val="1B2227"/>
                          </a:solidFill>
                          <a:latin typeface="Calibri" pitchFamily="34" charset="0"/>
                          <a:ea typeface="Calibri" pitchFamily="34" charset="-122"/>
                          <a:cs typeface="Calibri" pitchFamily="34" charset="-120"/>
                        </a:rPr>
                        <a:t>87,5 % Time saved</a:t>
                      </a:r>
                      <a:endParaRPr lang="en-US" sz="1200" dirty="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buNone/>
                      </a:pPr>
                      <a:r>
                        <a:rPr lang="en-US" sz="1200" dirty="0">
                          <a:solidFill>
                            <a:srgbClr val="1B2227"/>
                          </a:solidFill>
                          <a:latin typeface="Calibri" pitchFamily="34" charset="0"/>
                          <a:ea typeface="Calibri" pitchFamily="34" charset="-122"/>
                          <a:cs typeface="Calibri" pitchFamily="34" charset="-120"/>
                        </a:rPr>
                        <a:t>Scenarios in Playwright framework – BDD and Python</a:t>
                      </a:r>
                      <a:endParaRPr lang="en-US" sz="1200" dirty="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tc>
                  <a:txBody>
                    <a:bodyPr/>
                    <a:lstStyle/>
                    <a:p>
                      <a:pPr marL="0" indent="0">
                        <a:buNone/>
                      </a:pPr>
                      <a:r>
                        <a:rPr lang="en-US" sz="1200" dirty="0">
                          <a:solidFill>
                            <a:srgbClr val="1B2227"/>
                          </a:solidFill>
                          <a:latin typeface="Calibri" pitchFamily="34" charset="0"/>
                          <a:ea typeface="Calibri" pitchFamily="34" charset="-122"/>
                          <a:cs typeface="Calibri" pitchFamily="34" charset="-120"/>
                        </a:rPr>
                        <a:t>12 Hours</a:t>
                      </a:r>
                      <a:endParaRPr lang="en-US" sz="1200" dirty="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tc>
                  <a:txBody>
                    <a:bodyPr/>
                    <a:lstStyle/>
                    <a:p>
                      <a:pPr marL="0" indent="0">
                        <a:buNone/>
                      </a:pPr>
                      <a:r>
                        <a:rPr lang="en-US" sz="1200" dirty="0">
                          <a:solidFill>
                            <a:srgbClr val="1B2227"/>
                          </a:solidFill>
                          <a:latin typeface="Calibri" pitchFamily="34" charset="0"/>
                          <a:ea typeface="Calibri" pitchFamily="34" charset="-122"/>
                          <a:cs typeface="Calibri" pitchFamily="34" charset="-120"/>
                        </a:rPr>
                        <a:t>1 Hour</a:t>
                      </a:r>
                      <a:endParaRPr lang="en-US" sz="1200" dirty="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tc>
                  <a:txBody>
                    <a:bodyPr/>
                    <a:lstStyle/>
                    <a:p>
                      <a:pPr marL="0" indent="0">
                        <a:buNone/>
                      </a:pPr>
                      <a:r>
                        <a:rPr lang="en-US" sz="1200" dirty="0">
                          <a:solidFill>
                            <a:srgbClr val="1B2227"/>
                          </a:solidFill>
                          <a:latin typeface="Calibri" pitchFamily="34" charset="0"/>
                          <a:ea typeface="Calibri" pitchFamily="34" charset="-122"/>
                          <a:cs typeface="Calibri" pitchFamily="34" charset="-120"/>
                        </a:rPr>
                        <a:t>91,6 % Time saved</a:t>
                      </a:r>
                      <a:endParaRPr lang="en-US" sz="1200" dirty="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57200">
                <a:tc>
                  <a:txBody>
                    <a:bodyPr/>
                    <a:lstStyle/>
                    <a:p>
                      <a:pPr marL="0" indent="0">
                        <a:buNone/>
                      </a:pPr>
                      <a:r>
                        <a:rPr lang="en-US" sz="1200" dirty="0">
                          <a:solidFill>
                            <a:srgbClr val="1B2227"/>
                          </a:solidFill>
                          <a:latin typeface="Calibri" pitchFamily="34" charset="0"/>
                          <a:ea typeface="Calibri" pitchFamily="34" charset="-122"/>
                          <a:cs typeface="Calibri" pitchFamily="34" charset="-120"/>
                        </a:rPr>
                        <a:t>Quality / error rate</a:t>
                      </a:r>
                      <a:endParaRPr lang="en-US" sz="1200" dirty="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tc>
                  <a:txBody>
                    <a:bodyPr/>
                    <a:lstStyle/>
                    <a:p>
                      <a:pPr marL="0" indent="0">
                        <a:buNone/>
                      </a:pPr>
                      <a:r>
                        <a:rPr lang="en-US" sz="1200" dirty="0">
                          <a:solidFill>
                            <a:srgbClr val="1B2227"/>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tc>
                  <a:txBody>
                    <a:bodyPr/>
                    <a:lstStyle/>
                    <a:p>
                      <a:pPr marL="0" indent="0">
                        <a:buNone/>
                      </a:pPr>
                      <a:r>
                        <a:rPr lang="en-US" sz="1200" dirty="0">
                          <a:solidFill>
                            <a:srgbClr val="1B2227"/>
                          </a:solidFill>
                          <a:latin typeface="Calibri" pitchFamily="34" charset="0"/>
                          <a:ea typeface="Calibri" pitchFamily="34" charset="-122"/>
                          <a:cs typeface="Calibri" pitchFamily="34" charset="-120"/>
                        </a:rPr>
                        <a:t>Hight</a:t>
                      </a:r>
                      <a:endParaRPr lang="en-US" sz="1200" dirty="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tc>
                  <a:txBody>
                    <a:bodyPr/>
                    <a:lstStyle/>
                    <a:p>
                      <a:pPr marL="0" indent="0">
                        <a:buNone/>
                      </a:pPr>
                      <a:r>
                        <a:rPr lang="en-US" sz="1200" dirty="0">
                          <a:solidFill>
                            <a:srgbClr val="1B2227"/>
                          </a:solidFill>
                          <a:latin typeface="Calibri" pitchFamily="34" charset="0"/>
                          <a:ea typeface="Calibri" pitchFamily="34" charset="-122"/>
                          <a:cs typeface="Calibri" pitchFamily="34" charset="-120"/>
                        </a:rPr>
                        <a:t>Coverage and speed in test scenarios</a:t>
                      </a:r>
                      <a:endParaRPr lang="en-US" sz="1200" dirty="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buNone/>
                      </a:pPr>
                      <a:r>
                        <a:rPr lang="en-US" sz="1200" dirty="0">
                          <a:solidFill>
                            <a:srgbClr val="1B2227"/>
                          </a:solidFill>
                          <a:latin typeface="Calibri" pitchFamily="34" charset="0"/>
                          <a:ea typeface="Calibri" pitchFamily="34" charset="-122"/>
                          <a:cs typeface="Calibri" pitchFamily="34" charset="-120"/>
                        </a:rPr>
                        <a:t>Team benefit</a:t>
                      </a:r>
                      <a:endParaRPr lang="en-US" sz="1200" dirty="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tc>
                  <a:txBody>
                    <a:bodyPr/>
                    <a:lstStyle/>
                    <a:p>
                      <a:pPr marL="0" indent="0">
                        <a:buNone/>
                      </a:pPr>
                      <a:r>
                        <a:rPr lang="en-US" sz="1200">
                          <a:solidFill>
                            <a:srgbClr val="1B2227"/>
                          </a:solidFill>
                          <a:latin typeface="Calibri" pitchFamily="34" charset="0"/>
                          <a:ea typeface="Calibri" pitchFamily="34" charset="-122"/>
                          <a:cs typeface="Calibri" pitchFamily="34" charset="-120"/>
                        </a:rPr>
                        <a:t>N/A</a:t>
                      </a:r>
                      <a:endParaRPr lang="en-US" sz="12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tc>
                  <a:txBody>
                    <a:bodyPr/>
                    <a:lstStyle/>
                    <a:p>
                      <a:pPr marL="0" indent="0">
                        <a:buNone/>
                      </a:pPr>
                      <a:r>
                        <a:rPr lang="en-US" sz="1200" dirty="0">
                          <a:solidFill>
                            <a:srgbClr val="1B2227"/>
                          </a:solidFill>
                          <a:latin typeface="Calibri" pitchFamily="34" charset="0"/>
                          <a:ea typeface="Calibri" pitchFamily="34" charset="-122"/>
                          <a:cs typeface="Calibri" pitchFamily="34" charset="-120"/>
                        </a:rPr>
                        <a:t>3 hours</a:t>
                      </a:r>
                      <a:endParaRPr lang="en-US" sz="1200" dirty="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tc>
                  <a:txBody>
                    <a:bodyPr/>
                    <a:lstStyle/>
                    <a:p>
                      <a:pPr marL="0" indent="0">
                        <a:buNone/>
                      </a:pPr>
                      <a:r>
                        <a:rPr lang="en-US" sz="1200" dirty="0">
                          <a:solidFill>
                            <a:srgbClr val="1B2227"/>
                          </a:solidFill>
                          <a:latin typeface="Calibri" pitchFamily="34" charset="0"/>
                          <a:ea typeface="Calibri" pitchFamily="34" charset="-122"/>
                          <a:cs typeface="Calibri" pitchFamily="34" charset="-120"/>
                        </a:rPr>
                        <a:t>Benefit about test regression</a:t>
                      </a:r>
                      <a:endParaRPr lang="en-US" sz="1200" dirty="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5" name="Shape 1"/>
          <p:cNvSpPr/>
          <p:nvPr/>
        </p:nvSpPr>
        <p:spPr>
          <a:xfrm>
            <a:off x="457200" y="3977640"/>
            <a:ext cx="8229600" cy="685800"/>
          </a:xfrm>
          <a:prstGeom prst="roundRect">
            <a:avLst>
              <a:gd name="adj" fmla="val 6667"/>
            </a:avLst>
          </a:prstGeom>
          <a:solidFill>
            <a:srgbClr val="DFE7ED"/>
          </a:solidFill>
          <a:ln w="12700">
            <a:solidFill>
              <a:srgbClr val="C5DCEE"/>
            </a:solidFill>
            <a:prstDash val="solid"/>
          </a:ln>
        </p:spPr>
        <p:txBody>
          <a:bodyPr/>
          <a:lstStyle/>
          <a:p>
            <a:endParaRPr lang="en-US"/>
          </a:p>
        </p:txBody>
      </p:sp>
      <p:sp>
        <p:nvSpPr>
          <p:cNvPr id="6" name="Text 2"/>
          <p:cNvSpPr/>
          <p:nvPr/>
        </p:nvSpPr>
        <p:spPr>
          <a:xfrm>
            <a:off x="566928" y="3977640"/>
            <a:ext cx="8010144" cy="685800"/>
          </a:xfrm>
          <a:prstGeom prst="rect">
            <a:avLst/>
          </a:prstGeom>
          <a:noFill/>
          <a:ln/>
        </p:spPr>
        <p:txBody>
          <a:bodyPr wrap="square" rtlCol="0" anchor="ctr"/>
          <a:lstStyle/>
          <a:p>
            <a:r>
              <a:rPr lang="en-US" sz="1100" dirty="0"/>
              <a:t>Agent-driven migration reduced the Cypress-to-Playwright turnaround from 2-3 days to 3.5 hours (75% time reduction). All 3 failure modes caught and fixed within the same session. The agent definition, prompts, and CLAUDE.md are reusable across future migrations.</a:t>
            </a:r>
          </a:p>
          <a:p>
            <a:pPr marL="0" indent="0" algn="l">
              <a:buNone/>
            </a:pP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7498080" cy="548640"/>
          </a:xfrm>
          <a:prstGeom prst="rect">
            <a:avLst/>
          </a:prstGeom>
          <a:noFill/>
          <a:ln/>
        </p:spPr>
        <p:txBody>
          <a:bodyPr wrap="square" rtlCol="0" anchor="ctr"/>
          <a:lstStyle/>
          <a:p>
            <a:pPr marL="0" indent="0" algn="l">
              <a:buNone/>
            </a:pPr>
            <a:r>
              <a:rPr lang="en-US" sz="2600" b="1">
                <a:solidFill>
                  <a:srgbClr val="024879"/>
                </a:solidFill>
                <a:latin typeface="Arial" pitchFamily="34" charset="0"/>
                <a:ea typeface="Arial" pitchFamily="34" charset="-122"/>
                <a:cs typeface="Arial" pitchFamily="34" charset="-120"/>
              </a:rPr>
              <a:t>Reusability &amp; Scale</a:t>
            </a:r>
            <a:endParaRPr lang="en-US" sz="2600"/>
          </a:p>
        </p:txBody>
      </p:sp>
      <p:pic>
        <p:nvPicPr>
          <p:cNvPr id="3" name="Image 0" descr="preencoded.png"/>
          <p:cNvPicPr>
            <a:picLocks noChangeAspect="1"/>
          </p:cNvPicPr>
          <p:nvPr/>
        </p:nvPicPr>
        <p:blipFill>
          <a:blip r:embed="rId3"/>
          <a:stretch>
            <a:fillRect/>
          </a:stretch>
        </p:blipFill>
        <p:spPr>
          <a:xfrm>
            <a:off x="7818120" y="292608"/>
            <a:ext cx="914400" cy="274730"/>
          </a:xfrm>
          <a:prstGeom prst="rect">
            <a:avLst/>
          </a:prstGeom>
        </p:spPr>
      </p:pic>
      <p:sp>
        <p:nvSpPr>
          <p:cNvPr id="4" name="Shape 1"/>
          <p:cNvSpPr/>
          <p:nvPr/>
        </p:nvSpPr>
        <p:spPr>
          <a:xfrm>
            <a:off x="457200" y="1143000"/>
            <a:ext cx="3977640" cy="1417320"/>
          </a:xfrm>
          <a:prstGeom prst="roundRect">
            <a:avLst>
              <a:gd name="adj" fmla="val 3871"/>
            </a:avLst>
          </a:prstGeom>
          <a:solidFill>
            <a:srgbClr val="DFE7ED"/>
          </a:solidFill>
          <a:ln/>
        </p:spPr>
        <p:txBody>
          <a:bodyPr/>
          <a:lstStyle/>
          <a:p>
            <a:endParaRPr lang="en-US"/>
          </a:p>
        </p:txBody>
      </p:sp>
      <p:sp>
        <p:nvSpPr>
          <p:cNvPr id="5" name="Shape 2"/>
          <p:cNvSpPr/>
          <p:nvPr/>
        </p:nvSpPr>
        <p:spPr>
          <a:xfrm>
            <a:off x="594360" y="1280160"/>
            <a:ext cx="365760" cy="365760"/>
          </a:xfrm>
          <a:prstGeom prst="ellipse">
            <a:avLst/>
          </a:prstGeom>
          <a:solidFill>
            <a:srgbClr val="075056"/>
          </a:solidFill>
          <a:ln/>
        </p:spPr>
        <p:txBody>
          <a:bodyPr/>
          <a:lstStyle/>
          <a:p>
            <a:endParaRPr lang="en-US"/>
          </a:p>
        </p:txBody>
      </p:sp>
      <p:sp>
        <p:nvSpPr>
          <p:cNvPr id="6" name="Text 3"/>
          <p:cNvSpPr/>
          <p:nvPr/>
        </p:nvSpPr>
        <p:spPr>
          <a:xfrm>
            <a:off x="594360" y="1280160"/>
            <a:ext cx="365760" cy="365760"/>
          </a:xfrm>
          <a:prstGeom prst="rect">
            <a:avLst/>
          </a:prstGeom>
          <a:noFill/>
          <a:ln/>
        </p:spPr>
        <p:txBody>
          <a:bodyPr wrap="square" rtlCol="0" anchor="ctr"/>
          <a:lstStyle/>
          <a:p>
            <a:pPr marL="0" indent="0" algn="ctr">
              <a:buNone/>
            </a:pPr>
            <a:r>
              <a:rPr lang="en-US" sz="1600" b="1">
                <a:solidFill>
                  <a:srgbClr val="FFFFFF"/>
                </a:solidFill>
                <a:latin typeface="Arial" pitchFamily="34" charset="0"/>
                <a:ea typeface="Arial" pitchFamily="34" charset="-122"/>
                <a:cs typeface="Arial" pitchFamily="34" charset="-120"/>
              </a:rPr>
              <a:t>R</a:t>
            </a:r>
            <a:endParaRPr lang="en-US" sz="1600"/>
          </a:p>
        </p:txBody>
      </p:sp>
      <p:sp>
        <p:nvSpPr>
          <p:cNvPr id="7" name="Text 4"/>
          <p:cNvSpPr/>
          <p:nvPr/>
        </p:nvSpPr>
        <p:spPr>
          <a:xfrm>
            <a:off x="1097280" y="1280160"/>
            <a:ext cx="3200400" cy="365760"/>
          </a:xfrm>
          <a:prstGeom prst="rect">
            <a:avLst/>
          </a:prstGeom>
          <a:noFill/>
          <a:ln/>
        </p:spPr>
        <p:txBody>
          <a:bodyPr wrap="square" rtlCol="0" anchor="ctr"/>
          <a:lstStyle/>
          <a:p>
            <a:pPr marL="0" indent="0">
              <a:buNone/>
            </a:pPr>
            <a:endParaRPr lang="en-US" sz="1400"/>
          </a:p>
        </p:txBody>
      </p:sp>
      <p:sp>
        <p:nvSpPr>
          <p:cNvPr id="8" name="Text 5"/>
          <p:cNvSpPr/>
          <p:nvPr/>
        </p:nvSpPr>
        <p:spPr>
          <a:xfrm>
            <a:off x="891540" y="1581894"/>
            <a:ext cx="3611880" cy="777240"/>
          </a:xfrm>
          <a:prstGeom prst="rect">
            <a:avLst/>
          </a:prstGeom>
          <a:noFill/>
          <a:ln/>
        </p:spPr>
        <p:txBody>
          <a:bodyPr wrap="square" rtlCol="0" anchor="t"/>
          <a:lstStyle/>
          <a:p>
            <a:pPr marL="0" indent="0">
              <a:buNone/>
            </a:pPr>
            <a:r>
              <a:rPr lang="en-US" sz="1200" dirty="0">
                <a:latin typeface="Arial" panose="020B0604020202020204" pitchFamily="34" charset="0"/>
                <a:cs typeface="Arial" panose="020B0604020202020204" pitchFamily="34" charset="0"/>
              </a:rPr>
              <a:t>.claude/agents/playwright-migration.md (agent definition with tool loop, human gate, and failure handling), CLAUDE.md convention layer, versioned prompts under prompts/, full project structure with POM scaffold.</a:t>
            </a:r>
          </a:p>
        </p:txBody>
      </p:sp>
      <p:sp>
        <p:nvSpPr>
          <p:cNvPr id="9" name="Shape 6"/>
          <p:cNvSpPr/>
          <p:nvPr/>
        </p:nvSpPr>
        <p:spPr>
          <a:xfrm>
            <a:off x="4709160" y="1143000"/>
            <a:ext cx="3977640" cy="1417320"/>
          </a:xfrm>
          <a:prstGeom prst="roundRect">
            <a:avLst>
              <a:gd name="adj" fmla="val 3871"/>
            </a:avLst>
          </a:prstGeom>
          <a:solidFill>
            <a:srgbClr val="C5DCEE"/>
          </a:solidFill>
          <a:ln/>
        </p:spPr>
        <p:txBody>
          <a:bodyPr/>
          <a:lstStyle/>
          <a:p>
            <a:endParaRPr lang="en-US"/>
          </a:p>
        </p:txBody>
      </p:sp>
      <p:sp>
        <p:nvSpPr>
          <p:cNvPr id="10" name="Shape 7"/>
          <p:cNvSpPr/>
          <p:nvPr/>
        </p:nvSpPr>
        <p:spPr>
          <a:xfrm>
            <a:off x="4846320" y="1280160"/>
            <a:ext cx="365760" cy="365760"/>
          </a:xfrm>
          <a:prstGeom prst="ellipse">
            <a:avLst/>
          </a:prstGeom>
          <a:solidFill>
            <a:srgbClr val="075056"/>
          </a:solidFill>
          <a:ln/>
        </p:spPr>
        <p:txBody>
          <a:bodyPr/>
          <a:lstStyle/>
          <a:p>
            <a:endParaRPr lang="en-US"/>
          </a:p>
        </p:txBody>
      </p:sp>
      <p:sp>
        <p:nvSpPr>
          <p:cNvPr id="11" name="Text 8"/>
          <p:cNvSpPr/>
          <p:nvPr/>
        </p:nvSpPr>
        <p:spPr>
          <a:xfrm>
            <a:off x="4846320" y="1280160"/>
            <a:ext cx="365760" cy="365760"/>
          </a:xfrm>
          <a:prstGeom prst="rect">
            <a:avLst/>
          </a:prstGeom>
          <a:noFill/>
          <a:ln/>
        </p:spPr>
        <p:txBody>
          <a:bodyPr wrap="square" rtlCol="0" anchor="ctr"/>
          <a:lstStyle/>
          <a:p>
            <a:pPr marL="0" indent="0" algn="ctr">
              <a:buNone/>
            </a:pPr>
            <a:r>
              <a:rPr lang="en-US" sz="1600" b="1">
                <a:solidFill>
                  <a:srgbClr val="FFFFFF"/>
                </a:solidFill>
                <a:latin typeface="Arial" pitchFamily="34" charset="0"/>
                <a:ea typeface="Arial" pitchFamily="34" charset="-122"/>
                <a:cs typeface="Arial" pitchFamily="34" charset="-120"/>
              </a:rPr>
              <a:t>A</a:t>
            </a:r>
            <a:endParaRPr lang="en-US" sz="1600"/>
          </a:p>
        </p:txBody>
      </p:sp>
      <p:sp>
        <p:nvSpPr>
          <p:cNvPr id="12" name="Text 9"/>
          <p:cNvSpPr/>
          <p:nvPr/>
        </p:nvSpPr>
        <p:spPr>
          <a:xfrm>
            <a:off x="5349240" y="1280160"/>
            <a:ext cx="3200400" cy="365760"/>
          </a:xfrm>
          <a:prstGeom prst="rect">
            <a:avLst/>
          </a:prstGeom>
          <a:noFill/>
          <a:ln/>
        </p:spPr>
        <p:txBody>
          <a:bodyPr wrap="square" rtlCol="0" anchor="ctr"/>
          <a:lstStyle/>
          <a:p>
            <a:pPr marL="0" indent="0">
              <a:buNone/>
            </a:pPr>
            <a:endParaRPr lang="en-US" sz="1400"/>
          </a:p>
        </p:txBody>
      </p:sp>
      <p:sp>
        <p:nvSpPr>
          <p:cNvPr id="13" name="Text 10"/>
          <p:cNvSpPr/>
          <p:nvPr/>
        </p:nvSpPr>
        <p:spPr>
          <a:xfrm>
            <a:off x="4892040" y="1709928"/>
            <a:ext cx="3611880" cy="777240"/>
          </a:xfrm>
          <a:prstGeom prst="rect">
            <a:avLst/>
          </a:prstGeom>
          <a:noFill/>
          <a:ln/>
        </p:spPr>
        <p:txBody>
          <a:bodyPr wrap="square" rtlCol="0" anchor="t"/>
          <a:lstStyle/>
          <a:p>
            <a:pPr marL="0" indent="0">
              <a:buNone/>
            </a:pPr>
            <a:r>
              <a:rPr lang="en-US" sz="1200" dirty="0">
                <a:latin typeface="Arial" panose="020B0604020202020204" pitchFamily="34" charset="0"/>
                <a:cs typeface="Arial" panose="020B0604020202020204" pitchFamily="34" charset="0"/>
              </a:rPr>
              <a:t>QA engineers on any Cypress-to-Playwright migration. Any team with Claude Code access and MCP Playwright. Works with any web app the agent can navigate - not OrangeHRM-specific.</a:t>
            </a:r>
          </a:p>
        </p:txBody>
      </p:sp>
      <p:sp>
        <p:nvSpPr>
          <p:cNvPr id="14" name="Shape 11"/>
          <p:cNvSpPr/>
          <p:nvPr/>
        </p:nvSpPr>
        <p:spPr>
          <a:xfrm>
            <a:off x="457200" y="2788920"/>
            <a:ext cx="3977640" cy="1660680"/>
          </a:xfrm>
          <a:prstGeom prst="roundRect">
            <a:avLst>
              <a:gd name="adj" fmla="val 3871"/>
            </a:avLst>
          </a:prstGeom>
          <a:solidFill>
            <a:srgbClr val="DFE7ED"/>
          </a:solidFill>
          <a:ln/>
        </p:spPr>
        <p:txBody>
          <a:bodyPr/>
          <a:lstStyle/>
          <a:p>
            <a:endParaRPr lang="en-US"/>
          </a:p>
        </p:txBody>
      </p:sp>
      <p:sp>
        <p:nvSpPr>
          <p:cNvPr id="15" name="Shape 12"/>
          <p:cNvSpPr/>
          <p:nvPr/>
        </p:nvSpPr>
        <p:spPr>
          <a:xfrm>
            <a:off x="594360" y="2926080"/>
            <a:ext cx="365760" cy="365760"/>
          </a:xfrm>
          <a:prstGeom prst="ellipse">
            <a:avLst/>
          </a:prstGeom>
          <a:solidFill>
            <a:srgbClr val="075056"/>
          </a:solidFill>
          <a:ln/>
        </p:spPr>
        <p:txBody>
          <a:bodyPr/>
          <a:lstStyle/>
          <a:p>
            <a:endParaRPr lang="en-US"/>
          </a:p>
        </p:txBody>
      </p:sp>
      <p:sp>
        <p:nvSpPr>
          <p:cNvPr id="16" name="Text 13"/>
          <p:cNvSpPr/>
          <p:nvPr/>
        </p:nvSpPr>
        <p:spPr>
          <a:xfrm>
            <a:off x="594360" y="2926080"/>
            <a:ext cx="365760" cy="365760"/>
          </a:xfrm>
          <a:prstGeom prst="rect">
            <a:avLst/>
          </a:prstGeom>
          <a:noFill/>
          <a:ln/>
        </p:spPr>
        <p:txBody>
          <a:bodyPr wrap="square" rtlCol="0" anchor="ctr"/>
          <a:lstStyle/>
          <a:p>
            <a:pPr marL="0" indent="0" algn="ctr">
              <a:buNone/>
            </a:pPr>
            <a:r>
              <a:rPr lang="en-US" sz="1600" b="1">
                <a:solidFill>
                  <a:srgbClr val="FFFFFF"/>
                </a:solidFill>
                <a:latin typeface="Arial" pitchFamily="34" charset="0"/>
                <a:ea typeface="Arial" pitchFamily="34" charset="-122"/>
                <a:cs typeface="Arial" pitchFamily="34" charset="-120"/>
              </a:rPr>
              <a:t>P</a:t>
            </a:r>
            <a:endParaRPr lang="en-US" sz="1600"/>
          </a:p>
        </p:txBody>
      </p:sp>
      <p:sp>
        <p:nvSpPr>
          <p:cNvPr id="17" name="Text 14"/>
          <p:cNvSpPr/>
          <p:nvPr/>
        </p:nvSpPr>
        <p:spPr>
          <a:xfrm>
            <a:off x="1097280" y="2926080"/>
            <a:ext cx="3200400" cy="365760"/>
          </a:xfrm>
          <a:prstGeom prst="rect">
            <a:avLst/>
          </a:prstGeom>
          <a:noFill/>
          <a:ln/>
        </p:spPr>
        <p:txBody>
          <a:bodyPr wrap="square" rtlCol="0" anchor="ctr"/>
          <a:lstStyle/>
          <a:p>
            <a:pPr marL="0" indent="0">
              <a:buNone/>
            </a:pPr>
            <a:endParaRPr lang="en-US" sz="1400"/>
          </a:p>
        </p:txBody>
      </p:sp>
      <p:sp>
        <p:nvSpPr>
          <p:cNvPr id="18" name="Text 15"/>
          <p:cNvSpPr/>
          <p:nvPr/>
        </p:nvSpPr>
        <p:spPr>
          <a:xfrm>
            <a:off x="891540" y="3209508"/>
            <a:ext cx="3611880" cy="777240"/>
          </a:xfrm>
          <a:prstGeom prst="rect">
            <a:avLst/>
          </a:prstGeom>
          <a:noFill/>
          <a:ln/>
        </p:spPr>
        <p:txBody>
          <a:bodyPr wrap="square" rtlCol="0" anchor="t"/>
          <a:lstStyle/>
          <a:p>
            <a:pPr marL="0" indent="0">
              <a:buNone/>
            </a:pPr>
            <a:r>
              <a:rPr lang="en-US" sz="1200" dirty="0">
                <a:solidFill>
                  <a:srgbClr val="1B2227"/>
                </a:solidFill>
                <a:latin typeface="Arial" panose="020B0604020202020204" pitchFamily="34" charset="0"/>
                <a:cs typeface="Arial" panose="020B0604020202020204" pitchFamily="34" charset="0"/>
              </a:rPr>
              <a:t>Git repo branch L2 (public): CLAUDE.md, agent definition (.</a:t>
            </a:r>
            <a:r>
              <a:rPr lang="en-US" sz="1200" dirty="0" err="1">
                <a:solidFill>
                  <a:srgbClr val="1B2227"/>
                </a:solidFill>
                <a:latin typeface="Arial" panose="020B0604020202020204" pitchFamily="34" charset="0"/>
                <a:cs typeface="Arial" panose="020B0604020202020204" pitchFamily="34" charset="0"/>
              </a:rPr>
              <a:t>claude</a:t>
            </a:r>
            <a:r>
              <a:rPr lang="en-US" sz="1200" dirty="0">
                <a:solidFill>
                  <a:srgbClr val="1B2227"/>
                </a:solidFill>
                <a:latin typeface="Arial" panose="020B0604020202020204" pitchFamily="34" charset="0"/>
                <a:cs typeface="Arial" panose="020B0604020202020204" pitchFamily="34" charset="0"/>
              </a:rPr>
              <a:t>/agents/playwright-migration.md), prompts/, reports/ (HTML evidence), docs/ (architecture, evaluation, stack, reflection). Clone and run - no config beyond .env credentials.</a:t>
            </a:r>
          </a:p>
        </p:txBody>
      </p:sp>
      <p:sp>
        <p:nvSpPr>
          <p:cNvPr id="19" name="Shape 16"/>
          <p:cNvSpPr/>
          <p:nvPr/>
        </p:nvSpPr>
        <p:spPr>
          <a:xfrm>
            <a:off x="4709160" y="2788920"/>
            <a:ext cx="3977640" cy="1660680"/>
          </a:xfrm>
          <a:prstGeom prst="roundRect">
            <a:avLst>
              <a:gd name="adj" fmla="val 3871"/>
            </a:avLst>
          </a:prstGeom>
          <a:solidFill>
            <a:srgbClr val="C5DCEE"/>
          </a:solidFill>
          <a:ln/>
        </p:spPr>
        <p:txBody>
          <a:bodyPr/>
          <a:lstStyle/>
          <a:p>
            <a:endParaRPr lang="en-US"/>
          </a:p>
        </p:txBody>
      </p:sp>
      <p:sp>
        <p:nvSpPr>
          <p:cNvPr id="20" name="Shape 17"/>
          <p:cNvSpPr/>
          <p:nvPr/>
        </p:nvSpPr>
        <p:spPr>
          <a:xfrm>
            <a:off x="4846320" y="2926080"/>
            <a:ext cx="365760" cy="365760"/>
          </a:xfrm>
          <a:prstGeom prst="ellipse">
            <a:avLst/>
          </a:prstGeom>
          <a:solidFill>
            <a:srgbClr val="075056"/>
          </a:solidFill>
          <a:ln/>
        </p:spPr>
        <p:txBody>
          <a:bodyPr/>
          <a:lstStyle/>
          <a:p>
            <a:endParaRPr lang="en-US"/>
          </a:p>
        </p:txBody>
      </p:sp>
      <p:sp>
        <p:nvSpPr>
          <p:cNvPr id="21" name="Text 18"/>
          <p:cNvSpPr/>
          <p:nvPr/>
        </p:nvSpPr>
        <p:spPr>
          <a:xfrm>
            <a:off x="4846320" y="2926080"/>
            <a:ext cx="365760" cy="365760"/>
          </a:xfrm>
          <a:prstGeom prst="rect">
            <a:avLst/>
          </a:prstGeom>
          <a:noFill/>
          <a:ln/>
        </p:spPr>
        <p:txBody>
          <a:bodyPr wrap="square" rtlCol="0" anchor="ctr"/>
          <a:lstStyle/>
          <a:p>
            <a:pPr marL="0" indent="0" algn="ctr">
              <a:buNone/>
            </a:pPr>
            <a:r>
              <a:rPr lang="en-US" sz="1600" b="1">
                <a:solidFill>
                  <a:srgbClr val="FFFFFF"/>
                </a:solidFill>
                <a:latin typeface="Arial" pitchFamily="34" charset="0"/>
                <a:ea typeface="Arial" pitchFamily="34" charset="-122"/>
                <a:cs typeface="Arial" pitchFamily="34" charset="-120"/>
              </a:rPr>
              <a:t>S</a:t>
            </a:r>
            <a:endParaRPr lang="en-US" sz="1600"/>
          </a:p>
        </p:txBody>
      </p:sp>
      <p:sp>
        <p:nvSpPr>
          <p:cNvPr id="22" name="Text 19"/>
          <p:cNvSpPr/>
          <p:nvPr/>
        </p:nvSpPr>
        <p:spPr>
          <a:xfrm>
            <a:off x="5349240" y="2926080"/>
            <a:ext cx="3200400" cy="365760"/>
          </a:xfrm>
          <a:prstGeom prst="rect">
            <a:avLst/>
          </a:prstGeom>
          <a:noFill/>
          <a:ln/>
        </p:spPr>
        <p:txBody>
          <a:bodyPr wrap="square" rtlCol="0" anchor="ctr"/>
          <a:lstStyle/>
          <a:p>
            <a:pPr marL="0" indent="0">
              <a:buNone/>
            </a:pPr>
            <a:endParaRPr lang="en-US" sz="1400"/>
          </a:p>
        </p:txBody>
      </p:sp>
      <p:sp>
        <p:nvSpPr>
          <p:cNvPr id="23" name="Text 20"/>
          <p:cNvSpPr/>
          <p:nvPr/>
        </p:nvSpPr>
        <p:spPr>
          <a:xfrm>
            <a:off x="4892040" y="3355848"/>
            <a:ext cx="3611880" cy="777240"/>
          </a:xfrm>
          <a:prstGeom prst="rect">
            <a:avLst/>
          </a:prstGeom>
          <a:noFill/>
          <a:ln/>
        </p:spPr>
        <p:txBody>
          <a:bodyPr wrap="square" rtlCol="0" anchor="t"/>
          <a:lstStyle/>
          <a:p>
            <a:pPr marL="0" indent="0">
              <a:buNone/>
            </a:pPr>
            <a:r>
              <a:rPr lang="en-US" sz="1200" dirty="0">
                <a:latin typeface="Arial" panose="020B0604020202020204" pitchFamily="34" charset="0"/>
                <a:cs typeface="Arial" panose="020B0604020202020204" pitchFamily="34" charset="0"/>
              </a:rPr>
              <a:t>10x reduction in migration effort per suite. Consistent POM structure across all generated code. Next engagement starts from a working baseline.</a:t>
            </a:r>
          </a:p>
        </p:txBody>
      </p:sp>
      <p:sp>
        <p:nvSpPr>
          <p:cNvPr id="27" name="Text 4">
            <a:extLst>
              <a:ext uri="{FF2B5EF4-FFF2-40B4-BE49-F238E27FC236}">
                <a16:creationId xmlns:a16="http://schemas.microsoft.com/office/drawing/2014/main" id="{F90BBA75-8454-8315-E893-B2ECB3958D05}"/>
              </a:ext>
            </a:extLst>
          </p:cNvPr>
          <p:cNvSpPr/>
          <p:nvPr/>
        </p:nvSpPr>
        <p:spPr>
          <a:xfrm>
            <a:off x="1165860" y="1257300"/>
            <a:ext cx="3200400" cy="365760"/>
          </a:xfrm>
          <a:prstGeom prst="rect">
            <a:avLst/>
          </a:prstGeom>
          <a:noFill/>
          <a:ln/>
        </p:spPr>
        <p:txBody>
          <a:bodyPr wrap="square" rtlCol="0" anchor="ctr"/>
          <a:lstStyle/>
          <a:p>
            <a:pPr marL="0" indent="0">
              <a:buNone/>
            </a:pPr>
            <a:r>
              <a:rPr lang="en-US" sz="1400" b="1" dirty="0">
                <a:solidFill>
                  <a:srgbClr val="024879"/>
                </a:solidFill>
                <a:latin typeface="Arial" pitchFamily="34" charset="0"/>
                <a:ea typeface="Arial" pitchFamily="34" charset="-122"/>
                <a:cs typeface="Arial" pitchFamily="34" charset="-120"/>
              </a:rPr>
              <a:t>What is reusable?</a:t>
            </a:r>
            <a:endParaRPr lang="en-US" sz="1400" dirty="0"/>
          </a:p>
        </p:txBody>
      </p:sp>
      <p:sp>
        <p:nvSpPr>
          <p:cNvPr id="29" name="Text 9">
            <a:extLst>
              <a:ext uri="{FF2B5EF4-FFF2-40B4-BE49-F238E27FC236}">
                <a16:creationId xmlns:a16="http://schemas.microsoft.com/office/drawing/2014/main" id="{BFB8C2AC-E9F1-DC2F-777B-24F7F38A9D42}"/>
              </a:ext>
            </a:extLst>
          </p:cNvPr>
          <p:cNvSpPr/>
          <p:nvPr/>
        </p:nvSpPr>
        <p:spPr>
          <a:xfrm>
            <a:off x="5349240" y="1296948"/>
            <a:ext cx="3200400" cy="365760"/>
          </a:xfrm>
          <a:prstGeom prst="rect">
            <a:avLst/>
          </a:prstGeom>
          <a:noFill/>
          <a:ln/>
        </p:spPr>
        <p:txBody>
          <a:bodyPr wrap="square" rtlCol="0" anchor="ctr"/>
          <a:lstStyle/>
          <a:p>
            <a:pPr marL="0" indent="0">
              <a:buNone/>
            </a:pPr>
            <a:r>
              <a:rPr lang="en-US" sz="1400" b="1" dirty="0">
                <a:solidFill>
                  <a:srgbClr val="024879"/>
                </a:solidFill>
                <a:latin typeface="Arial" pitchFamily="34" charset="0"/>
                <a:ea typeface="Arial" pitchFamily="34" charset="-122"/>
                <a:cs typeface="Arial" pitchFamily="34" charset="-120"/>
              </a:rPr>
              <a:t>Who can adopt it?</a:t>
            </a:r>
            <a:endParaRPr lang="en-US" sz="1400" dirty="0"/>
          </a:p>
        </p:txBody>
      </p:sp>
      <p:sp>
        <p:nvSpPr>
          <p:cNvPr id="31" name="Text 14">
            <a:extLst>
              <a:ext uri="{FF2B5EF4-FFF2-40B4-BE49-F238E27FC236}">
                <a16:creationId xmlns:a16="http://schemas.microsoft.com/office/drawing/2014/main" id="{84F8E539-C081-2F59-6F03-355457563D0B}"/>
              </a:ext>
            </a:extLst>
          </p:cNvPr>
          <p:cNvSpPr/>
          <p:nvPr/>
        </p:nvSpPr>
        <p:spPr>
          <a:xfrm>
            <a:off x="1097280" y="2926080"/>
            <a:ext cx="3200400" cy="365760"/>
          </a:xfrm>
          <a:prstGeom prst="rect">
            <a:avLst/>
          </a:prstGeom>
          <a:noFill/>
          <a:ln/>
        </p:spPr>
        <p:txBody>
          <a:bodyPr wrap="square" rtlCol="0" anchor="ctr"/>
          <a:lstStyle/>
          <a:p>
            <a:pPr marL="0" indent="0">
              <a:buNone/>
            </a:pPr>
            <a:r>
              <a:rPr lang="en-US" sz="1400" b="1" dirty="0">
                <a:solidFill>
                  <a:srgbClr val="024879"/>
                </a:solidFill>
                <a:latin typeface="Arial" pitchFamily="34" charset="0"/>
                <a:ea typeface="Arial" pitchFamily="34" charset="-122"/>
                <a:cs typeface="Arial" pitchFamily="34" charset="-120"/>
              </a:rPr>
              <a:t>What did you package?</a:t>
            </a:r>
            <a:endParaRPr lang="en-US" sz="1400" dirty="0"/>
          </a:p>
        </p:txBody>
      </p:sp>
      <p:sp>
        <p:nvSpPr>
          <p:cNvPr id="33" name="Text 19">
            <a:extLst>
              <a:ext uri="{FF2B5EF4-FFF2-40B4-BE49-F238E27FC236}">
                <a16:creationId xmlns:a16="http://schemas.microsoft.com/office/drawing/2014/main" id="{D5E21393-87F7-D961-4A4D-FF496883E613}"/>
              </a:ext>
            </a:extLst>
          </p:cNvPr>
          <p:cNvSpPr/>
          <p:nvPr/>
        </p:nvSpPr>
        <p:spPr>
          <a:xfrm>
            <a:off x="5349240" y="2926080"/>
            <a:ext cx="3200400" cy="365760"/>
          </a:xfrm>
          <a:prstGeom prst="rect">
            <a:avLst/>
          </a:prstGeom>
          <a:noFill/>
          <a:ln/>
        </p:spPr>
        <p:txBody>
          <a:bodyPr wrap="square" rtlCol="0" anchor="ctr"/>
          <a:lstStyle/>
          <a:p>
            <a:pPr marL="0" indent="0">
              <a:buNone/>
            </a:pPr>
            <a:r>
              <a:rPr lang="en-US" sz="1400" b="1" dirty="0">
                <a:solidFill>
                  <a:srgbClr val="024879"/>
                </a:solidFill>
                <a:latin typeface="Arial" pitchFamily="34" charset="0"/>
                <a:ea typeface="Arial" pitchFamily="34" charset="-122"/>
                <a:cs typeface="Arial" pitchFamily="34" charset="-120"/>
              </a:rPr>
              <a:t>Org-scale potential</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7498080" cy="548640"/>
          </a:xfrm>
          <a:prstGeom prst="rect">
            <a:avLst/>
          </a:prstGeom>
          <a:noFill/>
          <a:ln/>
        </p:spPr>
        <p:txBody>
          <a:bodyPr wrap="square" rtlCol="0" anchor="ctr"/>
          <a:lstStyle/>
          <a:p>
            <a:pPr marL="0" indent="0" algn="l">
              <a:buNone/>
            </a:pPr>
            <a:r>
              <a:rPr lang="en-US" sz="2600" b="1" dirty="0">
                <a:solidFill>
                  <a:srgbClr val="024879"/>
                </a:solidFill>
                <a:latin typeface="Arial" pitchFamily="34" charset="0"/>
                <a:ea typeface="Arial" pitchFamily="34" charset="-122"/>
                <a:cs typeface="Arial" pitchFamily="34" charset="-120"/>
              </a:rPr>
              <a:t>What AI Got Right &amp; What It Got Wrong</a:t>
            </a:r>
            <a:endParaRPr lang="en-US" sz="2600" dirty="0"/>
          </a:p>
        </p:txBody>
      </p:sp>
      <p:pic>
        <p:nvPicPr>
          <p:cNvPr id="3" name="Image 0" descr="preencoded.png"/>
          <p:cNvPicPr>
            <a:picLocks noChangeAspect="1"/>
          </p:cNvPicPr>
          <p:nvPr/>
        </p:nvPicPr>
        <p:blipFill>
          <a:blip r:embed="rId3"/>
          <a:stretch>
            <a:fillRect/>
          </a:stretch>
        </p:blipFill>
        <p:spPr>
          <a:xfrm>
            <a:off x="7818120" y="292608"/>
            <a:ext cx="914400" cy="274730"/>
          </a:xfrm>
          <a:prstGeom prst="rect">
            <a:avLst/>
          </a:prstGeom>
        </p:spPr>
      </p:pic>
      <p:sp>
        <p:nvSpPr>
          <p:cNvPr id="4" name="Shape 1"/>
          <p:cNvSpPr/>
          <p:nvPr/>
        </p:nvSpPr>
        <p:spPr>
          <a:xfrm>
            <a:off x="457200" y="1143000"/>
            <a:ext cx="8229600" cy="1051560"/>
          </a:xfrm>
          <a:prstGeom prst="roundRect">
            <a:avLst>
              <a:gd name="adj" fmla="val 4348"/>
            </a:avLst>
          </a:prstGeom>
          <a:solidFill>
            <a:srgbClr val="DFE7ED"/>
          </a:solidFill>
          <a:ln/>
        </p:spPr>
        <p:txBody>
          <a:bodyPr/>
          <a:lstStyle/>
          <a:p>
            <a:endParaRPr lang="en-US"/>
          </a:p>
        </p:txBody>
      </p:sp>
      <p:sp>
        <p:nvSpPr>
          <p:cNvPr id="5" name="Shape 2"/>
          <p:cNvSpPr/>
          <p:nvPr/>
        </p:nvSpPr>
        <p:spPr>
          <a:xfrm>
            <a:off x="621792" y="1463040"/>
            <a:ext cx="411480" cy="411480"/>
          </a:xfrm>
          <a:prstGeom prst="ellipse">
            <a:avLst/>
          </a:prstGeom>
          <a:solidFill>
            <a:srgbClr val="075056"/>
          </a:solidFill>
          <a:ln/>
        </p:spPr>
        <p:txBody>
          <a:bodyPr/>
          <a:lstStyle/>
          <a:p>
            <a:endParaRPr lang="en-US"/>
          </a:p>
        </p:txBody>
      </p:sp>
      <p:sp>
        <p:nvSpPr>
          <p:cNvPr id="6" name="Text 3"/>
          <p:cNvSpPr/>
          <p:nvPr/>
        </p:nvSpPr>
        <p:spPr>
          <a:xfrm>
            <a:off x="1188720" y="1234440"/>
            <a:ext cx="7315200" cy="365760"/>
          </a:xfrm>
          <a:prstGeom prst="rect">
            <a:avLst/>
          </a:prstGeom>
          <a:noFill/>
          <a:ln/>
        </p:spPr>
        <p:txBody>
          <a:bodyPr wrap="square" rtlCol="0" anchor="ctr"/>
          <a:lstStyle/>
          <a:p>
            <a:pPr marL="0" indent="0">
              <a:buNone/>
            </a:pPr>
            <a:endParaRPr lang="en-US" sz="1400"/>
          </a:p>
        </p:txBody>
      </p:sp>
      <p:sp>
        <p:nvSpPr>
          <p:cNvPr id="7" name="Text 4"/>
          <p:cNvSpPr/>
          <p:nvPr/>
        </p:nvSpPr>
        <p:spPr>
          <a:xfrm>
            <a:off x="1188720" y="1527048"/>
            <a:ext cx="7223760" cy="548640"/>
          </a:xfrm>
          <a:prstGeom prst="rect">
            <a:avLst/>
          </a:prstGeom>
          <a:noFill/>
          <a:ln/>
        </p:spPr>
        <p:txBody>
          <a:bodyPr wrap="square" rtlCol="0" anchor="ctr"/>
          <a:lstStyle/>
          <a:p>
            <a:pPr marL="152400" indent="-152400">
              <a:buSzPct val="100000"/>
              <a:buChar char="•"/>
            </a:pPr>
            <a:r>
              <a:rPr lang="en-US" sz="1200" dirty="0">
                <a:latin typeface="Arial" panose="020B0604020202020204" pitchFamily="34" charset="0"/>
                <a:cs typeface="Arial" panose="020B0604020202020204" pitchFamily="34" charset="0"/>
              </a:rPr>
              <a:t>Selector generation - mapped all 7 OrangeHRM requirements to working DOM selectors via live MCP navigation; zero manual DevTools inspection required.</a:t>
            </a:r>
          </a:p>
          <a:p>
            <a:pPr marL="152400" indent="-152400">
              <a:buSzPct val="100000"/>
              <a:buChar char="•"/>
            </a:pPr>
            <a:r>
              <a:rPr lang="en-US" sz="1200" dirty="0">
                <a:latin typeface="Arial" panose="020B0604020202020204" pitchFamily="34" charset="0"/>
                <a:cs typeface="Arial" panose="020B0604020202020204" pitchFamily="34" charset="0"/>
              </a:rPr>
              <a:t>End-to-end code generation - Gherkin, POM classes, and step definitions all correct on first pass for 6 of 8 test scenarios.</a:t>
            </a:r>
          </a:p>
        </p:txBody>
      </p:sp>
      <p:sp>
        <p:nvSpPr>
          <p:cNvPr id="8" name="Shape 5"/>
          <p:cNvSpPr/>
          <p:nvPr/>
        </p:nvSpPr>
        <p:spPr>
          <a:xfrm>
            <a:off x="457200" y="2350008"/>
            <a:ext cx="8229600" cy="1051560"/>
          </a:xfrm>
          <a:prstGeom prst="roundRect">
            <a:avLst>
              <a:gd name="adj" fmla="val 4348"/>
            </a:avLst>
          </a:prstGeom>
          <a:solidFill>
            <a:srgbClr val="DFE7ED"/>
          </a:solidFill>
          <a:ln/>
        </p:spPr>
        <p:txBody>
          <a:bodyPr/>
          <a:lstStyle/>
          <a:p>
            <a:endParaRPr lang="en-US"/>
          </a:p>
        </p:txBody>
      </p:sp>
      <p:sp>
        <p:nvSpPr>
          <p:cNvPr id="9" name="Shape 6"/>
          <p:cNvSpPr/>
          <p:nvPr/>
        </p:nvSpPr>
        <p:spPr>
          <a:xfrm>
            <a:off x="621792" y="2670048"/>
            <a:ext cx="411480" cy="411480"/>
          </a:xfrm>
          <a:prstGeom prst="ellipse">
            <a:avLst/>
          </a:prstGeom>
          <a:solidFill>
            <a:srgbClr val="FE3A39"/>
          </a:solidFill>
          <a:ln/>
        </p:spPr>
        <p:txBody>
          <a:bodyPr/>
          <a:lstStyle/>
          <a:p>
            <a:endParaRPr lang="en-US"/>
          </a:p>
        </p:txBody>
      </p:sp>
      <p:sp>
        <p:nvSpPr>
          <p:cNvPr id="10" name="Text 7"/>
          <p:cNvSpPr/>
          <p:nvPr/>
        </p:nvSpPr>
        <p:spPr>
          <a:xfrm>
            <a:off x="1188720" y="2441448"/>
            <a:ext cx="7315200" cy="365760"/>
          </a:xfrm>
          <a:prstGeom prst="rect">
            <a:avLst/>
          </a:prstGeom>
          <a:noFill/>
          <a:ln/>
        </p:spPr>
        <p:txBody>
          <a:bodyPr wrap="square" rtlCol="0" anchor="ctr"/>
          <a:lstStyle/>
          <a:p>
            <a:pPr marL="0" indent="0">
              <a:buNone/>
            </a:pPr>
            <a:endParaRPr lang="en-US" sz="1400"/>
          </a:p>
        </p:txBody>
      </p:sp>
      <p:sp>
        <p:nvSpPr>
          <p:cNvPr id="11" name="Text 8"/>
          <p:cNvSpPr/>
          <p:nvPr/>
        </p:nvSpPr>
        <p:spPr>
          <a:xfrm>
            <a:off x="1188720" y="2807208"/>
            <a:ext cx="7223760" cy="548640"/>
          </a:xfrm>
          <a:prstGeom prst="rect">
            <a:avLst/>
          </a:prstGeom>
          <a:noFill/>
          <a:ln/>
        </p:spPr>
        <p:txBody>
          <a:bodyPr wrap="square" rtlCol="0" anchor="ctr"/>
          <a:lstStyle/>
          <a:p>
            <a:pPr marL="152400" indent="-152400">
              <a:buSzPct val="100000"/>
              <a:buChar char="•"/>
            </a:pPr>
            <a:r>
              <a:rPr lang="en-US" sz="1200" dirty="0">
                <a:latin typeface="Arial" panose="020B0604020202020204" pitchFamily="34" charset="0"/>
                <a:cs typeface="Arial" panose="020B0604020202020204" pitchFamily="34" charset="0"/>
              </a:rPr>
              <a:t>OR-condition masking - clickSave() accepted /pim/addEmployee as success when Employee ID conflicted; silent failure cascaded to 7 downstream tests.</a:t>
            </a:r>
          </a:p>
          <a:p>
            <a:pPr marL="152400" indent="-152400">
              <a:buSzPct val="100000"/>
              <a:buChar char="•"/>
            </a:pPr>
            <a:r>
              <a:rPr lang="en-US" sz="1200" dirty="0">
                <a:latin typeface="Arial" panose="020B0604020202020204" pitchFamily="34" charset="0"/>
                <a:cs typeface="Arial" panose="020B0604020202020204" pitchFamily="34" charset="0"/>
              </a:rPr>
              <a:t>Vue timing race - networkidle resolved ~400 ms before Vue rendered error messages; </a:t>
            </a:r>
          </a:p>
        </p:txBody>
      </p:sp>
      <p:sp>
        <p:nvSpPr>
          <p:cNvPr id="12" name="Shape 9"/>
          <p:cNvSpPr/>
          <p:nvPr/>
        </p:nvSpPr>
        <p:spPr>
          <a:xfrm>
            <a:off x="457200" y="3557016"/>
            <a:ext cx="8229600" cy="1238184"/>
          </a:xfrm>
          <a:prstGeom prst="roundRect">
            <a:avLst>
              <a:gd name="adj" fmla="val 4348"/>
            </a:avLst>
          </a:prstGeom>
          <a:solidFill>
            <a:srgbClr val="DFE7ED"/>
          </a:solidFill>
          <a:ln/>
        </p:spPr>
        <p:txBody>
          <a:bodyPr/>
          <a:lstStyle/>
          <a:p>
            <a:endParaRPr lang="en-US"/>
          </a:p>
        </p:txBody>
      </p:sp>
      <p:sp>
        <p:nvSpPr>
          <p:cNvPr id="13" name="Shape 10"/>
          <p:cNvSpPr/>
          <p:nvPr/>
        </p:nvSpPr>
        <p:spPr>
          <a:xfrm>
            <a:off x="621792" y="3877056"/>
            <a:ext cx="411480" cy="411480"/>
          </a:xfrm>
          <a:prstGeom prst="ellipse">
            <a:avLst/>
          </a:prstGeom>
          <a:solidFill>
            <a:srgbClr val="024879"/>
          </a:solidFill>
          <a:ln/>
        </p:spPr>
        <p:txBody>
          <a:bodyPr/>
          <a:lstStyle/>
          <a:p>
            <a:endParaRPr lang="en-US"/>
          </a:p>
        </p:txBody>
      </p:sp>
      <p:sp>
        <p:nvSpPr>
          <p:cNvPr id="14" name="Text 11"/>
          <p:cNvSpPr/>
          <p:nvPr/>
        </p:nvSpPr>
        <p:spPr>
          <a:xfrm>
            <a:off x="1188720" y="3648456"/>
            <a:ext cx="7315200" cy="365760"/>
          </a:xfrm>
          <a:prstGeom prst="rect">
            <a:avLst/>
          </a:prstGeom>
          <a:noFill/>
          <a:ln/>
        </p:spPr>
        <p:txBody>
          <a:bodyPr wrap="square" rtlCol="0" anchor="ctr"/>
          <a:lstStyle/>
          <a:p>
            <a:pPr marL="0" indent="0">
              <a:buNone/>
            </a:pPr>
            <a:endParaRPr lang="en-US" sz="1400"/>
          </a:p>
        </p:txBody>
      </p:sp>
      <p:sp>
        <p:nvSpPr>
          <p:cNvPr id="15" name="Text 12"/>
          <p:cNvSpPr/>
          <p:nvPr/>
        </p:nvSpPr>
        <p:spPr>
          <a:xfrm>
            <a:off x="1197864" y="4014216"/>
            <a:ext cx="7223760" cy="548640"/>
          </a:xfrm>
          <a:prstGeom prst="rect">
            <a:avLst/>
          </a:prstGeom>
          <a:noFill/>
          <a:ln/>
        </p:spPr>
        <p:txBody>
          <a:bodyPr wrap="square" rtlCol="0" anchor="ctr"/>
          <a:lstStyle/>
          <a:p>
            <a:pPr marL="152400" indent="-152400">
              <a:buSzPct val="100000"/>
              <a:buChar char="•"/>
            </a:pPr>
            <a:r>
              <a:rPr lang="en-US" sz="1200" dirty="0">
                <a:latin typeface="Arial" panose="020B0604020202020204" pitchFamily="34" charset="0"/>
                <a:cs typeface="Arial" panose="020B0604020202020204" pitchFamily="34" charset="0"/>
              </a:rPr>
              <a:t>ID collision: removed OR condition; injected explicit NEW_EMP_ID from .env; added strict empNumber/ URL assertion.</a:t>
            </a:r>
          </a:p>
          <a:p>
            <a:pPr marL="152400" indent="-152400">
              <a:buSzPct val="100000"/>
              <a:buChar char="•"/>
            </a:pPr>
            <a:r>
              <a:rPr lang="en-US" sz="1200" dirty="0">
                <a:latin typeface="Arial" panose="020B0604020202020204" pitchFamily="34" charset="0"/>
                <a:cs typeface="Arial" panose="020B0604020202020204" pitchFamily="34" charset="0"/>
              </a:rPr>
              <a:t>Vue timing: replaced networkidle with wait_for_function() polling both success redirect URL and error DOM element simultaneously.</a:t>
            </a:r>
          </a:p>
        </p:txBody>
      </p:sp>
      <p:sp>
        <p:nvSpPr>
          <p:cNvPr id="17" name="Text 3">
            <a:extLst>
              <a:ext uri="{FF2B5EF4-FFF2-40B4-BE49-F238E27FC236}">
                <a16:creationId xmlns:a16="http://schemas.microsoft.com/office/drawing/2014/main" id="{1C775D5B-A040-4AAA-29F9-5D27E71B64DD}"/>
              </a:ext>
            </a:extLst>
          </p:cNvPr>
          <p:cNvSpPr/>
          <p:nvPr/>
        </p:nvSpPr>
        <p:spPr>
          <a:xfrm>
            <a:off x="1280160" y="1132920"/>
            <a:ext cx="7315200" cy="365760"/>
          </a:xfrm>
          <a:prstGeom prst="rect">
            <a:avLst/>
          </a:prstGeom>
          <a:noFill/>
          <a:ln/>
        </p:spPr>
        <p:txBody>
          <a:bodyPr wrap="square" rtlCol="0" anchor="ctr"/>
          <a:lstStyle/>
          <a:p>
            <a:pPr marL="0" indent="0">
              <a:buNone/>
            </a:pPr>
            <a:r>
              <a:rPr lang="en-US" sz="1400" b="1" dirty="0">
                <a:solidFill>
                  <a:srgbClr val="075056"/>
                </a:solidFill>
                <a:latin typeface="Arial" pitchFamily="34" charset="0"/>
                <a:ea typeface="Arial" pitchFamily="34" charset="-122"/>
                <a:cs typeface="Arial" pitchFamily="34" charset="-120"/>
              </a:rPr>
              <a:t>What AI got RIGHT</a:t>
            </a:r>
            <a:endParaRPr lang="en-US" sz="1400" dirty="0"/>
          </a:p>
        </p:txBody>
      </p:sp>
      <p:sp>
        <p:nvSpPr>
          <p:cNvPr id="19" name="Text 7">
            <a:extLst>
              <a:ext uri="{FF2B5EF4-FFF2-40B4-BE49-F238E27FC236}">
                <a16:creationId xmlns:a16="http://schemas.microsoft.com/office/drawing/2014/main" id="{07E86B07-8471-37F4-F682-F29D68AC6241}"/>
              </a:ext>
            </a:extLst>
          </p:cNvPr>
          <p:cNvSpPr/>
          <p:nvPr/>
        </p:nvSpPr>
        <p:spPr>
          <a:xfrm>
            <a:off x="1280160" y="2392128"/>
            <a:ext cx="7315200" cy="365760"/>
          </a:xfrm>
          <a:prstGeom prst="rect">
            <a:avLst/>
          </a:prstGeom>
          <a:noFill/>
          <a:ln/>
        </p:spPr>
        <p:txBody>
          <a:bodyPr wrap="square" rtlCol="0" anchor="ctr"/>
          <a:lstStyle/>
          <a:p>
            <a:pPr marL="0" indent="0">
              <a:buNone/>
            </a:pPr>
            <a:r>
              <a:rPr lang="en-US" sz="1400" b="1">
                <a:solidFill>
                  <a:srgbClr val="FE3A39"/>
                </a:solidFill>
                <a:latin typeface="Arial" pitchFamily="34" charset="0"/>
                <a:ea typeface="Arial" pitchFamily="34" charset="-122"/>
                <a:cs typeface="Arial" pitchFamily="34" charset="-120"/>
              </a:rPr>
              <a:t>What AI got WRONG</a:t>
            </a:r>
            <a:endParaRPr lang="en-US" sz="1400"/>
          </a:p>
        </p:txBody>
      </p:sp>
      <p:sp>
        <p:nvSpPr>
          <p:cNvPr id="21" name="Text 11">
            <a:extLst>
              <a:ext uri="{FF2B5EF4-FFF2-40B4-BE49-F238E27FC236}">
                <a16:creationId xmlns:a16="http://schemas.microsoft.com/office/drawing/2014/main" id="{7A76D905-4019-0331-FD27-D6726957C10C}"/>
              </a:ext>
            </a:extLst>
          </p:cNvPr>
          <p:cNvSpPr/>
          <p:nvPr/>
        </p:nvSpPr>
        <p:spPr>
          <a:xfrm>
            <a:off x="1280160" y="3599136"/>
            <a:ext cx="7315200" cy="365760"/>
          </a:xfrm>
          <a:prstGeom prst="rect">
            <a:avLst/>
          </a:prstGeom>
          <a:noFill/>
          <a:ln/>
        </p:spPr>
        <p:txBody>
          <a:bodyPr wrap="square" rtlCol="0" anchor="ctr"/>
          <a:lstStyle/>
          <a:p>
            <a:pPr marL="0" indent="0">
              <a:buNone/>
            </a:pPr>
            <a:r>
              <a:rPr lang="en-US" sz="1400" b="1">
                <a:solidFill>
                  <a:srgbClr val="024879"/>
                </a:solidFill>
                <a:latin typeface="Arial" pitchFamily="34" charset="0"/>
                <a:ea typeface="Arial" pitchFamily="34" charset="-122"/>
                <a:cs typeface="Arial" pitchFamily="34" charset="-120"/>
              </a:rPr>
              <a:t>What I corrected manually</a:t>
            </a:r>
            <a:endParaRPr lang="en-US" sz="14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7498080" cy="548640"/>
          </a:xfrm>
          <a:prstGeom prst="rect">
            <a:avLst/>
          </a:prstGeom>
          <a:noFill/>
          <a:ln/>
        </p:spPr>
        <p:txBody>
          <a:bodyPr wrap="square" rtlCol="0" anchor="ctr"/>
          <a:lstStyle/>
          <a:p>
            <a:pPr marL="0" indent="0" algn="l">
              <a:buNone/>
            </a:pPr>
            <a:r>
              <a:rPr lang="en-US" sz="2600" b="1" dirty="0">
                <a:solidFill>
                  <a:srgbClr val="024879"/>
                </a:solidFill>
                <a:latin typeface="Arial" pitchFamily="34" charset="0"/>
                <a:ea typeface="Arial" pitchFamily="34" charset="-122"/>
                <a:cs typeface="Arial" pitchFamily="34" charset="-120"/>
              </a:rPr>
              <a:t>Evidence &amp; Artifacts</a:t>
            </a:r>
            <a:endParaRPr lang="en-US" sz="2600" dirty="0"/>
          </a:p>
        </p:txBody>
      </p:sp>
      <p:pic>
        <p:nvPicPr>
          <p:cNvPr id="3" name="Image 0" descr="preencoded.png"/>
          <p:cNvPicPr>
            <a:picLocks noChangeAspect="1"/>
          </p:cNvPicPr>
          <p:nvPr/>
        </p:nvPicPr>
        <p:blipFill>
          <a:blip r:embed="rId3"/>
          <a:stretch>
            <a:fillRect/>
          </a:stretch>
        </p:blipFill>
        <p:spPr>
          <a:xfrm>
            <a:off x="7818120" y="292608"/>
            <a:ext cx="914400" cy="274730"/>
          </a:xfrm>
          <a:prstGeom prst="rect">
            <a:avLst/>
          </a:prstGeom>
        </p:spPr>
      </p:pic>
      <p:sp>
        <p:nvSpPr>
          <p:cNvPr id="4" name="Text 1"/>
          <p:cNvSpPr/>
          <p:nvPr/>
        </p:nvSpPr>
        <p:spPr>
          <a:xfrm>
            <a:off x="457200" y="1097280"/>
            <a:ext cx="8229600" cy="256032"/>
          </a:xfrm>
          <a:prstGeom prst="rect">
            <a:avLst/>
          </a:prstGeom>
          <a:noFill/>
          <a:ln/>
        </p:spPr>
        <p:txBody>
          <a:bodyPr wrap="square" rtlCol="0" anchor="ctr"/>
          <a:lstStyle/>
          <a:p>
            <a:pPr marL="0" indent="0" algn="l">
              <a:buNone/>
            </a:pPr>
            <a:r>
              <a:rPr lang="en-US" sz="1200" b="1">
                <a:solidFill>
                  <a:srgbClr val="075056"/>
                </a:solidFill>
                <a:latin typeface="Arial" pitchFamily="34" charset="0"/>
                <a:ea typeface="Arial" pitchFamily="34" charset="-122"/>
                <a:cs typeface="Arial" pitchFamily="34" charset="-120"/>
              </a:rPr>
              <a:t>Links &amp; attachments — the proof behind every claim</a:t>
            </a:r>
            <a:endParaRPr lang="en-US" sz="1200"/>
          </a:p>
        </p:txBody>
      </p:sp>
      <p:sp>
        <p:nvSpPr>
          <p:cNvPr id="5" name="Text 2"/>
          <p:cNvSpPr/>
          <p:nvPr/>
        </p:nvSpPr>
        <p:spPr>
          <a:xfrm>
            <a:off x="457200" y="1417320"/>
            <a:ext cx="1920240" cy="365760"/>
          </a:xfrm>
          <a:prstGeom prst="rect">
            <a:avLst/>
          </a:prstGeom>
          <a:noFill/>
          <a:ln/>
        </p:spPr>
        <p:txBody>
          <a:bodyPr wrap="square" rtlCol="0" anchor="ctr"/>
          <a:lstStyle/>
          <a:p>
            <a:pPr marL="0" indent="0">
              <a:buNone/>
            </a:pPr>
            <a:r>
              <a:rPr lang="en-US" sz="1150" b="1">
                <a:solidFill>
                  <a:srgbClr val="024879"/>
                </a:solidFill>
                <a:latin typeface="Calibri" pitchFamily="34" charset="0"/>
                <a:ea typeface="Calibri" pitchFamily="34" charset="-122"/>
                <a:cs typeface="Calibri" pitchFamily="34" charset="-120"/>
              </a:rPr>
              <a:t>•  PR link(s) / merged commits</a:t>
            </a:r>
            <a:endParaRPr lang="en-US" sz="1150"/>
          </a:p>
        </p:txBody>
      </p:sp>
      <p:sp>
        <p:nvSpPr>
          <p:cNvPr id="6" name="Shape 3"/>
          <p:cNvSpPr/>
          <p:nvPr/>
        </p:nvSpPr>
        <p:spPr>
          <a:xfrm>
            <a:off x="1908000" y="1417320"/>
            <a:ext cx="2618280" cy="777240"/>
          </a:xfrm>
          <a:prstGeom prst="roundRect">
            <a:avLst>
              <a:gd name="adj" fmla="val 11111"/>
            </a:avLst>
          </a:prstGeom>
          <a:solidFill>
            <a:srgbClr val="DFE7ED"/>
          </a:solidFill>
          <a:ln w="12700">
            <a:solidFill>
              <a:srgbClr val="C5DCEE"/>
            </a:solidFill>
            <a:prstDash val="solid"/>
          </a:ln>
        </p:spPr>
        <p:txBody>
          <a:bodyPr/>
          <a:lstStyle/>
          <a:p>
            <a:endParaRPr lang="en-US"/>
          </a:p>
        </p:txBody>
      </p:sp>
      <p:sp>
        <p:nvSpPr>
          <p:cNvPr id="7" name="Text 4"/>
          <p:cNvSpPr/>
          <p:nvPr/>
        </p:nvSpPr>
        <p:spPr>
          <a:xfrm>
            <a:off x="1953720" y="1597860"/>
            <a:ext cx="2471976" cy="411480"/>
          </a:xfrm>
          <a:prstGeom prst="rect">
            <a:avLst/>
          </a:prstGeom>
          <a:noFill/>
          <a:ln/>
        </p:spPr>
        <p:txBody>
          <a:bodyPr wrap="square" rtlCol="0" anchor="ctr"/>
          <a:lstStyle/>
          <a:p>
            <a:pPr marL="171450" indent="-171450" algn="l">
              <a:buFont typeface="Arial" panose="020B0604020202020204" pitchFamily="34" charset="0"/>
              <a:buChar char="•"/>
            </a:pPr>
            <a:r>
              <a:rPr lang="en-US" sz="1200" dirty="0">
                <a:solidFill>
                  <a:srgbClr val="1B2227"/>
                </a:solidFill>
                <a:latin typeface="Arial" panose="020B0604020202020204" pitchFamily="34" charset="0"/>
                <a:cs typeface="Arial" panose="020B0604020202020204" pitchFamily="34" charset="0"/>
              </a:rPr>
              <a:t>https://github.com/ajulian35/migration-cypress-to-playwright  (branch L2)</a:t>
            </a:r>
          </a:p>
          <a:p>
            <a:pPr marL="171450" indent="-171450" algn="l">
              <a:buFont typeface="Arial" panose="020B0604020202020204" pitchFamily="34" charset="0"/>
              <a:buChar char="•"/>
            </a:pPr>
            <a:r>
              <a:rPr lang="en-US" sz="1200" dirty="0">
                <a:solidFill>
                  <a:srgbClr val="1B2227"/>
                </a:solidFill>
                <a:latin typeface="Arial" panose="020B0604020202020204" pitchFamily="34" charset="0"/>
                <a:cs typeface="Arial" panose="020B0604020202020204" pitchFamily="34" charset="0"/>
              </a:rPr>
              <a:t>REFLECTION.md</a:t>
            </a:r>
          </a:p>
        </p:txBody>
      </p:sp>
      <p:sp>
        <p:nvSpPr>
          <p:cNvPr id="8" name="Text 5"/>
          <p:cNvSpPr/>
          <p:nvPr/>
        </p:nvSpPr>
        <p:spPr>
          <a:xfrm>
            <a:off x="4709160" y="1417320"/>
            <a:ext cx="1920240" cy="365760"/>
          </a:xfrm>
          <a:prstGeom prst="rect">
            <a:avLst/>
          </a:prstGeom>
          <a:noFill/>
          <a:ln/>
        </p:spPr>
        <p:txBody>
          <a:bodyPr wrap="square" rtlCol="0" anchor="ctr"/>
          <a:lstStyle/>
          <a:p>
            <a:pPr marL="0" indent="0">
              <a:buNone/>
            </a:pPr>
            <a:r>
              <a:rPr lang="en-US" sz="1150" b="1">
                <a:solidFill>
                  <a:srgbClr val="024879"/>
                </a:solidFill>
                <a:latin typeface="Calibri" pitchFamily="34" charset="0"/>
                <a:ea typeface="Calibri" pitchFamily="34" charset="-122"/>
                <a:cs typeface="Calibri" pitchFamily="34" charset="-120"/>
              </a:rPr>
              <a:t>•  Design docs / demo recording</a:t>
            </a:r>
            <a:endParaRPr lang="en-US" sz="1150"/>
          </a:p>
        </p:txBody>
      </p:sp>
      <p:sp>
        <p:nvSpPr>
          <p:cNvPr id="9" name="Shape 6"/>
          <p:cNvSpPr/>
          <p:nvPr/>
        </p:nvSpPr>
        <p:spPr>
          <a:xfrm>
            <a:off x="6591600" y="1411031"/>
            <a:ext cx="2103120" cy="777240"/>
          </a:xfrm>
          <a:prstGeom prst="roundRect">
            <a:avLst>
              <a:gd name="adj" fmla="val 11111"/>
            </a:avLst>
          </a:prstGeom>
          <a:solidFill>
            <a:srgbClr val="DFE7ED"/>
          </a:solidFill>
          <a:ln w="12700">
            <a:solidFill>
              <a:srgbClr val="C5DCEE"/>
            </a:solidFill>
            <a:prstDash val="solid"/>
          </a:ln>
        </p:spPr>
        <p:txBody>
          <a:bodyPr/>
          <a:lstStyle/>
          <a:p>
            <a:endParaRPr lang="en-US"/>
          </a:p>
        </p:txBody>
      </p:sp>
      <p:sp>
        <p:nvSpPr>
          <p:cNvPr id="10" name="Text 7"/>
          <p:cNvSpPr/>
          <p:nvPr/>
        </p:nvSpPr>
        <p:spPr>
          <a:xfrm>
            <a:off x="6720228" y="1691532"/>
            <a:ext cx="1883664" cy="411480"/>
          </a:xfrm>
          <a:prstGeom prst="rect">
            <a:avLst/>
          </a:prstGeom>
          <a:noFill/>
          <a:ln/>
        </p:spPr>
        <p:txBody>
          <a:bodyPr wrap="square" rtlCol="0" anchor="ctr"/>
          <a:lstStyle/>
          <a:p>
            <a:pPr marL="171450" indent="-171450" algn="l">
              <a:buFont typeface="Arial" panose="020B0604020202020204" pitchFamily="34" charset="0"/>
              <a:buChar char="•"/>
            </a:pPr>
            <a:r>
              <a:rPr lang="en-US" sz="1200" dirty="0">
                <a:latin typeface="Arial" panose="020B0604020202020204" pitchFamily="34" charset="0"/>
                <a:cs typeface="Arial" panose="020B0604020202020204" pitchFamily="34" charset="0"/>
              </a:rPr>
              <a:t>Demo recording descoped </a:t>
            </a:r>
          </a:p>
          <a:p>
            <a:pPr marL="171450" indent="-171450" algn="l">
              <a:buFont typeface="Arial" panose="020B0604020202020204" pitchFamily="34" charset="0"/>
              <a:buChar char="•"/>
            </a:pPr>
            <a:r>
              <a:rPr lang="en-US" sz="1200" dirty="0">
                <a:latin typeface="Arial" panose="020B0604020202020204" pitchFamily="34" charset="0"/>
                <a:cs typeface="Arial" panose="020B0604020202020204" pitchFamily="34" charset="0"/>
              </a:rPr>
              <a:t>/docs</a:t>
            </a:r>
          </a:p>
          <a:p>
            <a:pPr marL="171450" indent="-171450" algn="l">
              <a:buFont typeface="Arial" panose="020B0604020202020204" pitchFamily="34" charset="0"/>
              <a:buChar char="•"/>
            </a:pPr>
            <a:r>
              <a:rPr lang="en-US" sz="1200" dirty="0">
                <a:latin typeface="Arial" panose="020B0604020202020204" pitchFamily="34" charset="0"/>
                <a:cs typeface="Arial" panose="020B0604020202020204" pitchFamily="34" charset="0"/>
              </a:rPr>
              <a:t>Portkey – Next slide</a:t>
            </a:r>
            <a:br>
              <a:rPr lang="en-US" sz="1200" dirty="0">
                <a:latin typeface="Arial" panose="020B0604020202020204" pitchFamily="34" charset="0"/>
                <a:cs typeface="Arial" panose="020B0604020202020204" pitchFamily="34" charset="0"/>
              </a:rPr>
            </a:br>
            <a:endParaRPr lang="en-US" sz="1200" dirty="0">
              <a:latin typeface="Arial" panose="020B0604020202020204" pitchFamily="34" charset="0"/>
              <a:cs typeface="Arial" panose="020B0604020202020204" pitchFamily="34" charset="0"/>
            </a:endParaRPr>
          </a:p>
        </p:txBody>
      </p:sp>
      <p:sp>
        <p:nvSpPr>
          <p:cNvPr id="11" name="Text 8"/>
          <p:cNvSpPr/>
          <p:nvPr/>
        </p:nvSpPr>
        <p:spPr>
          <a:xfrm>
            <a:off x="411480" y="2520720"/>
            <a:ext cx="1920240" cy="365760"/>
          </a:xfrm>
          <a:prstGeom prst="rect">
            <a:avLst/>
          </a:prstGeom>
          <a:noFill/>
          <a:ln/>
        </p:spPr>
        <p:txBody>
          <a:bodyPr wrap="square" rtlCol="0" anchor="ctr"/>
          <a:lstStyle/>
          <a:p>
            <a:pPr marL="0" indent="0">
              <a:buNone/>
            </a:pPr>
            <a:r>
              <a:rPr lang="en-US" sz="1150" b="1">
                <a:solidFill>
                  <a:srgbClr val="024879"/>
                </a:solidFill>
                <a:latin typeface="Calibri" pitchFamily="34" charset="0"/>
                <a:ea typeface="Calibri" pitchFamily="34" charset="-122"/>
                <a:cs typeface="Calibri" pitchFamily="34" charset="-120"/>
              </a:rPr>
              <a:t>•  Prompt log / agent transcript</a:t>
            </a:r>
            <a:endParaRPr lang="en-US" sz="1150"/>
          </a:p>
        </p:txBody>
      </p:sp>
      <p:sp>
        <p:nvSpPr>
          <p:cNvPr id="12" name="Shape 9"/>
          <p:cNvSpPr/>
          <p:nvPr/>
        </p:nvSpPr>
        <p:spPr>
          <a:xfrm>
            <a:off x="1862280" y="2520720"/>
            <a:ext cx="2618280" cy="1188720"/>
          </a:xfrm>
          <a:prstGeom prst="roundRect">
            <a:avLst>
              <a:gd name="adj" fmla="val 11111"/>
            </a:avLst>
          </a:prstGeom>
          <a:solidFill>
            <a:srgbClr val="DFE7ED"/>
          </a:solidFill>
          <a:ln w="12700">
            <a:solidFill>
              <a:srgbClr val="C5DCEE"/>
            </a:solidFill>
            <a:prstDash val="solid"/>
          </a:ln>
        </p:spPr>
        <p:txBody>
          <a:bodyPr/>
          <a:lstStyle/>
          <a:p>
            <a:endParaRPr lang="en-US"/>
          </a:p>
        </p:txBody>
      </p:sp>
      <p:sp>
        <p:nvSpPr>
          <p:cNvPr id="13" name="Text 10"/>
          <p:cNvSpPr/>
          <p:nvPr/>
        </p:nvSpPr>
        <p:spPr>
          <a:xfrm>
            <a:off x="1898856" y="2845440"/>
            <a:ext cx="2581704" cy="411480"/>
          </a:xfrm>
          <a:prstGeom prst="rect">
            <a:avLst/>
          </a:prstGeom>
          <a:noFill/>
          <a:ln/>
        </p:spPr>
        <p:txBody>
          <a:bodyPr wrap="square" rtlCol="0" anchor="ctr"/>
          <a:lstStyle/>
          <a:p>
            <a:pPr marL="0" indent="0" algn="l">
              <a:buNone/>
            </a:pPr>
            <a:r>
              <a:rPr lang="en-US" sz="1200" dirty="0">
                <a:latin typeface="Arial" panose="020B0604020202020204" pitchFamily="34" charset="0"/>
                <a:cs typeface="Arial" panose="020B0604020202020204" pitchFamily="34" charset="0"/>
              </a:rPr>
              <a:t>Prompts:</a:t>
            </a:r>
          </a:p>
          <a:p>
            <a:pPr marL="171450" indent="-171450" algn="l">
              <a:buFont typeface="Arial" panose="020B0604020202020204" pitchFamily="34" charset="0"/>
              <a:buChar char="•"/>
            </a:pPr>
            <a:r>
              <a:rPr lang="en-US" sz="1200" dirty="0">
                <a:latin typeface="Arial" panose="020B0604020202020204" pitchFamily="34" charset="0"/>
                <a:cs typeface="Arial" panose="020B0604020202020204" pitchFamily="34" charset="0"/>
              </a:rPr>
              <a:t>phase1_cypress_generation.md</a:t>
            </a:r>
          </a:p>
          <a:p>
            <a:pPr marL="171450" indent="-171450" algn="l">
              <a:buFont typeface="Arial" panose="020B0604020202020204" pitchFamily="34" charset="0"/>
              <a:buChar char="•"/>
            </a:pPr>
            <a:r>
              <a:rPr lang="en-US" sz="1200" dirty="0">
                <a:latin typeface="Arial" panose="020B0604020202020204" pitchFamily="34" charset="0"/>
                <a:cs typeface="Arial" panose="020B0604020202020204" pitchFamily="34" charset="0"/>
              </a:rPr>
              <a:t>phase2_playwright_migration.m</a:t>
            </a:r>
          </a:p>
          <a:p>
            <a:pPr marL="171450" indent="-171450" algn="l">
              <a:buFont typeface="Arial" panose="020B0604020202020204" pitchFamily="34" charset="0"/>
              <a:buChar char="•"/>
            </a:pPr>
            <a:r>
              <a:rPr lang="en-US" sz="1200" dirty="0">
                <a:latin typeface="Arial" panose="020B0604020202020204" pitchFamily="34" charset="0"/>
                <a:cs typeface="Arial" panose="020B0604020202020204" pitchFamily="34" charset="0"/>
              </a:rPr>
              <a:t>.claude/agents/playwright-migration.md</a:t>
            </a:r>
          </a:p>
        </p:txBody>
      </p:sp>
      <p:sp>
        <p:nvSpPr>
          <p:cNvPr id="14" name="Text 11"/>
          <p:cNvSpPr/>
          <p:nvPr/>
        </p:nvSpPr>
        <p:spPr>
          <a:xfrm>
            <a:off x="4663440" y="2520720"/>
            <a:ext cx="1920240" cy="365760"/>
          </a:xfrm>
          <a:prstGeom prst="rect">
            <a:avLst/>
          </a:prstGeom>
          <a:noFill/>
          <a:ln/>
        </p:spPr>
        <p:txBody>
          <a:bodyPr wrap="square" rtlCol="0" anchor="ctr"/>
          <a:lstStyle/>
          <a:p>
            <a:pPr marL="0" indent="0">
              <a:buNone/>
            </a:pPr>
            <a:r>
              <a:rPr lang="en-US" sz="1150" b="1">
                <a:solidFill>
                  <a:srgbClr val="024879"/>
                </a:solidFill>
                <a:latin typeface="Calibri" pitchFamily="34" charset="0"/>
                <a:ea typeface="Calibri" pitchFamily="34" charset="-122"/>
                <a:cs typeface="Calibri" pitchFamily="34" charset="-120"/>
              </a:rPr>
              <a:t>•  Screenshots on the slides above</a:t>
            </a:r>
            <a:endParaRPr lang="en-US" sz="1150"/>
          </a:p>
        </p:txBody>
      </p:sp>
      <p:sp>
        <p:nvSpPr>
          <p:cNvPr id="15" name="Shape 12"/>
          <p:cNvSpPr/>
          <p:nvPr/>
        </p:nvSpPr>
        <p:spPr>
          <a:xfrm>
            <a:off x="6629400" y="2520720"/>
            <a:ext cx="2103120" cy="1188720"/>
          </a:xfrm>
          <a:prstGeom prst="roundRect">
            <a:avLst>
              <a:gd name="adj" fmla="val 11111"/>
            </a:avLst>
          </a:prstGeom>
          <a:solidFill>
            <a:srgbClr val="DFE7ED"/>
          </a:solidFill>
          <a:ln w="12700">
            <a:solidFill>
              <a:srgbClr val="C5DCEE"/>
            </a:solidFill>
            <a:prstDash val="solid"/>
          </a:ln>
        </p:spPr>
        <p:txBody>
          <a:bodyPr/>
          <a:lstStyle/>
          <a:p>
            <a:endParaRPr lang="en-US"/>
          </a:p>
        </p:txBody>
      </p:sp>
      <p:sp>
        <p:nvSpPr>
          <p:cNvPr id="16" name="Text 13"/>
          <p:cNvSpPr/>
          <p:nvPr/>
        </p:nvSpPr>
        <p:spPr>
          <a:xfrm>
            <a:off x="6739128" y="2859048"/>
            <a:ext cx="1883664" cy="411480"/>
          </a:xfrm>
          <a:prstGeom prst="rect">
            <a:avLst/>
          </a:prstGeom>
          <a:noFill/>
          <a:ln/>
        </p:spPr>
        <p:txBody>
          <a:bodyPr wrap="square" rtlCol="0" anchor="ctr"/>
          <a:lstStyle/>
          <a:p>
            <a:pPr marL="171450" indent="-171450" algn="l">
              <a:buFont typeface="Arial" panose="020B0604020202020204" pitchFamily="34" charset="0"/>
              <a:buChar char="•"/>
            </a:pPr>
            <a:r>
              <a:rPr lang="en-US" sz="1200" dirty="0">
                <a:latin typeface="Arial" panose="020B0604020202020204" pitchFamily="34" charset="0"/>
                <a:cs typeface="Arial" panose="020B0604020202020204" pitchFamily="34" charset="0"/>
              </a:rPr>
              <a:t>reports/playwright/report.html </a:t>
            </a:r>
          </a:p>
          <a:p>
            <a:pPr marL="171450" indent="-171450" algn="l">
              <a:buFont typeface="Arial" panose="020B0604020202020204" pitchFamily="34" charset="0"/>
              <a:buChar char="•"/>
            </a:pPr>
            <a:r>
              <a:rPr lang="en-US" sz="1200" dirty="0">
                <a:latin typeface="Arial" panose="020B0604020202020204" pitchFamily="34" charset="0"/>
                <a:cs typeface="Arial" panose="020B0604020202020204" pitchFamily="34" charset="0"/>
              </a:rPr>
              <a:t>8/8 passing</a:t>
            </a:r>
          </a:p>
          <a:p>
            <a:pPr marL="171450" indent="-171450" algn="l">
              <a:buFont typeface="Arial" panose="020B0604020202020204" pitchFamily="34" charset="0"/>
              <a:buChar char="•"/>
            </a:pPr>
            <a:r>
              <a:rPr lang="en-US" sz="1200" dirty="0">
                <a:latin typeface="Arial" panose="020B0604020202020204" pitchFamily="34" charset="0"/>
                <a:cs typeface="Arial" panose="020B0604020202020204" pitchFamily="34" charset="0"/>
              </a:rPr>
              <a:t>reports/cypress/</a:t>
            </a:r>
            <a:r>
              <a:rPr lang="en-US" sz="1200" dirty="0" err="1">
                <a:latin typeface="Arial" panose="020B0604020202020204" pitchFamily="34" charset="0"/>
                <a:cs typeface="Arial" panose="020B0604020202020204" pitchFamily="34" charset="0"/>
              </a:rPr>
              <a:t>mochawesome</a:t>
            </a:r>
            <a:endParaRPr lang="en-US" sz="1200" dirty="0">
              <a:latin typeface="Arial" panose="020B0604020202020204" pitchFamily="34" charset="0"/>
              <a:cs typeface="Arial" panose="020B0604020202020204" pitchFamily="34" charset="0"/>
            </a:endParaRPr>
          </a:p>
        </p:txBody>
      </p:sp>
      <p:sp>
        <p:nvSpPr>
          <p:cNvPr id="17" name="Shape 14"/>
          <p:cNvSpPr/>
          <p:nvPr/>
        </p:nvSpPr>
        <p:spPr>
          <a:xfrm>
            <a:off x="457200" y="3800880"/>
            <a:ext cx="8229600" cy="1234440"/>
          </a:xfrm>
          <a:prstGeom prst="roundRect">
            <a:avLst>
              <a:gd name="adj" fmla="val 4444"/>
            </a:avLst>
          </a:prstGeom>
          <a:solidFill>
            <a:srgbClr val="C5DCEE"/>
          </a:solidFill>
          <a:ln/>
        </p:spPr>
        <p:txBody>
          <a:bodyPr/>
          <a:lstStyle/>
          <a:p>
            <a:endParaRPr lang="en-US"/>
          </a:p>
        </p:txBody>
      </p:sp>
      <p:sp>
        <p:nvSpPr>
          <p:cNvPr id="18" name="Text 15"/>
          <p:cNvSpPr/>
          <p:nvPr/>
        </p:nvSpPr>
        <p:spPr>
          <a:xfrm>
            <a:off x="640080" y="3892320"/>
            <a:ext cx="7863840" cy="320040"/>
          </a:xfrm>
          <a:prstGeom prst="rect">
            <a:avLst/>
          </a:prstGeom>
          <a:noFill/>
          <a:ln/>
        </p:spPr>
        <p:txBody>
          <a:bodyPr wrap="square" rtlCol="0" anchor="ctr"/>
          <a:lstStyle/>
          <a:p>
            <a:pPr marL="0" indent="0">
              <a:buNone/>
            </a:pPr>
            <a:r>
              <a:rPr lang="en-US" sz="1400" b="1">
                <a:solidFill>
                  <a:srgbClr val="075056"/>
                </a:solidFill>
                <a:latin typeface="Arial" pitchFamily="34" charset="0"/>
                <a:ea typeface="Arial" pitchFamily="34" charset="-122"/>
                <a:cs typeface="Arial" pitchFamily="34" charset="-120"/>
              </a:rPr>
              <a:t>Your Validator</a:t>
            </a:r>
            <a:endParaRPr lang="en-US" sz="1400"/>
          </a:p>
        </p:txBody>
      </p:sp>
      <p:sp>
        <p:nvSpPr>
          <p:cNvPr id="19" name="Text 16"/>
          <p:cNvSpPr/>
          <p:nvPr/>
        </p:nvSpPr>
        <p:spPr>
          <a:xfrm>
            <a:off x="640080" y="4212360"/>
            <a:ext cx="7863840" cy="274320"/>
          </a:xfrm>
          <a:prstGeom prst="rect">
            <a:avLst/>
          </a:prstGeom>
          <a:noFill/>
          <a:ln/>
        </p:spPr>
        <p:txBody>
          <a:bodyPr wrap="square" rtlCol="0" anchor="ctr"/>
          <a:lstStyle/>
          <a:p>
            <a:pPr marL="0" indent="0">
              <a:buNone/>
            </a:pPr>
            <a:r>
              <a:rPr lang="en-US" sz="1100" i="1">
                <a:solidFill>
                  <a:srgbClr val="024879"/>
                </a:solidFill>
                <a:latin typeface="Calibri" pitchFamily="34" charset="0"/>
                <a:ea typeface="Calibri" pitchFamily="34" charset="-122"/>
                <a:cs typeface="Calibri" pitchFamily="34" charset="-120"/>
              </a:rPr>
              <a:t>Option 1 → client PM / Account Lead   ·   Option 2 → Platform Leader / Owner</a:t>
            </a:r>
            <a:endParaRPr lang="en-US" sz="1100"/>
          </a:p>
        </p:txBody>
      </p:sp>
      <p:sp>
        <p:nvSpPr>
          <p:cNvPr id="20" name="Text 17"/>
          <p:cNvSpPr/>
          <p:nvPr/>
        </p:nvSpPr>
        <p:spPr>
          <a:xfrm>
            <a:off x="640080" y="4578120"/>
            <a:ext cx="7863840" cy="365760"/>
          </a:xfrm>
          <a:prstGeom prst="rect">
            <a:avLst/>
          </a:prstGeom>
          <a:noFill/>
          <a:ln/>
        </p:spPr>
        <p:txBody>
          <a:bodyPr wrap="square" rtlCol="0" anchor="ctr"/>
          <a:lstStyle/>
          <a:p>
            <a:pPr marL="0" indent="0">
              <a:buNone/>
            </a:pPr>
            <a:r>
              <a:rPr lang="en-US" sz="1200" b="1">
                <a:solidFill>
                  <a:srgbClr val="1B2227"/>
                </a:solidFill>
                <a:latin typeface="Calibri" pitchFamily="34" charset="0"/>
                <a:ea typeface="Calibri" pitchFamily="34" charset="-122"/>
                <a:cs typeface="Calibri" pitchFamily="34" charset="-120"/>
              </a:rPr>
              <a:t>Name: </a:t>
            </a:r>
            <a:r>
              <a:rPr lang="en-US" sz="1200">
                <a:solidFill>
                  <a:srgbClr val="1B2227"/>
                </a:solidFill>
                <a:latin typeface="Calibri" pitchFamily="34" charset="0"/>
                <a:ea typeface="Calibri" pitchFamily="34" charset="-122"/>
                <a:cs typeface="Calibri" pitchFamily="34" charset="-120"/>
              </a:rPr>
              <a:t>____________________      </a:t>
            </a:r>
            <a:r>
              <a:rPr lang="en-US" sz="1200" b="1">
                <a:solidFill>
                  <a:srgbClr val="1B2227"/>
                </a:solidFill>
                <a:latin typeface="Calibri" pitchFamily="34" charset="0"/>
                <a:ea typeface="Calibri" pitchFamily="34" charset="-122"/>
                <a:cs typeface="Calibri" pitchFamily="34" charset="-120"/>
              </a:rPr>
              <a:t>Role: </a:t>
            </a:r>
            <a:r>
              <a:rPr lang="en-US" sz="1200">
                <a:solidFill>
                  <a:srgbClr val="1B2227"/>
                </a:solidFill>
                <a:latin typeface="Calibri" pitchFamily="34" charset="0"/>
                <a:ea typeface="Calibri" pitchFamily="34" charset="-122"/>
                <a:cs typeface="Calibri" pitchFamily="34" charset="-120"/>
              </a:rPr>
              <a:t>____________________      </a:t>
            </a:r>
            <a:r>
              <a:rPr lang="en-US" sz="1200" b="1">
                <a:solidFill>
                  <a:srgbClr val="1B2227"/>
                </a:solidFill>
                <a:latin typeface="Calibri" pitchFamily="34" charset="0"/>
                <a:ea typeface="Calibri" pitchFamily="34" charset="-122"/>
                <a:cs typeface="Calibri" pitchFamily="34" charset="-120"/>
              </a:rPr>
              <a:t>Email: </a:t>
            </a:r>
            <a:r>
              <a:rPr lang="en-US" sz="1200">
                <a:solidFill>
                  <a:srgbClr val="1B2227"/>
                </a:solidFill>
                <a:latin typeface="Calibri" pitchFamily="34" charset="0"/>
                <a:ea typeface="Calibri" pitchFamily="34" charset="-122"/>
                <a:cs typeface="Calibri" pitchFamily="34" charset="-120"/>
              </a:rPr>
              <a:t>____________________</a:t>
            </a:r>
            <a:endParaRPr lang="en-US" sz="12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0">
            <a:extLst>
              <a:ext uri="{FF2B5EF4-FFF2-40B4-BE49-F238E27FC236}">
                <a16:creationId xmlns:a16="http://schemas.microsoft.com/office/drawing/2014/main" id="{2321A389-EFBF-70BD-4069-5E47684E3A73}"/>
              </a:ext>
            </a:extLst>
          </p:cNvPr>
          <p:cNvSpPr/>
          <p:nvPr/>
        </p:nvSpPr>
        <p:spPr>
          <a:xfrm>
            <a:off x="385200" y="79200"/>
            <a:ext cx="7498080" cy="548640"/>
          </a:xfrm>
          <a:prstGeom prst="rect">
            <a:avLst/>
          </a:prstGeom>
          <a:noFill/>
          <a:ln/>
        </p:spPr>
        <p:txBody>
          <a:bodyPr wrap="square" rtlCol="0" anchor="ctr"/>
          <a:lstStyle/>
          <a:p>
            <a:pPr marL="0" indent="0" algn="ctr">
              <a:buNone/>
            </a:pPr>
            <a:r>
              <a:rPr lang="en-US" sz="2600" b="1" dirty="0">
                <a:solidFill>
                  <a:srgbClr val="024879"/>
                </a:solidFill>
                <a:latin typeface="Arial" pitchFamily="34" charset="0"/>
                <a:ea typeface="Arial" pitchFamily="34" charset="-122"/>
                <a:cs typeface="Arial" pitchFamily="34" charset="-120"/>
              </a:rPr>
              <a:t>Portkey usage</a:t>
            </a:r>
            <a:endParaRPr lang="en-US" sz="2600" dirty="0"/>
          </a:p>
        </p:txBody>
      </p:sp>
      <p:pic>
        <p:nvPicPr>
          <p:cNvPr id="5" name="Picture 4">
            <a:extLst>
              <a:ext uri="{FF2B5EF4-FFF2-40B4-BE49-F238E27FC236}">
                <a16:creationId xmlns:a16="http://schemas.microsoft.com/office/drawing/2014/main" id="{E8255228-5BA7-BDE3-9055-C61A3D2DA97B}"/>
              </a:ext>
            </a:extLst>
          </p:cNvPr>
          <p:cNvPicPr>
            <a:picLocks noChangeAspect="1"/>
          </p:cNvPicPr>
          <p:nvPr/>
        </p:nvPicPr>
        <p:blipFill>
          <a:blip r:embed="rId2"/>
          <a:stretch>
            <a:fillRect/>
          </a:stretch>
        </p:blipFill>
        <p:spPr>
          <a:xfrm>
            <a:off x="890084" y="704592"/>
            <a:ext cx="7584316" cy="4359708"/>
          </a:xfrm>
          <a:prstGeom prst="rect">
            <a:avLst/>
          </a:prstGeom>
        </p:spPr>
      </p:pic>
    </p:spTree>
    <p:extLst>
      <p:ext uri="{BB962C8B-B14F-4D97-AF65-F5344CB8AC3E}">
        <p14:creationId xmlns:p14="http://schemas.microsoft.com/office/powerpoint/2010/main" val="20010626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9F6C54-64FD-5355-21B8-B9D9780BBE13}"/>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21EE9B78-DE22-BE4B-D6A4-498903BE4748}"/>
              </a:ext>
            </a:extLst>
          </p:cNvPr>
          <p:cNvSpPr/>
          <p:nvPr/>
        </p:nvSpPr>
        <p:spPr>
          <a:xfrm>
            <a:off x="385200" y="79200"/>
            <a:ext cx="8622000" cy="548640"/>
          </a:xfrm>
          <a:prstGeom prst="rect">
            <a:avLst/>
          </a:prstGeom>
          <a:noFill/>
          <a:ln/>
        </p:spPr>
        <p:txBody>
          <a:bodyPr wrap="square" rtlCol="0" anchor="ctr"/>
          <a:lstStyle/>
          <a:p>
            <a:r>
              <a:rPr lang="en-US" sz="2000" b="1" dirty="0">
                <a:solidFill>
                  <a:srgbClr val="024879"/>
                </a:solidFill>
                <a:latin typeface="Arial" pitchFamily="34" charset="0"/>
                <a:cs typeface="Arial" pitchFamily="34" charset="-120"/>
              </a:rPr>
              <a:t>GitHub - </a:t>
            </a:r>
            <a:r>
              <a:rPr lang="en-US" sz="1400" b="1" dirty="0">
                <a:solidFill>
                  <a:srgbClr val="024879"/>
                </a:solidFill>
                <a:latin typeface="Arial" pitchFamily="34" charset="0"/>
                <a:cs typeface="Arial" pitchFamily="34" charset="-120"/>
              </a:rPr>
              <a:t>https://github.com/ajulian35/migration-cypress-to-playwright/tree/L2</a:t>
            </a:r>
            <a:r>
              <a:rPr lang="en-US" b="1" dirty="0">
                <a:solidFill>
                  <a:srgbClr val="024879"/>
                </a:solidFill>
                <a:latin typeface="Arial" pitchFamily="34" charset="0"/>
                <a:cs typeface="Arial" pitchFamily="34" charset="-120"/>
              </a:rPr>
              <a:t> </a:t>
            </a:r>
            <a:endParaRPr lang="en-US" sz="2600" dirty="0"/>
          </a:p>
        </p:txBody>
      </p:sp>
      <p:pic>
        <p:nvPicPr>
          <p:cNvPr id="4" name="Picture 3">
            <a:extLst>
              <a:ext uri="{FF2B5EF4-FFF2-40B4-BE49-F238E27FC236}">
                <a16:creationId xmlns:a16="http://schemas.microsoft.com/office/drawing/2014/main" id="{E39E06B0-592F-9DA2-4DC7-669765A55271}"/>
              </a:ext>
            </a:extLst>
          </p:cNvPr>
          <p:cNvPicPr>
            <a:picLocks noChangeAspect="1"/>
          </p:cNvPicPr>
          <p:nvPr/>
        </p:nvPicPr>
        <p:blipFill>
          <a:blip r:embed="rId2"/>
          <a:stretch>
            <a:fillRect/>
          </a:stretch>
        </p:blipFill>
        <p:spPr>
          <a:xfrm>
            <a:off x="44457" y="627840"/>
            <a:ext cx="6093238" cy="4323430"/>
          </a:xfrm>
          <a:prstGeom prst="rect">
            <a:avLst/>
          </a:prstGeom>
        </p:spPr>
      </p:pic>
      <p:pic>
        <p:nvPicPr>
          <p:cNvPr id="7" name="Picture 6">
            <a:extLst>
              <a:ext uri="{FF2B5EF4-FFF2-40B4-BE49-F238E27FC236}">
                <a16:creationId xmlns:a16="http://schemas.microsoft.com/office/drawing/2014/main" id="{CF4ED5E6-CDBF-C685-CA56-101E146F5291}"/>
              </a:ext>
            </a:extLst>
          </p:cNvPr>
          <p:cNvPicPr>
            <a:picLocks noChangeAspect="1"/>
          </p:cNvPicPr>
          <p:nvPr/>
        </p:nvPicPr>
        <p:blipFill>
          <a:blip r:embed="rId3"/>
          <a:stretch>
            <a:fillRect/>
          </a:stretch>
        </p:blipFill>
        <p:spPr>
          <a:xfrm>
            <a:off x="3441940" y="627840"/>
            <a:ext cx="5657603" cy="4196948"/>
          </a:xfrm>
          <a:prstGeom prst="rect">
            <a:avLst/>
          </a:prstGeom>
        </p:spPr>
      </p:pic>
    </p:spTree>
    <p:extLst>
      <p:ext uri="{BB962C8B-B14F-4D97-AF65-F5344CB8AC3E}">
        <p14:creationId xmlns:p14="http://schemas.microsoft.com/office/powerpoint/2010/main" val="232472364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C3D5F-5F94-3CB1-AF3D-DD4C95826B4A}"/>
            </a:ext>
          </a:extLst>
        </p:cNvPr>
        <p:cNvGrpSpPr/>
        <p:nvPr/>
      </p:nvGrpSpPr>
      <p:grpSpPr>
        <a:xfrm>
          <a:off x="0" y="0"/>
          <a:ext cx="0" cy="0"/>
          <a:chOff x="0" y="0"/>
          <a:chExt cx="0" cy="0"/>
        </a:xfrm>
      </p:grpSpPr>
      <p:sp>
        <p:nvSpPr>
          <p:cNvPr id="3" name="Text 0">
            <a:extLst>
              <a:ext uri="{FF2B5EF4-FFF2-40B4-BE49-F238E27FC236}">
                <a16:creationId xmlns:a16="http://schemas.microsoft.com/office/drawing/2014/main" id="{73D485B2-CD3B-3880-350F-6F74D7FEF306}"/>
              </a:ext>
            </a:extLst>
          </p:cNvPr>
          <p:cNvSpPr/>
          <p:nvPr/>
        </p:nvSpPr>
        <p:spPr>
          <a:xfrm>
            <a:off x="385200" y="79200"/>
            <a:ext cx="8622000" cy="548640"/>
          </a:xfrm>
          <a:prstGeom prst="rect">
            <a:avLst/>
          </a:prstGeom>
          <a:noFill/>
          <a:ln/>
        </p:spPr>
        <p:txBody>
          <a:bodyPr wrap="square" rtlCol="0" anchor="ctr"/>
          <a:lstStyle/>
          <a:p>
            <a:pPr algn="ctr"/>
            <a:r>
              <a:rPr lang="en-US" sz="2400" b="1" dirty="0">
                <a:solidFill>
                  <a:srgbClr val="024879"/>
                </a:solidFill>
                <a:latin typeface="Arial" pitchFamily="34" charset="0"/>
                <a:cs typeface="Arial" pitchFamily="34" charset="-120"/>
              </a:rPr>
              <a:t>Results</a:t>
            </a:r>
            <a:r>
              <a:rPr lang="en-US" sz="2000" b="1" dirty="0">
                <a:solidFill>
                  <a:srgbClr val="024879"/>
                </a:solidFill>
                <a:latin typeface="Arial" pitchFamily="34" charset="0"/>
                <a:cs typeface="Arial" pitchFamily="34" charset="-120"/>
              </a:rPr>
              <a:t> </a:t>
            </a:r>
            <a:endParaRPr lang="en-US" sz="2600" dirty="0"/>
          </a:p>
        </p:txBody>
      </p:sp>
      <p:sp>
        <p:nvSpPr>
          <p:cNvPr id="5" name="Text 0">
            <a:extLst>
              <a:ext uri="{FF2B5EF4-FFF2-40B4-BE49-F238E27FC236}">
                <a16:creationId xmlns:a16="http://schemas.microsoft.com/office/drawing/2014/main" id="{69CE0A46-6277-FB70-C834-615002EF349B}"/>
              </a:ext>
            </a:extLst>
          </p:cNvPr>
          <p:cNvSpPr/>
          <p:nvPr/>
        </p:nvSpPr>
        <p:spPr>
          <a:xfrm>
            <a:off x="261000" y="1102800"/>
            <a:ext cx="8622000" cy="548640"/>
          </a:xfrm>
          <a:prstGeom prst="rect">
            <a:avLst/>
          </a:prstGeom>
          <a:noFill/>
          <a:ln/>
        </p:spPr>
        <p:txBody>
          <a:bodyPr wrap="square" rtlCol="0" anchor="ctr"/>
          <a:lstStyle/>
          <a:p>
            <a:r>
              <a:rPr lang="en-US" sz="2000" b="1" dirty="0">
                <a:solidFill>
                  <a:srgbClr val="024879"/>
                </a:solidFill>
                <a:latin typeface="Arial" pitchFamily="34" charset="0"/>
                <a:cs typeface="Arial" pitchFamily="34" charset="-120"/>
              </a:rPr>
              <a:t>	     Cypress </a:t>
            </a:r>
            <a:endParaRPr lang="en-US" sz="2600" dirty="0"/>
          </a:p>
        </p:txBody>
      </p:sp>
      <p:sp>
        <p:nvSpPr>
          <p:cNvPr id="8" name="Text 0">
            <a:extLst>
              <a:ext uri="{FF2B5EF4-FFF2-40B4-BE49-F238E27FC236}">
                <a16:creationId xmlns:a16="http://schemas.microsoft.com/office/drawing/2014/main" id="{4FD575A1-112D-5FCC-35C9-D368AE85E47C}"/>
              </a:ext>
            </a:extLst>
          </p:cNvPr>
          <p:cNvSpPr/>
          <p:nvPr/>
        </p:nvSpPr>
        <p:spPr>
          <a:xfrm>
            <a:off x="5899800" y="1111200"/>
            <a:ext cx="2720923" cy="548640"/>
          </a:xfrm>
          <a:prstGeom prst="rect">
            <a:avLst/>
          </a:prstGeom>
          <a:noFill/>
          <a:ln/>
        </p:spPr>
        <p:txBody>
          <a:bodyPr wrap="square" rtlCol="0" anchor="ctr"/>
          <a:lstStyle/>
          <a:p>
            <a:r>
              <a:rPr lang="en-US" sz="2000" b="1" dirty="0">
                <a:solidFill>
                  <a:srgbClr val="024879"/>
                </a:solidFill>
                <a:latin typeface="Arial" pitchFamily="34" charset="0"/>
                <a:cs typeface="Arial" pitchFamily="34" charset="-120"/>
              </a:rPr>
              <a:t>Playwright </a:t>
            </a:r>
            <a:endParaRPr lang="en-US" sz="2600" dirty="0"/>
          </a:p>
        </p:txBody>
      </p:sp>
      <p:pic>
        <p:nvPicPr>
          <p:cNvPr id="12" name="Picture 11">
            <a:extLst>
              <a:ext uri="{FF2B5EF4-FFF2-40B4-BE49-F238E27FC236}">
                <a16:creationId xmlns:a16="http://schemas.microsoft.com/office/drawing/2014/main" id="{AF398236-A426-7297-811E-24D2F233B39E}"/>
              </a:ext>
            </a:extLst>
          </p:cNvPr>
          <p:cNvPicPr>
            <a:picLocks noChangeAspect="1"/>
          </p:cNvPicPr>
          <p:nvPr/>
        </p:nvPicPr>
        <p:blipFill>
          <a:blip r:embed="rId2"/>
          <a:stretch>
            <a:fillRect/>
          </a:stretch>
        </p:blipFill>
        <p:spPr>
          <a:xfrm>
            <a:off x="86681" y="1815004"/>
            <a:ext cx="4362919" cy="2785796"/>
          </a:xfrm>
          <a:prstGeom prst="rect">
            <a:avLst/>
          </a:prstGeom>
        </p:spPr>
      </p:pic>
      <p:pic>
        <p:nvPicPr>
          <p:cNvPr id="14" name="Picture 13">
            <a:extLst>
              <a:ext uri="{FF2B5EF4-FFF2-40B4-BE49-F238E27FC236}">
                <a16:creationId xmlns:a16="http://schemas.microsoft.com/office/drawing/2014/main" id="{825437CD-F68B-90F6-A19A-8B6972F2B258}"/>
              </a:ext>
            </a:extLst>
          </p:cNvPr>
          <p:cNvPicPr>
            <a:picLocks noChangeAspect="1"/>
          </p:cNvPicPr>
          <p:nvPr/>
        </p:nvPicPr>
        <p:blipFill>
          <a:blip r:embed="rId3"/>
          <a:stretch>
            <a:fillRect/>
          </a:stretch>
        </p:blipFill>
        <p:spPr>
          <a:xfrm>
            <a:off x="4507200" y="1815004"/>
            <a:ext cx="4572000" cy="2728196"/>
          </a:xfrm>
          <a:prstGeom prst="rect">
            <a:avLst/>
          </a:prstGeom>
        </p:spPr>
      </p:pic>
    </p:spTree>
    <p:extLst>
      <p:ext uri="{BB962C8B-B14F-4D97-AF65-F5344CB8AC3E}">
        <p14:creationId xmlns:p14="http://schemas.microsoft.com/office/powerpoint/2010/main" val="142984621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7498080" cy="548640"/>
          </a:xfrm>
          <a:prstGeom prst="rect">
            <a:avLst/>
          </a:prstGeom>
          <a:noFill/>
          <a:ln/>
        </p:spPr>
        <p:txBody>
          <a:bodyPr wrap="square" rtlCol="0" anchor="ctr"/>
          <a:lstStyle/>
          <a:p>
            <a:pPr marL="0" indent="0" algn="l">
              <a:buNone/>
            </a:pPr>
            <a:r>
              <a:rPr lang="en-US" sz="2600" b="1">
                <a:solidFill>
                  <a:srgbClr val="024879"/>
                </a:solidFill>
                <a:latin typeface="Arial" pitchFamily="34" charset="0"/>
                <a:ea typeface="Arial" pitchFamily="34" charset="-122"/>
                <a:cs typeface="Arial" pitchFamily="34" charset="-120"/>
              </a:rPr>
              <a:t>The Rubric — 5 Topics</a:t>
            </a:r>
            <a:endParaRPr lang="en-US" sz="2600"/>
          </a:p>
        </p:txBody>
      </p:sp>
      <p:pic>
        <p:nvPicPr>
          <p:cNvPr id="3" name="Image 0" descr="preencoded.png"/>
          <p:cNvPicPr>
            <a:picLocks noChangeAspect="1"/>
          </p:cNvPicPr>
          <p:nvPr/>
        </p:nvPicPr>
        <p:blipFill>
          <a:blip r:embed="rId3"/>
          <a:stretch>
            <a:fillRect/>
          </a:stretch>
        </p:blipFill>
        <p:spPr>
          <a:xfrm>
            <a:off x="7818120" y="292608"/>
            <a:ext cx="914400" cy="274730"/>
          </a:xfrm>
          <a:prstGeom prst="rect">
            <a:avLst/>
          </a:prstGeom>
        </p:spPr>
      </p:pic>
      <p:sp>
        <p:nvSpPr>
          <p:cNvPr id="4" name="Text 1"/>
          <p:cNvSpPr/>
          <p:nvPr/>
        </p:nvSpPr>
        <p:spPr>
          <a:xfrm>
            <a:off x="457200" y="896112"/>
            <a:ext cx="8229600" cy="274320"/>
          </a:xfrm>
          <a:prstGeom prst="rect">
            <a:avLst/>
          </a:prstGeom>
          <a:noFill/>
          <a:ln/>
        </p:spPr>
        <p:txBody>
          <a:bodyPr wrap="square" rtlCol="0" anchor="ctr"/>
          <a:lstStyle/>
          <a:p>
            <a:pPr marL="0" indent="0">
              <a:buNone/>
            </a:pPr>
            <a:r>
              <a:rPr lang="en-US" sz="1200" i="1">
                <a:solidFill>
                  <a:srgbClr val="5A6B72"/>
                </a:solidFill>
                <a:latin typeface="Calibri" pitchFamily="34" charset="0"/>
                <a:ea typeface="Calibri" pitchFamily="34" charset="-122"/>
                <a:cs typeface="Calibri" pitchFamily="34" charset="-120"/>
              </a:rPr>
              <a:t>Each topic scored 0–30. Demonstrate at least 3. Clear at 70 / 150.</a:t>
            </a:r>
            <a:endParaRPr lang="en-US" sz="120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234440"/>
          <a:ext cx="8229600" cy="3200400"/>
        </p:xfrm>
        <a:graphic>
          <a:graphicData uri="http://schemas.openxmlformats.org/drawingml/2006/table">
            <a:tbl>
              <a:tblPr/>
              <a:tblGrid>
                <a:gridCol w="2468880">
                  <a:extLst>
                    <a:ext uri="{9D8B030D-6E8A-4147-A177-3AD203B41FA5}">
                      <a16:colId xmlns:a16="http://schemas.microsoft.com/office/drawing/2014/main" val="20000"/>
                    </a:ext>
                  </a:extLst>
                </a:gridCol>
                <a:gridCol w="502920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tblGrid>
              <a:tr h="365760">
                <a:tc>
                  <a:txBody>
                    <a:bodyPr/>
                    <a:lstStyle/>
                    <a:p>
                      <a:pPr marL="0" indent="0">
                        <a:buNone/>
                      </a:pPr>
                      <a:r>
                        <a:rPr lang="en-US" sz="1100" b="1">
                          <a:solidFill>
                            <a:srgbClr val="FFFFFF"/>
                          </a:solidFill>
                          <a:latin typeface="Calibri" pitchFamily="34" charset="0"/>
                          <a:ea typeface="Calibri" pitchFamily="34" charset="-122"/>
                          <a:cs typeface="Calibri" pitchFamily="34" charset="-120"/>
                        </a:rPr>
                        <a:t>Competency topic</a:t>
                      </a:r>
                      <a:endParaRPr lang="en-US" sz="11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075056"/>
                    </a:solidFill>
                  </a:tcPr>
                </a:tc>
                <a:tc>
                  <a:txBody>
                    <a:bodyPr/>
                    <a:lstStyle/>
                    <a:p>
                      <a:pPr marL="0" indent="0">
                        <a:buNone/>
                      </a:pPr>
                      <a:r>
                        <a:rPr lang="en-US" sz="1100" b="1">
                          <a:solidFill>
                            <a:srgbClr val="FFFFFF"/>
                          </a:solidFill>
                          <a:latin typeface="Calibri" pitchFamily="34" charset="0"/>
                          <a:ea typeface="Calibri" pitchFamily="34" charset="-122"/>
                          <a:cs typeface="Calibri" pitchFamily="34" charset="-120"/>
                        </a:rPr>
                        <a:t>What earns top marks (25–30)</a:t>
                      </a:r>
                      <a:endParaRPr lang="en-US" sz="11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075056"/>
                    </a:solidFill>
                  </a:tcPr>
                </a:tc>
                <a:tc>
                  <a:txBody>
                    <a:bodyPr/>
                    <a:lstStyle/>
                    <a:p>
                      <a:pPr marL="0" indent="0" algn="ctr">
                        <a:buNone/>
                      </a:pPr>
                      <a:r>
                        <a:rPr lang="en-US" sz="1100" b="1">
                          <a:solidFill>
                            <a:srgbClr val="FFFFFF"/>
                          </a:solidFill>
                          <a:latin typeface="Calibri" pitchFamily="34" charset="0"/>
                          <a:ea typeface="Calibri" pitchFamily="34" charset="-122"/>
                          <a:cs typeface="Calibri" pitchFamily="34" charset="-120"/>
                        </a:rPr>
                        <a:t>Max</a:t>
                      </a:r>
                      <a:endParaRPr lang="en-US" sz="11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075056"/>
                    </a:solidFill>
                  </a:tcPr>
                </a:tc>
                <a:extLst>
                  <a:ext uri="{0D108BD9-81ED-4DB2-BD59-A6C34878D82A}">
                    <a16:rowId xmlns:a16="http://schemas.microsoft.com/office/drawing/2014/main" val="10000"/>
                  </a:ext>
                </a:extLst>
              </a:tr>
              <a:tr h="566928">
                <a:tc>
                  <a:txBody>
                    <a:bodyPr/>
                    <a:lstStyle/>
                    <a:p>
                      <a:pPr marL="0" indent="0">
                        <a:buNone/>
                      </a:pPr>
                      <a:r>
                        <a:rPr lang="en-US" sz="1100" b="1">
                          <a:solidFill>
                            <a:srgbClr val="024879"/>
                          </a:solidFill>
                          <a:latin typeface="Calibri" pitchFamily="34" charset="0"/>
                          <a:ea typeface="Calibri" pitchFamily="34" charset="-122"/>
                          <a:cs typeface="Calibri" pitchFamily="34" charset="-120"/>
                        </a:rPr>
                        <a:t>Spec-Driven Development</a:t>
                      </a:r>
                      <a:endParaRPr lang="en-US" sz="11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DFE7ED"/>
                    </a:solidFill>
                  </a:tcPr>
                </a:tc>
                <a:tc>
                  <a:txBody>
                    <a:bodyPr/>
                    <a:lstStyle/>
                    <a:p>
                      <a:pPr marL="0" indent="0">
                        <a:buNone/>
                      </a:pPr>
                      <a:r>
                        <a:rPr lang="en-US" sz="1100">
                          <a:solidFill>
                            <a:srgbClr val="1B2227"/>
                          </a:solidFill>
                          <a:latin typeface="Calibri" pitchFamily="34" charset="0"/>
                          <a:ea typeface="Calibri" pitchFamily="34" charset="-122"/>
                          <a:cs typeface="Calibri" pitchFamily="34" charset="-120"/>
                        </a:rPr>
                        <a:t>Spec discipline governs agent behaviour and hand-offs, not just a single file.</a:t>
                      </a:r>
                      <a:endParaRPr lang="en-US" sz="11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DFE7ED"/>
                    </a:solidFill>
                  </a:tcPr>
                </a:tc>
                <a:tc>
                  <a:txBody>
                    <a:bodyPr/>
                    <a:lstStyle/>
                    <a:p>
                      <a:pPr marL="0" indent="0" algn="ctr">
                        <a:buNone/>
                      </a:pPr>
                      <a:r>
                        <a:rPr lang="en-US" sz="1100" b="1">
                          <a:solidFill>
                            <a:srgbClr val="1B2227"/>
                          </a:solidFill>
                          <a:latin typeface="Calibri" pitchFamily="34" charset="0"/>
                          <a:ea typeface="Calibri" pitchFamily="34" charset="-122"/>
                          <a:cs typeface="Calibri" pitchFamily="34" charset="-120"/>
                        </a:rPr>
                        <a:t>30</a:t>
                      </a:r>
                      <a:endParaRPr lang="en-US" sz="11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DFE7ED"/>
                    </a:solidFill>
                  </a:tcPr>
                </a:tc>
                <a:extLst>
                  <a:ext uri="{0D108BD9-81ED-4DB2-BD59-A6C34878D82A}">
                    <a16:rowId xmlns:a16="http://schemas.microsoft.com/office/drawing/2014/main" val="10001"/>
                  </a:ext>
                </a:extLst>
              </a:tr>
              <a:tr h="566928">
                <a:tc>
                  <a:txBody>
                    <a:bodyPr/>
                    <a:lstStyle/>
                    <a:p>
                      <a:pPr marL="0" indent="0">
                        <a:buNone/>
                      </a:pPr>
                      <a:r>
                        <a:rPr lang="en-US" sz="1100" b="1">
                          <a:solidFill>
                            <a:srgbClr val="024879"/>
                          </a:solidFill>
                          <a:latin typeface="Calibri" pitchFamily="34" charset="0"/>
                          <a:ea typeface="Calibri" pitchFamily="34" charset="-122"/>
                          <a:cs typeface="Calibri" pitchFamily="34" charset="-120"/>
                        </a:rPr>
                        <a:t>AI-Powered Development</a:t>
                      </a:r>
                      <a:endParaRPr lang="en-US" sz="11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tc>
                  <a:txBody>
                    <a:bodyPr/>
                    <a:lstStyle/>
                    <a:p>
                      <a:pPr marL="0" indent="0">
                        <a:buNone/>
                      </a:pPr>
                      <a:r>
                        <a:rPr lang="en-US" sz="1100">
                          <a:solidFill>
                            <a:srgbClr val="1B2227"/>
                          </a:solidFill>
                          <a:latin typeface="Calibri" pitchFamily="34" charset="0"/>
                          <a:ea typeface="Calibri" pitchFamily="34" charset="-122"/>
                          <a:cs typeface="Calibri" pitchFamily="34" charset="-120"/>
                        </a:rPr>
                        <a:t>Advanced Claude Code / Copilot (agent modes, CLI, skills) delivering working software.</a:t>
                      </a:r>
                      <a:endParaRPr lang="en-US" sz="11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tc>
                  <a:txBody>
                    <a:bodyPr/>
                    <a:lstStyle/>
                    <a:p>
                      <a:pPr marL="0" indent="0" algn="ctr">
                        <a:buNone/>
                      </a:pPr>
                      <a:r>
                        <a:rPr lang="en-US" sz="1100" b="1">
                          <a:solidFill>
                            <a:srgbClr val="1B2227"/>
                          </a:solidFill>
                          <a:latin typeface="Calibri" pitchFamily="34" charset="0"/>
                          <a:ea typeface="Calibri" pitchFamily="34" charset="-122"/>
                          <a:cs typeface="Calibri" pitchFamily="34" charset="-120"/>
                        </a:rPr>
                        <a:t>30</a:t>
                      </a:r>
                      <a:endParaRPr lang="en-US" sz="11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100" b="1">
                          <a:solidFill>
                            <a:srgbClr val="024879"/>
                          </a:solidFill>
                          <a:latin typeface="Calibri" pitchFamily="34" charset="0"/>
                          <a:ea typeface="Calibri" pitchFamily="34" charset="-122"/>
                          <a:cs typeface="Calibri" pitchFamily="34" charset="-120"/>
                        </a:rPr>
                        <a:t>LLM Evaluation &amp; Interpretability</a:t>
                      </a:r>
                      <a:endParaRPr lang="en-US" sz="11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DFE7ED"/>
                    </a:solidFill>
                  </a:tcPr>
                </a:tc>
                <a:tc>
                  <a:txBody>
                    <a:bodyPr/>
                    <a:lstStyle/>
                    <a:p>
                      <a:pPr marL="0" indent="0">
                        <a:buNone/>
                      </a:pPr>
                      <a:r>
                        <a:rPr lang="en-US" sz="1100">
                          <a:solidFill>
                            <a:srgbClr val="1B2227"/>
                          </a:solidFill>
                          <a:latin typeface="Calibri" pitchFamily="34" charset="0"/>
                          <a:ea typeface="Calibri" pitchFamily="34" charset="-122"/>
                          <a:cs typeface="Calibri" pitchFamily="34" charset="-120"/>
                        </a:rPr>
                        <a:t>Objective evaluation (LLM-as-judge, scored comparisons); data-grounded decisions.</a:t>
                      </a:r>
                      <a:endParaRPr lang="en-US" sz="11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DFE7ED"/>
                    </a:solidFill>
                  </a:tcPr>
                </a:tc>
                <a:tc>
                  <a:txBody>
                    <a:bodyPr/>
                    <a:lstStyle/>
                    <a:p>
                      <a:pPr marL="0" indent="0" algn="ctr">
                        <a:buNone/>
                      </a:pPr>
                      <a:r>
                        <a:rPr lang="en-US" sz="1100" b="1">
                          <a:solidFill>
                            <a:srgbClr val="1B2227"/>
                          </a:solidFill>
                          <a:latin typeface="Calibri" pitchFamily="34" charset="0"/>
                          <a:ea typeface="Calibri" pitchFamily="34" charset="-122"/>
                          <a:cs typeface="Calibri" pitchFamily="34" charset="-120"/>
                        </a:rPr>
                        <a:t>30</a:t>
                      </a:r>
                      <a:endParaRPr lang="en-US" sz="11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DFE7ED"/>
                    </a:solidFill>
                  </a:tcPr>
                </a:tc>
                <a:extLst>
                  <a:ext uri="{0D108BD9-81ED-4DB2-BD59-A6C34878D82A}">
                    <a16:rowId xmlns:a16="http://schemas.microsoft.com/office/drawing/2014/main" val="10003"/>
                  </a:ext>
                </a:extLst>
              </a:tr>
              <a:tr h="566928">
                <a:tc>
                  <a:txBody>
                    <a:bodyPr/>
                    <a:lstStyle/>
                    <a:p>
                      <a:pPr marL="0" indent="0">
                        <a:buNone/>
                      </a:pPr>
                      <a:r>
                        <a:rPr lang="en-US" sz="1100" b="1">
                          <a:solidFill>
                            <a:srgbClr val="024879"/>
                          </a:solidFill>
                          <a:latin typeface="Calibri" pitchFamily="34" charset="0"/>
                          <a:ea typeface="Calibri" pitchFamily="34" charset="-122"/>
                          <a:cs typeface="Calibri" pitchFamily="34" charset="-120"/>
                        </a:rPr>
                        <a:t>Agent Design, Orchestration &amp; Ops</a:t>
                      </a:r>
                      <a:endParaRPr lang="en-US" sz="11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tc>
                  <a:txBody>
                    <a:bodyPr/>
                    <a:lstStyle/>
                    <a:p>
                      <a:pPr marL="0" indent="0">
                        <a:buNone/>
                      </a:pPr>
                      <a:r>
                        <a:rPr lang="en-US" sz="1100">
                          <a:solidFill>
                            <a:srgbClr val="1B2227"/>
                          </a:solidFill>
                          <a:latin typeface="Calibri" pitchFamily="34" charset="0"/>
                          <a:ea typeface="Calibri" pitchFamily="34" charset="-122"/>
                          <a:cs typeface="Calibri" pitchFamily="34" charset="-120"/>
                        </a:rPr>
                        <a:t>Multi-agent / multi-step orchestration with failure handling, recovery, observability.</a:t>
                      </a:r>
                      <a:endParaRPr lang="en-US" sz="11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tc>
                  <a:txBody>
                    <a:bodyPr/>
                    <a:lstStyle/>
                    <a:p>
                      <a:pPr marL="0" indent="0" algn="ctr">
                        <a:buNone/>
                      </a:pPr>
                      <a:r>
                        <a:rPr lang="en-US" sz="1100" b="1">
                          <a:solidFill>
                            <a:srgbClr val="1B2227"/>
                          </a:solidFill>
                          <a:latin typeface="Calibri" pitchFamily="34" charset="0"/>
                          <a:ea typeface="Calibri" pitchFamily="34" charset="-122"/>
                          <a:cs typeface="Calibri" pitchFamily="34" charset="-120"/>
                        </a:rPr>
                        <a:t>30</a:t>
                      </a:r>
                      <a:endParaRPr lang="en-US" sz="11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100" b="1">
                          <a:solidFill>
                            <a:srgbClr val="024879"/>
                          </a:solidFill>
                          <a:latin typeface="Calibri" pitchFamily="34" charset="0"/>
                          <a:ea typeface="Calibri" pitchFamily="34" charset="-122"/>
                          <a:cs typeface="Calibri" pitchFamily="34" charset="-120"/>
                        </a:rPr>
                        <a:t>AI Tool Integration &amp; Extensibility</a:t>
                      </a:r>
                      <a:endParaRPr lang="en-US" sz="11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DFE7ED"/>
                    </a:solidFill>
                  </a:tcPr>
                </a:tc>
                <a:tc>
                  <a:txBody>
                    <a:bodyPr/>
                    <a:lstStyle/>
                    <a:p>
                      <a:pPr marL="0" indent="0">
                        <a:buNone/>
                      </a:pPr>
                      <a:r>
                        <a:rPr lang="en-US" sz="1100">
                          <a:solidFill>
                            <a:srgbClr val="1B2227"/>
                          </a:solidFill>
                          <a:latin typeface="Calibri" pitchFamily="34" charset="0"/>
                          <a:ea typeface="Calibri" pitchFamily="34" charset="-122"/>
                          <a:cs typeface="Calibri" pitchFamily="34" charset="-120"/>
                        </a:rPr>
                        <a:t>Extended agents via MCP servers, hooks, or custom skills/tools — secure and reusable.</a:t>
                      </a:r>
                      <a:endParaRPr lang="en-US" sz="11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DFE7ED"/>
                    </a:solidFill>
                  </a:tcPr>
                </a:tc>
                <a:tc>
                  <a:txBody>
                    <a:bodyPr/>
                    <a:lstStyle/>
                    <a:p>
                      <a:pPr marL="0" indent="0" algn="ctr">
                        <a:buNone/>
                      </a:pPr>
                      <a:r>
                        <a:rPr lang="en-US" sz="1100" b="1">
                          <a:solidFill>
                            <a:srgbClr val="1B2227"/>
                          </a:solidFill>
                          <a:latin typeface="Calibri" pitchFamily="34" charset="0"/>
                          <a:ea typeface="Calibri" pitchFamily="34" charset="-122"/>
                          <a:cs typeface="Calibri" pitchFamily="34" charset="-120"/>
                        </a:rPr>
                        <a:t>30</a:t>
                      </a:r>
                      <a:endParaRPr lang="en-US" sz="1100">
                        <a:latin typeface="Calibri" charset="0"/>
                        <a:ea typeface="Calibri" charset="0"/>
                        <a:cs typeface="Calibri" charset="0"/>
                      </a:endParaRPr>
                    </a:p>
                  </a:txBody>
                  <a:tcPr anchor="ctr">
                    <a:lnL w="6350" cap="flat" cmpd="sng" algn="ctr">
                      <a:solidFill>
                        <a:srgbClr val="B7C4CC"/>
                      </a:solidFill>
                      <a:prstDash val="solid"/>
                      <a:round/>
                      <a:headEnd type="none" w="med" len="med"/>
                      <a:tailEnd type="none" w="med" len="med"/>
                    </a:lnL>
                    <a:lnR w="6350" cap="flat" cmpd="sng" algn="ctr">
                      <a:solidFill>
                        <a:srgbClr val="B7C4CC"/>
                      </a:solidFill>
                      <a:prstDash val="solid"/>
                      <a:round/>
                      <a:headEnd type="none" w="med" len="med"/>
                      <a:tailEnd type="none" w="med" len="med"/>
                    </a:lnR>
                    <a:lnT w="6350" cap="flat" cmpd="sng" algn="ctr">
                      <a:solidFill>
                        <a:srgbClr val="B7C4CC"/>
                      </a:solidFill>
                      <a:prstDash val="solid"/>
                      <a:round/>
                      <a:headEnd type="none" w="med" len="med"/>
                      <a:tailEnd type="none" w="med" len="med"/>
                    </a:lnT>
                    <a:lnB w="6350" cap="flat" cmpd="sng" algn="ctr">
                      <a:solidFill>
                        <a:srgbClr val="B7C4CC"/>
                      </a:solidFill>
                      <a:prstDash val="solid"/>
                      <a:round/>
                      <a:headEnd type="none" w="med" len="med"/>
                      <a:tailEnd type="none" w="med" len="med"/>
                    </a:lnB>
                    <a:solidFill>
                      <a:srgbClr val="DFE7ED"/>
                    </a:solidFill>
                  </a:tcPr>
                </a:tc>
                <a:extLst>
                  <a:ext uri="{0D108BD9-81ED-4DB2-BD59-A6C34878D82A}">
                    <a16:rowId xmlns:a16="http://schemas.microsoft.com/office/drawing/2014/main" val="10005"/>
                  </a:ext>
                </a:extLst>
              </a:tr>
            </a:tbl>
          </a:graphicData>
        </a:graphic>
      </p:graphicFrame>
      <p:sp>
        <p:nvSpPr>
          <p:cNvPr id="6" name="Shape 2"/>
          <p:cNvSpPr/>
          <p:nvPr/>
        </p:nvSpPr>
        <p:spPr>
          <a:xfrm>
            <a:off x="457200" y="4526280"/>
            <a:ext cx="1965960" cy="411480"/>
          </a:xfrm>
          <a:prstGeom prst="roundRect">
            <a:avLst>
              <a:gd name="adj" fmla="val 8889"/>
            </a:avLst>
          </a:prstGeom>
          <a:solidFill>
            <a:srgbClr val="71D8C5"/>
          </a:solidFill>
          <a:ln w="9525">
            <a:solidFill>
              <a:srgbClr val="B7C4CC"/>
            </a:solidFill>
            <a:prstDash val="solid"/>
          </a:ln>
        </p:spPr>
        <p:txBody>
          <a:bodyPr/>
          <a:lstStyle/>
          <a:p>
            <a:endParaRPr lang="en-US"/>
          </a:p>
        </p:txBody>
      </p:sp>
      <p:sp>
        <p:nvSpPr>
          <p:cNvPr id="7" name="Text 3"/>
          <p:cNvSpPr/>
          <p:nvPr/>
        </p:nvSpPr>
        <p:spPr>
          <a:xfrm>
            <a:off x="457200" y="4526280"/>
            <a:ext cx="1965960" cy="411480"/>
          </a:xfrm>
          <a:prstGeom prst="rect">
            <a:avLst/>
          </a:prstGeom>
          <a:noFill/>
          <a:ln/>
        </p:spPr>
        <p:txBody>
          <a:bodyPr wrap="square" rtlCol="0" anchor="ctr"/>
          <a:lstStyle/>
          <a:p>
            <a:pPr marL="0" indent="0" algn="ctr">
              <a:buNone/>
            </a:pPr>
            <a:r>
              <a:rPr lang="en-US" sz="1000" b="1">
                <a:solidFill>
                  <a:srgbClr val="1B2227"/>
                </a:solidFill>
                <a:latin typeface="Arial" pitchFamily="34" charset="0"/>
                <a:ea typeface="Arial" pitchFamily="34" charset="-122"/>
                <a:cs typeface="Arial" pitchFamily="34" charset="-120"/>
              </a:rPr>
              <a:t>Distinction  25–30</a:t>
            </a:r>
            <a:endParaRPr lang="en-US" sz="1000"/>
          </a:p>
        </p:txBody>
      </p:sp>
      <p:sp>
        <p:nvSpPr>
          <p:cNvPr id="8" name="Shape 4"/>
          <p:cNvSpPr/>
          <p:nvPr/>
        </p:nvSpPr>
        <p:spPr>
          <a:xfrm>
            <a:off x="2532888" y="4526280"/>
            <a:ext cx="1965960" cy="411480"/>
          </a:xfrm>
          <a:prstGeom prst="roundRect">
            <a:avLst>
              <a:gd name="adj" fmla="val 8889"/>
            </a:avLst>
          </a:prstGeom>
          <a:solidFill>
            <a:srgbClr val="C5DCEE"/>
          </a:solidFill>
          <a:ln w="9525">
            <a:solidFill>
              <a:srgbClr val="B7C4CC"/>
            </a:solidFill>
            <a:prstDash val="solid"/>
          </a:ln>
        </p:spPr>
        <p:txBody>
          <a:bodyPr/>
          <a:lstStyle/>
          <a:p>
            <a:endParaRPr lang="en-US"/>
          </a:p>
        </p:txBody>
      </p:sp>
      <p:sp>
        <p:nvSpPr>
          <p:cNvPr id="9" name="Text 5"/>
          <p:cNvSpPr/>
          <p:nvPr/>
        </p:nvSpPr>
        <p:spPr>
          <a:xfrm>
            <a:off x="2532888" y="4526280"/>
            <a:ext cx="1965960" cy="411480"/>
          </a:xfrm>
          <a:prstGeom prst="rect">
            <a:avLst/>
          </a:prstGeom>
          <a:noFill/>
          <a:ln/>
        </p:spPr>
        <p:txBody>
          <a:bodyPr wrap="square" rtlCol="0" anchor="ctr"/>
          <a:lstStyle/>
          <a:p>
            <a:pPr marL="0" indent="0" algn="ctr">
              <a:buNone/>
            </a:pPr>
            <a:r>
              <a:rPr lang="en-US" sz="1000" b="1">
                <a:solidFill>
                  <a:srgbClr val="1B2227"/>
                </a:solidFill>
                <a:latin typeface="Arial" pitchFamily="34" charset="0"/>
                <a:ea typeface="Arial" pitchFamily="34" charset="-122"/>
                <a:cs typeface="Arial" pitchFamily="34" charset="-120"/>
              </a:rPr>
              <a:t>Proficient  18–24</a:t>
            </a:r>
            <a:endParaRPr lang="en-US" sz="1000"/>
          </a:p>
        </p:txBody>
      </p:sp>
      <p:sp>
        <p:nvSpPr>
          <p:cNvPr id="10" name="Shape 6"/>
          <p:cNvSpPr/>
          <p:nvPr/>
        </p:nvSpPr>
        <p:spPr>
          <a:xfrm>
            <a:off x="4608576" y="4526280"/>
            <a:ext cx="1965960" cy="411480"/>
          </a:xfrm>
          <a:prstGeom prst="roundRect">
            <a:avLst>
              <a:gd name="adj" fmla="val 8889"/>
            </a:avLst>
          </a:prstGeom>
          <a:solidFill>
            <a:srgbClr val="DFE7ED"/>
          </a:solidFill>
          <a:ln w="9525">
            <a:solidFill>
              <a:srgbClr val="B7C4CC"/>
            </a:solidFill>
            <a:prstDash val="solid"/>
          </a:ln>
        </p:spPr>
        <p:txBody>
          <a:bodyPr/>
          <a:lstStyle/>
          <a:p>
            <a:endParaRPr lang="en-US"/>
          </a:p>
        </p:txBody>
      </p:sp>
      <p:sp>
        <p:nvSpPr>
          <p:cNvPr id="5" name="Text 7"/>
          <p:cNvSpPr/>
          <p:nvPr/>
        </p:nvSpPr>
        <p:spPr>
          <a:xfrm>
            <a:off x="4608576" y="4526280"/>
            <a:ext cx="1965960" cy="411480"/>
          </a:xfrm>
          <a:prstGeom prst="rect">
            <a:avLst/>
          </a:prstGeom>
          <a:noFill/>
          <a:ln/>
        </p:spPr>
        <p:txBody>
          <a:bodyPr wrap="square" rtlCol="0" anchor="ctr"/>
          <a:lstStyle/>
          <a:p>
            <a:pPr marL="0" indent="0" algn="ctr">
              <a:buNone/>
            </a:pPr>
            <a:r>
              <a:rPr lang="en-US" sz="1000" b="1">
                <a:solidFill>
                  <a:srgbClr val="1B2227"/>
                </a:solidFill>
                <a:latin typeface="Arial" pitchFamily="34" charset="0"/>
                <a:ea typeface="Arial" pitchFamily="34" charset="-122"/>
                <a:cs typeface="Arial" pitchFamily="34" charset="-120"/>
              </a:rPr>
              <a:t>Developing  10–17</a:t>
            </a:r>
            <a:endParaRPr lang="en-US" sz="1000"/>
          </a:p>
        </p:txBody>
      </p:sp>
      <p:sp>
        <p:nvSpPr>
          <p:cNvPr id="12" name="Shape 8"/>
          <p:cNvSpPr/>
          <p:nvPr/>
        </p:nvSpPr>
        <p:spPr>
          <a:xfrm>
            <a:off x="6684264" y="4526280"/>
            <a:ext cx="1965960" cy="411480"/>
          </a:xfrm>
          <a:prstGeom prst="roundRect">
            <a:avLst>
              <a:gd name="adj" fmla="val 8889"/>
            </a:avLst>
          </a:prstGeom>
          <a:solidFill>
            <a:srgbClr val="FFFFFF"/>
          </a:solidFill>
          <a:ln w="9525">
            <a:solidFill>
              <a:srgbClr val="B7C4CC"/>
            </a:solidFill>
            <a:prstDash val="solid"/>
          </a:ln>
        </p:spPr>
        <p:txBody>
          <a:bodyPr/>
          <a:lstStyle/>
          <a:p>
            <a:endParaRPr lang="en-US"/>
          </a:p>
        </p:txBody>
      </p:sp>
      <p:sp>
        <p:nvSpPr>
          <p:cNvPr id="13" name="Text 9"/>
          <p:cNvSpPr/>
          <p:nvPr/>
        </p:nvSpPr>
        <p:spPr>
          <a:xfrm>
            <a:off x="6684264" y="4526280"/>
            <a:ext cx="1965960" cy="411480"/>
          </a:xfrm>
          <a:prstGeom prst="rect">
            <a:avLst/>
          </a:prstGeom>
          <a:noFill/>
          <a:ln/>
        </p:spPr>
        <p:txBody>
          <a:bodyPr wrap="square" rtlCol="0" anchor="ctr"/>
          <a:lstStyle/>
          <a:p>
            <a:pPr marL="0" indent="0" algn="ctr">
              <a:buNone/>
            </a:pPr>
            <a:r>
              <a:rPr lang="en-US" sz="1000" b="1">
                <a:solidFill>
                  <a:srgbClr val="1B2227"/>
                </a:solidFill>
                <a:latin typeface="Arial" pitchFamily="34" charset="0"/>
                <a:ea typeface="Arial" pitchFamily="34" charset="-122"/>
                <a:cs typeface="Arial" pitchFamily="34" charset="-120"/>
              </a:rPr>
              <a:t>Emerging  0–9</a:t>
            </a:r>
            <a:endParaRPr lang="en-US" sz="100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7498080" cy="548640"/>
          </a:xfrm>
          <a:prstGeom prst="rect">
            <a:avLst/>
          </a:prstGeom>
          <a:noFill/>
          <a:ln/>
        </p:spPr>
        <p:txBody>
          <a:bodyPr wrap="square" rtlCol="0" anchor="ctr"/>
          <a:lstStyle/>
          <a:p>
            <a:pPr marL="0" indent="0" algn="l">
              <a:buNone/>
            </a:pPr>
            <a:r>
              <a:rPr lang="en-US" sz="2600" b="1">
                <a:solidFill>
                  <a:srgbClr val="024879"/>
                </a:solidFill>
                <a:latin typeface="Arial" pitchFamily="34" charset="0"/>
                <a:ea typeface="Arial" pitchFamily="34" charset="-122"/>
                <a:cs typeface="Arial" pitchFamily="34" charset="-120"/>
              </a:rPr>
              <a:t>My Self-Rating</a:t>
            </a:r>
            <a:endParaRPr lang="en-US" sz="2600"/>
          </a:p>
        </p:txBody>
      </p:sp>
      <p:pic>
        <p:nvPicPr>
          <p:cNvPr id="3" name="Image 0" descr="preencoded.png"/>
          <p:cNvPicPr>
            <a:picLocks noChangeAspect="1"/>
          </p:cNvPicPr>
          <p:nvPr/>
        </p:nvPicPr>
        <p:blipFill>
          <a:blip r:embed="rId3"/>
          <a:stretch>
            <a:fillRect/>
          </a:stretch>
        </p:blipFill>
        <p:spPr>
          <a:xfrm>
            <a:off x="7818120" y="292608"/>
            <a:ext cx="914400" cy="274730"/>
          </a:xfrm>
          <a:prstGeom prst="rect">
            <a:avLst/>
          </a:prstGeom>
        </p:spPr>
      </p:pic>
      <p:sp>
        <p:nvSpPr>
          <p:cNvPr id="4" name="Text 1"/>
          <p:cNvSpPr/>
          <p:nvPr/>
        </p:nvSpPr>
        <p:spPr>
          <a:xfrm>
            <a:off x="457200" y="896112"/>
            <a:ext cx="8229600" cy="274320"/>
          </a:xfrm>
          <a:prstGeom prst="rect">
            <a:avLst/>
          </a:prstGeom>
          <a:noFill/>
          <a:ln/>
        </p:spPr>
        <p:txBody>
          <a:bodyPr wrap="square" rtlCol="0" anchor="ctr"/>
          <a:lstStyle/>
          <a:p>
            <a:pPr marL="0" indent="0">
              <a:buNone/>
            </a:pPr>
            <a:r>
              <a:rPr lang="en-US" sz="1200" i="1">
                <a:solidFill>
                  <a:srgbClr val="5A6B72"/>
                </a:solidFill>
                <a:latin typeface="Calibri" pitchFamily="34" charset="0"/>
                <a:ea typeface="Calibri" pitchFamily="34" charset="-122"/>
                <a:cs typeface="Calibri" pitchFamily="34" charset="-120"/>
              </a:rPr>
              <a:t>Score each topic you demonstrated (0–30). Leave blank if not used (min 3 required).</a:t>
            </a:r>
            <a:endParaRPr lang="en-US" sz="1200"/>
          </a:p>
        </p:txBody>
      </p:sp>
      <p:sp>
        <p:nvSpPr>
          <p:cNvPr id="5" name="Shape 2"/>
          <p:cNvSpPr/>
          <p:nvPr/>
        </p:nvSpPr>
        <p:spPr>
          <a:xfrm>
            <a:off x="457200" y="1280160"/>
            <a:ext cx="6949440" cy="457200"/>
          </a:xfrm>
          <a:prstGeom prst="roundRect">
            <a:avLst>
              <a:gd name="adj" fmla="val 8000"/>
            </a:avLst>
          </a:prstGeom>
          <a:solidFill>
            <a:srgbClr val="DFE7ED"/>
          </a:solidFill>
          <a:ln w="6350">
            <a:solidFill>
              <a:srgbClr val="B7C4CC"/>
            </a:solidFill>
            <a:prstDash val="solid"/>
          </a:ln>
        </p:spPr>
        <p:txBody>
          <a:bodyPr/>
          <a:lstStyle/>
          <a:p>
            <a:endParaRPr lang="en-US"/>
          </a:p>
        </p:txBody>
      </p:sp>
      <p:sp>
        <p:nvSpPr>
          <p:cNvPr id="6" name="Text 3"/>
          <p:cNvSpPr/>
          <p:nvPr/>
        </p:nvSpPr>
        <p:spPr>
          <a:xfrm>
            <a:off x="594360" y="1280160"/>
            <a:ext cx="6675120" cy="457200"/>
          </a:xfrm>
          <a:prstGeom prst="rect">
            <a:avLst/>
          </a:prstGeom>
          <a:noFill/>
          <a:ln/>
        </p:spPr>
        <p:txBody>
          <a:bodyPr wrap="square" rtlCol="0" anchor="ctr"/>
          <a:lstStyle/>
          <a:p>
            <a:pPr marL="0" indent="0">
              <a:buNone/>
            </a:pPr>
            <a:r>
              <a:rPr lang="en-US" sz="1250" b="1">
                <a:solidFill>
                  <a:srgbClr val="024879"/>
                </a:solidFill>
                <a:latin typeface="Calibri" pitchFamily="34" charset="0"/>
                <a:ea typeface="Calibri" pitchFamily="34" charset="-122"/>
                <a:cs typeface="Calibri" pitchFamily="34" charset="-120"/>
              </a:rPr>
              <a:t>1.  Spec-Driven Development</a:t>
            </a:r>
            <a:endParaRPr lang="en-US" sz="1250"/>
          </a:p>
        </p:txBody>
      </p:sp>
      <p:sp>
        <p:nvSpPr>
          <p:cNvPr id="7" name="Shape 4"/>
          <p:cNvSpPr/>
          <p:nvPr/>
        </p:nvSpPr>
        <p:spPr>
          <a:xfrm>
            <a:off x="7543800" y="1280160"/>
            <a:ext cx="1143000" cy="457200"/>
          </a:xfrm>
          <a:prstGeom prst="roundRect">
            <a:avLst>
              <a:gd name="adj" fmla="val 8000"/>
            </a:avLst>
          </a:prstGeom>
          <a:solidFill>
            <a:srgbClr val="C5DCEE"/>
          </a:solidFill>
          <a:ln w="12700">
            <a:solidFill>
              <a:srgbClr val="075056"/>
            </a:solidFill>
            <a:prstDash val="solid"/>
          </a:ln>
        </p:spPr>
        <p:txBody>
          <a:bodyPr/>
          <a:lstStyle/>
          <a:p>
            <a:endParaRPr lang="en-US"/>
          </a:p>
        </p:txBody>
      </p:sp>
      <p:sp>
        <p:nvSpPr>
          <p:cNvPr id="8" name="Text 5"/>
          <p:cNvSpPr/>
          <p:nvPr/>
        </p:nvSpPr>
        <p:spPr>
          <a:xfrm>
            <a:off x="7543800" y="1280160"/>
            <a:ext cx="1143000" cy="457200"/>
          </a:xfrm>
          <a:prstGeom prst="rect">
            <a:avLst/>
          </a:prstGeom>
          <a:noFill/>
          <a:ln/>
        </p:spPr>
        <p:txBody>
          <a:bodyPr wrap="square" rtlCol="0" anchor="ctr"/>
          <a:lstStyle/>
          <a:p>
            <a:pPr marL="0" indent="0" algn="ctr">
              <a:buNone/>
            </a:pPr>
            <a:r>
              <a:rPr lang="en-US" dirty="0"/>
              <a:t>22 / 30</a:t>
            </a:r>
          </a:p>
        </p:txBody>
      </p:sp>
      <p:sp>
        <p:nvSpPr>
          <p:cNvPr id="9" name="Shape 6"/>
          <p:cNvSpPr/>
          <p:nvPr/>
        </p:nvSpPr>
        <p:spPr>
          <a:xfrm>
            <a:off x="457200" y="1810512"/>
            <a:ext cx="6949440" cy="457200"/>
          </a:xfrm>
          <a:prstGeom prst="roundRect">
            <a:avLst>
              <a:gd name="adj" fmla="val 8000"/>
            </a:avLst>
          </a:prstGeom>
          <a:solidFill>
            <a:srgbClr val="FFFFFF"/>
          </a:solidFill>
          <a:ln w="6350">
            <a:solidFill>
              <a:srgbClr val="B7C4CC"/>
            </a:solidFill>
            <a:prstDash val="solid"/>
          </a:ln>
        </p:spPr>
        <p:txBody>
          <a:bodyPr/>
          <a:lstStyle/>
          <a:p>
            <a:endParaRPr lang="en-US"/>
          </a:p>
        </p:txBody>
      </p:sp>
      <p:sp>
        <p:nvSpPr>
          <p:cNvPr id="10" name="Text 7"/>
          <p:cNvSpPr/>
          <p:nvPr/>
        </p:nvSpPr>
        <p:spPr>
          <a:xfrm>
            <a:off x="594360" y="1810512"/>
            <a:ext cx="6675120" cy="457200"/>
          </a:xfrm>
          <a:prstGeom prst="rect">
            <a:avLst/>
          </a:prstGeom>
          <a:noFill/>
          <a:ln/>
        </p:spPr>
        <p:txBody>
          <a:bodyPr wrap="square" rtlCol="0" anchor="ctr"/>
          <a:lstStyle/>
          <a:p>
            <a:pPr marL="0" indent="0">
              <a:buNone/>
            </a:pPr>
            <a:r>
              <a:rPr lang="en-US" sz="1250" b="1">
                <a:solidFill>
                  <a:srgbClr val="024879"/>
                </a:solidFill>
                <a:latin typeface="Calibri" pitchFamily="34" charset="0"/>
                <a:ea typeface="Calibri" pitchFamily="34" charset="-122"/>
                <a:cs typeface="Calibri" pitchFamily="34" charset="-120"/>
              </a:rPr>
              <a:t>2.  AI-Powered Development</a:t>
            </a:r>
            <a:endParaRPr lang="en-US" sz="1250"/>
          </a:p>
        </p:txBody>
      </p:sp>
      <p:sp>
        <p:nvSpPr>
          <p:cNvPr id="11" name="Shape 8"/>
          <p:cNvSpPr/>
          <p:nvPr/>
        </p:nvSpPr>
        <p:spPr>
          <a:xfrm>
            <a:off x="7543800" y="1810512"/>
            <a:ext cx="1143000" cy="457200"/>
          </a:xfrm>
          <a:prstGeom prst="roundRect">
            <a:avLst>
              <a:gd name="adj" fmla="val 8000"/>
            </a:avLst>
          </a:prstGeom>
          <a:solidFill>
            <a:srgbClr val="C5DCEE"/>
          </a:solidFill>
          <a:ln w="12700">
            <a:solidFill>
              <a:srgbClr val="075056"/>
            </a:solidFill>
            <a:prstDash val="solid"/>
          </a:ln>
        </p:spPr>
        <p:txBody>
          <a:bodyPr/>
          <a:lstStyle/>
          <a:p>
            <a:endParaRPr lang="en-US"/>
          </a:p>
        </p:txBody>
      </p:sp>
      <p:sp>
        <p:nvSpPr>
          <p:cNvPr id="12" name="Text 9"/>
          <p:cNvSpPr/>
          <p:nvPr/>
        </p:nvSpPr>
        <p:spPr>
          <a:xfrm>
            <a:off x="7543800" y="1810512"/>
            <a:ext cx="1143000" cy="457200"/>
          </a:xfrm>
          <a:prstGeom prst="rect">
            <a:avLst/>
          </a:prstGeom>
          <a:noFill/>
          <a:ln/>
        </p:spPr>
        <p:txBody>
          <a:bodyPr wrap="square" rtlCol="0" anchor="ctr"/>
          <a:lstStyle/>
          <a:p>
            <a:pPr marL="0" indent="0" algn="ctr">
              <a:buNone/>
            </a:pPr>
            <a:r>
              <a:rPr lang="en-US" dirty="0"/>
              <a:t>26 / 30</a:t>
            </a:r>
          </a:p>
        </p:txBody>
      </p:sp>
      <p:sp>
        <p:nvSpPr>
          <p:cNvPr id="13" name="Shape 10"/>
          <p:cNvSpPr/>
          <p:nvPr/>
        </p:nvSpPr>
        <p:spPr>
          <a:xfrm>
            <a:off x="457200" y="2340864"/>
            <a:ext cx="6949440" cy="457200"/>
          </a:xfrm>
          <a:prstGeom prst="roundRect">
            <a:avLst>
              <a:gd name="adj" fmla="val 8000"/>
            </a:avLst>
          </a:prstGeom>
          <a:solidFill>
            <a:srgbClr val="DFE7ED"/>
          </a:solidFill>
          <a:ln w="6350">
            <a:solidFill>
              <a:srgbClr val="B7C4CC"/>
            </a:solidFill>
            <a:prstDash val="solid"/>
          </a:ln>
        </p:spPr>
        <p:txBody>
          <a:bodyPr/>
          <a:lstStyle/>
          <a:p>
            <a:endParaRPr lang="en-US"/>
          </a:p>
        </p:txBody>
      </p:sp>
      <p:sp>
        <p:nvSpPr>
          <p:cNvPr id="14" name="Text 11"/>
          <p:cNvSpPr/>
          <p:nvPr/>
        </p:nvSpPr>
        <p:spPr>
          <a:xfrm>
            <a:off x="594360" y="2340864"/>
            <a:ext cx="6675120" cy="457200"/>
          </a:xfrm>
          <a:prstGeom prst="rect">
            <a:avLst/>
          </a:prstGeom>
          <a:noFill/>
          <a:ln/>
        </p:spPr>
        <p:txBody>
          <a:bodyPr wrap="square" rtlCol="0" anchor="ctr"/>
          <a:lstStyle/>
          <a:p>
            <a:pPr marL="0" indent="0">
              <a:buNone/>
            </a:pPr>
            <a:r>
              <a:rPr lang="en-US" sz="1250" b="1">
                <a:solidFill>
                  <a:srgbClr val="024879"/>
                </a:solidFill>
                <a:latin typeface="Calibri" pitchFamily="34" charset="0"/>
                <a:ea typeface="Calibri" pitchFamily="34" charset="-122"/>
                <a:cs typeface="Calibri" pitchFamily="34" charset="-120"/>
              </a:rPr>
              <a:t>3.  LLM Evaluation &amp; Interpretability</a:t>
            </a:r>
            <a:endParaRPr lang="en-US" sz="1250"/>
          </a:p>
        </p:txBody>
      </p:sp>
      <p:sp>
        <p:nvSpPr>
          <p:cNvPr id="15" name="Shape 12"/>
          <p:cNvSpPr/>
          <p:nvPr/>
        </p:nvSpPr>
        <p:spPr>
          <a:xfrm>
            <a:off x="7543800" y="2340864"/>
            <a:ext cx="1143000" cy="457200"/>
          </a:xfrm>
          <a:prstGeom prst="roundRect">
            <a:avLst>
              <a:gd name="adj" fmla="val 8000"/>
            </a:avLst>
          </a:prstGeom>
          <a:solidFill>
            <a:srgbClr val="C5DCEE"/>
          </a:solidFill>
          <a:ln w="12700">
            <a:solidFill>
              <a:srgbClr val="075056"/>
            </a:solidFill>
            <a:prstDash val="solid"/>
          </a:ln>
        </p:spPr>
        <p:txBody>
          <a:bodyPr/>
          <a:lstStyle/>
          <a:p>
            <a:endParaRPr lang="en-US"/>
          </a:p>
        </p:txBody>
      </p:sp>
      <p:sp>
        <p:nvSpPr>
          <p:cNvPr id="16" name="Text 13"/>
          <p:cNvSpPr/>
          <p:nvPr/>
        </p:nvSpPr>
        <p:spPr>
          <a:xfrm>
            <a:off x="7543800" y="2340864"/>
            <a:ext cx="1143000" cy="457200"/>
          </a:xfrm>
          <a:prstGeom prst="rect">
            <a:avLst/>
          </a:prstGeom>
          <a:noFill/>
          <a:ln/>
        </p:spPr>
        <p:txBody>
          <a:bodyPr wrap="square" rtlCol="0" anchor="ctr"/>
          <a:lstStyle/>
          <a:p>
            <a:pPr marL="0" indent="0" algn="ctr">
              <a:buNone/>
            </a:pPr>
            <a:r>
              <a:rPr lang="en-US" dirty="0"/>
              <a:t>24 / 30</a:t>
            </a:r>
          </a:p>
        </p:txBody>
      </p:sp>
      <p:sp>
        <p:nvSpPr>
          <p:cNvPr id="17" name="Shape 14"/>
          <p:cNvSpPr/>
          <p:nvPr/>
        </p:nvSpPr>
        <p:spPr>
          <a:xfrm>
            <a:off x="457200" y="2871216"/>
            <a:ext cx="6949440" cy="457200"/>
          </a:xfrm>
          <a:prstGeom prst="roundRect">
            <a:avLst>
              <a:gd name="adj" fmla="val 8000"/>
            </a:avLst>
          </a:prstGeom>
          <a:solidFill>
            <a:srgbClr val="FFFFFF"/>
          </a:solidFill>
          <a:ln w="6350">
            <a:solidFill>
              <a:srgbClr val="B7C4CC"/>
            </a:solidFill>
            <a:prstDash val="solid"/>
          </a:ln>
        </p:spPr>
        <p:txBody>
          <a:bodyPr/>
          <a:lstStyle/>
          <a:p>
            <a:endParaRPr lang="en-US"/>
          </a:p>
        </p:txBody>
      </p:sp>
      <p:sp>
        <p:nvSpPr>
          <p:cNvPr id="18" name="Text 15"/>
          <p:cNvSpPr/>
          <p:nvPr/>
        </p:nvSpPr>
        <p:spPr>
          <a:xfrm>
            <a:off x="594360" y="2871216"/>
            <a:ext cx="6675120" cy="457200"/>
          </a:xfrm>
          <a:prstGeom prst="rect">
            <a:avLst/>
          </a:prstGeom>
          <a:noFill/>
          <a:ln/>
        </p:spPr>
        <p:txBody>
          <a:bodyPr wrap="square" rtlCol="0" anchor="ctr"/>
          <a:lstStyle/>
          <a:p>
            <a:pPr marL="0" indent="0">
              <a:buNone/>
            </a:pPr>
            <a:r>
              <a:rPr lang="en-US" sz="1250" b="1">
                <a:solidFill>
                  <a:srgbClr val="024879"/>
                </a:solidFill>
                <a:latin typeface="Calibri" pitchFamily="34" charset="0"/>
                <a:ea typeface="Calibri" pitchFamily="34" charset="-122"/>
                <a:cs typeface="Calibri" pitchFamily="34" charset="-120"/>
              </a:rPr>
              <a:t>4.  Agent Design, Orchestration &amp; Ops</a:t>
            </a:r>
            <a:endParaRPr lang="en-US" sz="1250"/>
          </a:p>
        </p:txBody>
      </p:sp>
      <p:sp>
        <p:nvSpPr>
          <p:cNvPr id="19" name="Shape 16"/>
          <p:cNvSpPr/>
          <p:nvPr/>
        </p:nvSpPr>
        <p:spPr>
          <a:xfrm>
            <a:off x="7543800" y="2871216"/>
            <a:ext cx="1143000" cy="457200"/>
          </a:xfrm>
          <a:prstGeom prst="roundRect">
            <a:avLst>
              <a:gd name="adj" fmla="val 8000"/>
            </a:avLst>
          </a:prstGeom>
          <a:solidFill>
            <a:srgbClr val="C5DCEE"/>
          </a:solidFill>
          <a:ln w="12700">
            <a:solidFill>
              <a:srgbClr val="075056"/>
            </a:solidFill>
            <a:prstDash val="solid"/>
          </a:ln>
        </p:spPr>
        <p:txBody>
          <a:bodyPr/>
          <a:lstStyle/>
          <a:p>
            <a:endParaRPr lang="en-US"/>
          </a:p>
        </p:txBody>
      </p:sp>
      <p:sp>
        <p:nvSpPr>
          <p:cNvPr id="20" name="Text 17"/>
          <p:cNvSpPr/>
          <p:nvPr/>
        </p:nvSpPr>
        <p:spPr>
          <a:xfrm>
            <a:off x="7543800" y="2871216"/>
            <a:ext cx="1143000" cy="457200"/>
          </a:xfrm>
          <a:prstGeom prst="rect">
            <a:avLst/>
          </a:prstGeom>
          <a:noFill/>
          <a:ln/>
        </p:spPr>
        <p:txBody>
          <a:bodyPr wrap="square" rtlCol="0" anchor="ctr"/>
          <a:lstStyle/>
          <a:p>
            <a:pPr marL="0" indent="0" algn="ctr">
              <a:buNone/>
            </a:pPr>
            <a:r>
              <a:rPr lang="en-US" dirty="0"/>
              <a:t>24 / 30</a:t>
            </a:r>
          </a:p>
        </p:txBody>
      </p:sp>
      <p:sp>
        <p:nvSpPr>
          <p:cNvPr id="21" name="Shape 18"/>
          <p:cNvSpPr/>
          <p:nvPr/>
        </p:nvSpPr>
        <p:spPr>
          <a:xfrm>
            <a:off x="457200" y="3401568"/>
            <a:ext cx="6949440" cy="457200"/>
          </a:xfrm>
          <a:prstGeom prst="roundRect">
            <a:avLst>
              <a:gd name="adj" fmla="val 8000"/>
            </a:avLst>
          </a:prstGeom>
          <a:solidFill>
            <a:srgbClr val="DFE7ED"/>
          </a:solidFill>
          <a:ln w="6350">
            <a:solidFill>
              <a:srgbClr val="B7C4CC"/>
            </a:solidFill>
            <a:prstDash val="solid"/>
          </a:ln>
        </p:spPr>
        <p:txBody>
          <a:bodyPr/>
          <a:lstStyle/>
          <a:p>
            <a:endParaRPr lang="en-US"/>
          </a:p>
        </p:txBody>
      </p:sp>
      <p:sp>
        <p:nvSpPr>
          <p:cNvPr id="22" name="Text 19"/>
          <p:cNvSpPr/>
          <p:nvPr/>
        </p:nvSpPr>
        <p:spPr>
          <a:xfrm>
            <a:off x="594360" y="3401568"/>
            <a:ext cx="6675120" cy="457200"/>
          </a:xfrm>
          <a:prstGeom prst="rect">
            <a:avLst/>
          </a:prstGeom>
          <a:noFill/>
          <a:ln/>
        </p:spPr>
        <p:txBody>
          <a:bodyPr wrap="square" rtlCol="0" anchor="ctr"/>
          <a:lstStyle/>
          <a:p>
            <a:pPr marL="0" indent="0">
              <a:buNone/>
            </a:pPr>
            <a:r>
              <a:rPr lang="en-US" sz="1250" b="1">
                <a:solidFill>
                  <a:srgbClr val="024879"/>
                </a:solidFill>
                <a:latin typeface="Calibri" pitchFamily="34" charset="0"/>
                <a:ea typeface="Calibri" pitchFamily="34" charset="-122"/>
                <a:cs typeface="Calibri" pitchFamily="34" charset="-120"/>
              </a:rPr>
              <a:t>5.  AI Tool Integration &amp; Extensibility</a:t>
            </a:r>
            <a:endParaRPr lang="en-US" sz="1250"/>
          </a:p>
        </p:txBody>
      </p:sp>
      <p:sp>
        <p:nvSpPr>
          <p:cNvPr id="23" name="Shape 20"/>
          <p:cNvSpPr/>
          <p:nvPr/>
        </p:nvSpPr>
        <p:spPr>
          <a:xfrm>
            <a:off x="7543800" y="3401568"/>
            <a:ext cx="1143000" cy="457200"/>
          </a:xfrm>
          <a:prstGeom prst="roundRect">
            <a:avLst>
              <a:gd name="adj" fmla="val 8000"/>
            </a:avLst>
          </a:prstGeom>
          <a:solidFill>
            <a:srgbClr val="C5DCEE"/>
          </a:solidFill>
          <a:ln w="12700">
            <a:solidFill>
              <a:srgbClr val="075056"/>
            </a:solidFill>
            <a:prstDash val="solid"/>
          </a:ln>
        </p:spPr>
        <p:txBody>
          <a:bodyPr/>
          <a:lstStyle/>
          <a:p>
            <a:endParaRPr lang="en-US"/>
          </a:p>
        </p:txBody>
      </p:sp>
      <p:sp>
        <p:nvSpPr>
          <p:cNvPr id="24" name="Text 21"/>
          <p:cNvSpPr/>
          <p:nvPr/>
        </p:nvSpPr>
        <p:spPr>
          <a:xfrm>
            <a:off x="7543800" y="3401568"/>
            <a:ext cx="1143000" cy="457200"/>
          </a:xfrm>
          <a:prstGeom prst="rect">
            <a:avLst/>
          </a:prstGeom>
          <a:noFill/>
          <a:ln/>
        </p:spPr>
        <p:txBody>
          <a:bodyPr wrap="square" rtlCol="0" anchor="ctr"/>
          <a:lstStyle/>
          <a:p>
            <a:pPr marL="0" indent="0" algn="ctr">
              <a:buNone/>
            </a:pPr>
            <a:r>
              <a:rPr lang="en-US" dirty="0"/>
              <a:t>18 / 30</a:t>
            </a:r>
          </a:p>
        </p:txBody>
      </p:sp>
      <p:sp>
        <p:nvSpPr>
          <p:cNvPr id="25" name="Shape 22"/>
          <p:cNvSpPr/>
          <p:nvPr/>
        </p:nvSpPr>
        <p:spPr>
          <a:xfrm>
            <a:off x="457200" y="3977640"/>
            <a:ext cx="8229600" cy="548640"/>
          </a:xfrm>
          <a:prstGeom prst="roundRect">
            <a:avLst>
              <a:gd name="adj" fmla="val 10000"/>
            </a:avLst>
          </a:prstGeom>
          <a:solidFill>
            <a:srgbClr val="075056"/>
          </a:solidFill>
          <a:ln/>
        </p:spPr>
        <p:txBody>
          <a:bodyPr/>
          <a:lstStyle/>
          <a:p>
            <a:endParaRPr lang="en-US"/>
          </a:p>
        </p:txBody>
      </p:sp>
      <p:sp>
        <p:nvSpPr>
          <p:cNvPr id="26" name="Text 23"/>
          <p:cNvSpPr/>
          <p:nvPr/>
        </p:nvSpPr>
        <p:spPr>
          <a:xfrm>
            <a:off x="640080" y="3977640"/>
            <a:ext cx="7863840" cy="548640"/>
          </a:xfrm>
          <a:prstGeom prst="rect">
            <a:avLst/>
          </a:prstGeom>
          <a:noFill/>
          <a:ln/>
        </p:spPr>
        <p:txBody>
          <a:bodyPr wrap="square" rtlCol="0" anchor="ctr"/>
          <a:lstStyle/>
          <a:p>
            <a:pPr marL="0" indent="0">
              <a:buNone/>
            </a:pPr>
            <a:r>
              <a:rPr lang="en-US" dirty="0">
                <a:solidFill>
                  <a:schemeClr val="bg1"/>
                </a:solidFill>
              </a:rPr>
              <a:t>My total:  114 / 150      Clear = 70+     (I demonstrated 5 of 5 topics)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 y="274320"/>
            <a:ext cx="7498080" cy="548640"/>
          </a:xfrm>
          <a:prstGeom prst="rect">
            <a:avLst/>
          </a:prstGeom>
          <a:noFill/>
          <a:ln/>
        </p:spPr>
        <p:txBody>
          <a:bodyPr wrap="square" rtlCol="0" anchor="ctr"/>
          <a:lstStyle/>
          <a:p>
            <a:pPr marL="0" indent="0" algn="l">
              <a:buNone/>
            </a:pPr>
            <a:r>
              <a:rPr lang="en-US" sz="2600" b="1">
                <a:solidFill>
                  <a:srgbClr val="024879"/>
                </a:solidFill>
                <a:latin typeface="Arial" pitchFamily="34" charset="0"/>
                <a:ea typeface="Arial" pitchFamily="34" charset="-122"/>
                <a:cs typeface="Arial" pitchFamily="34" charset="-120"/>
              </a:rPr>
              <a:t>Reflection &amp; Key Takeaway</a:t>
            </a:r>
            <a:endParaRPr lang="en-US" sz="2600"/>
          </a:p>
        </p:txBody>
      </p:sp>
      <p:pic>
        <p:nvPicPr>
          <p:cNvPr id="3" name="Image 0" descr="preencoded.png"/>
          <p:cNvPicPr>
            <a:picLocks noChangeAspect="1"/>
          </p:cNvPicPr>
          <p:nvPr/>
        </p:nvPicPr>
        <p:blipFill>
          <a:blip r:embed="rId3"/>
          <a:stretch>
            <a:fillRect/>
          </a:stretch>
        </p:blipFill>
        <p:spPr>
          <a:xfrm>
            <a:off x="7818120" y="292608"/>
            <a:ext cx="914400" cy="274730"/>
          </a:xfrm>
          <a:prstGeom prst="rect">
            <a:avLst/>
          </a:prstGeom>
        </p:spPr>
      </p:pic>
      <p:sp>
        <p:nvSpPr>
          <p:cNvPr id="4" name="Text 1"/>
          <p:cNvSpPr/>
          <p:nvPr/>
        </p:nvSpPr>
        <p:spPr>
          <a:xfrm>
            <a:off x="457200" y="1097280"/>
            <a:ext cx="8229600" cy="256032"/>
          </a:xfrm>
          <a:prstGeom prst="rect">
            <a:avLst/>
          </a:prstGeom>
          <a:noFill/>
          <a:ln/>
        </p:spPr>
        <p:txBody>
          <a:bodyPr wrap="square" rtlCol="0" anchor="ctr"/>
          <a:lstStyle/>
          <a:p>
            <a:pPr marL="0" indent="0" algn="l">
              <a:buNone/>
            </a:pPr>
            <a:r>
              <a:rPr lang="en-US" sz="1200" b="1">
                <a:solidFill>
                  <a:srgbClr val="075056"/>
                </a:solidFill>
                <a:latin typeface="Arial" pitchFamily="34" charset="0"/>
                <a:ea typeface="Arial" pitchFamily="34" charset="-122"/>
                <a:cs typeface="Arial" pitchFamily="34" charset="-120"/>
              </a:rPr>
              <a:t>Complete these sentences</a:t>
            </a:r>
            <a:endParaRPr lang="en-US" sz="1200"/>
          </a:p>
        </p:txBody>
      </p:sp>
      <p:sp>
        <p:nvSpPr>
          <p:cNvPr id="5" name="Shape 2"/>
          <p:cNvSpPr/>
          <p:nvPr/>
        </p:nvSpPr>
        <p:spPr>
          <a:xfrm>
            <a:off x="457200" y="1371600"/>
            <a:ext cx="8229600" cy="457200"/>
          </a:xfrm>
          <a:prstGeom prst="roundRect">
            <a:avLst>
              <a:gd name="adj" fmla="val 10000"/>
            </a:avLst>
          </a:prstGeom>
          <a:solidFill>
            <a:srgbClr val="DFE7ED"/>
          </a:solidFill>
          <a:ln w="12700">
            <a:solidFill>
              <a:srgbClr val="C5DCEE"/>
            </a:solidFill>
            <a:prstDash val="solid"/>
          </a:ln>
        </p:spPr>
        <p:txBody>
          <a:bodyPr/>
          <a:lstStyle/>
          <a:p>
            <a:endParaRPr lang="en-US"/>
          </a:p>
        </p:txBody>
      </p:sp>
      <p:sp>
        <p:nvSpPr>
          <p:cNvPr id="6" name="Text 3"/>
          <p:cNvSpPr/>
          <p:nvPr/>
        </p:nvSpPr>
        <p:spPr>
          <a:xfrm>
            <a:off x="566928" y="1371600"/>
            <a:ext cx="8010144" cy="457200"/>
          </a:xfrm>
          <a:prstGeom prst="rect">
            <a:avLst/>
          </a:prstGeom>
          <a:noFill/>
          <a:ln/>
        </p:spPr>
        <p:txBody>
          <a:bodyPr wrap="square" rtlCol="0" anchor="ctr"/>
          <a:lstStyle/>
          <a:p>
            <a:r>
              <a:rPr lang="en-US" sz="1100" dirty="0">
                <a:latin typeface="Arial" panose="020B0604020202020204" pitchFamily="34" charset="0"/>
                <a:cs typeface="Arial" panose="020B0604020202020204" pitchFamily="34" charset="0"/>
              </a:rPr>
              <a:t>Before this program, I thought AI was a code autocomplete tool - useful for boilerplate but too unreliable for autonomous end-to-end workflows</a:t>
            </a:r>
            <a:r>
              <a:rPr lang="en-US" sz="1200" dirty="0">
                <a:latin typeface="Arial" panose="020B0604020202020204" pitchFamily="34" charset="0"/>
                <a:cs typeface="Arial" panose="020B0604020202020204" pitchFamily="34" charset="0"/>
              </a:rPr>
              <a:t>.</a:t>
            </a:r>
          </a:p>
        </p:txBody>
      </p:sp>
      <p:sp>
        <p:nvSpPr>
          <p:cNvPr id="7" name="Shape 4"/>
          <p:cNvSpPr/>
          <p:nvPr/>
        </p:nvSpPr>
        <p:spPr>
          <a:xfrm>
            <a:off x="457200" y="1920240"/>
            <a:ext cx="8229600" cy="576072"/>
          </a:xfrm>
          <a:prstGeom prst="roundRect">
            <a:avLst>
              <a:gd name="adj" fmla="val 10000"/>
            </a:avLst>
          </a:prstGeom>
          <a:solidFill>
            <a:srgbClr val="DFE7ED"/>
          </a:solidFill>
          <a:ln w="12700">
            <a:solidFill>
              <a:srgbClr val="C5DCEE"/>
            </a:solidFill>
            <a:prstDash val="solid"/>
          </a:ln>
        </p:spPr>
        <p:txBody>
          <a:bodyPr/>
          <a:lstStyle/>
          <a:p>
            <a:endParaRPr lang="en-US"/>
          </a:p>
        </p:txBody>
      </p:sp>
      <p:sp>
        <p:nvSpPr>
          <p:cNvPr id="8" name="Text 5"/>
          <p:cNvSpPr/>
          <p:nvPr/>
        </p:nvSpPr>
        <p:spPr>
          <a:xfrm>
            <a:off x="566928" y="1920240"/>
            <a:ext cx="8010144" cy="457200"/>
          </a:xfrm>
          <a:prstGeom prst="rect">
            <a:avLst/>
          </a:prstGeom>
          <a:noFill/>
          <a:ln/>
        </p:spPr>
        <p:txBody>
          <a:bodyPr wrap="square" rtlCol="0" anchor="ctr"/>
          <a:lstStyle/>
          <a:p>
            <a:pPr marL="0" indent="0" algn="l">
              <a:buNone/>
            </a:pPr>
            <a:endParaRPr lang="en-US" dirty="0"/>
          </a:p>
        </p:txBody>
      </p:sp>
      <p:sp>
        <p:nvSpPr>
          <p:cNvPr id="9" name="Text 6"/>
          <p:cNvSpPr/>
          <p:nvPr/>
        </p:nvSpPr>
        <p:spPr>
          <a:xfrm>
            <a:off x="457200" y="2606040"/>
            <a:ext cx="8229600" cy="256032"/>
          </a:xfrm>
          <a:prstGeom prst="rect">
            <a:avLst/>
          </a:prstGeom>
          <a:noFill/>
          <a:ln/>
        </p:spPr>
        <p:txBody>
          <a:bodyPr wrap="square" rtlCol="0" anchor="ctr"/>
          <a:lstStyle/>
          <a:p>
            <a:pPr marL="0" indent="0" algn="l">
              <a:buNone/>
            </a:pPr>
            <a:r>
              <a:rPr lang="en-US" sz="1200" b="1">
                <a:solidFill>
                  <a:srgbClr val="075056"/>
                </a:solidFill>
                <a:latin typeface="Arial" pitchFamily="34" charset="0"/>
                <a:ea typeface="Arial" pitchFamily="34" charset="-122"/>
                <a:cs typeface="Arial" pitchFamily="34" charset="-120"/>
              </a:rPr>
              <a:t>My biggest learning</a:t>
            </a:r>
            <a:endParaRPr lang="en-US" sz="1200"/>
          </a:p>
        </p:txBody>
      </p:sp>
      <p:sp>
        <p:nvSpPr>
          <p:cNvPr id="10" name="Shape 7"/>
          <p:cNvSpPr/>
          <p:nvPr/>
        </p:nvSpPr>
        <p:spPr>
          <a:xfrm>
            <a:off x="457200" y="2880360"/>
            <a:ext cx="8229600" cy="457200"/>
          </a:xfrm>
          <a:prstGeom prst="roundRect">
            <a:avLst>
              <a:gd name="adj" fmla="val 10000"/>
            </a:avLst>
          </a:prstGeom>
          <a:solidFill>
            <a:srgbClr val="DFE7ED"/>
          </a:solidFill>
          <a:ln w="12700">
            <a:solidFill>
              <a:srgbClr val="C5DCEE"/>
            </a:solidFill>
            <a:prstDash val="solid"/>
          </a:ln>
        </p:spPr>
        <p:txBody>
          <a:bodyPr/>
          <a:lstStyle/>
          <a:p>
            <a:endParaRPr lang="en-US"/>
          </a:p>
        </p:txBody>
      </p:sp>
      <p:sp>
        <p:nvSpPr>
          <p:cNvPr id="11" name="Text 8"/>
          <p:cNvSpPr/>
          <p:nvPr/>
        </p:nvSpPr>
        <p:spPr>
          <a:xfrm>
            <a:off x="566928" y="2880360"/>
            <a:ext cx="8010144" cy="457200"/>
          </a:xfrm>
          <a:prstGeom prst="rect">
            <a:avLst/>
          </a:prstGeom>
          <a:noFill/>
          <a:ln/>
        </p:spPr>
        <p:txBody>
          <a:bodyPr wrap="square" rtlCol="0" anchor="ctr"/>
          <a:lstStyle/>
          <a:p>
            <a:pPr marL="0" indent="0" algn="l">
              <a:buNone/>
            </a:pPr>
            <a:r>
              <a:rPr lang="en-US" sz="1200" dirty="0">
                <a:latin typeface="Arial" panose="020B0604020202020204" pitchFamily="34" charset="0"/>
                <a:cs typeface="Arial" panose="020B0604020202020204" pitchFamily="34" charset="0"/>
              </a:rPr>
              <a:t>The most valuable skill is not prompting - it is designing the failure handling path. An agent that validates its own tool output and retries with the failure reason embedded is fundamentally different from one that trusts every response.</a:t>
            </a:r>
          </a:p>
        </p:txBody>
      </p:sp>
      <p:sp>
        <p:nvSpPr>
          <p:cNvPr id="12" name="Text 9"/>
          <p:cNvSpPr/>
          <p:nvPr/>
        </p:nvSpPr>
        <p:spPr>
          <a:xfrm>
            <a:off x="457200" y="3520440"/>
            <a:ext cx="4023360" cy="256032"/>
          </a:xfrm>
          <a:prstGeom prst="rect">
            <a:avLst/>
          </a:prstGeom>
          <a:noFill/>
          <a:ln/>
        </p:spPr>
        <p:txBody>
          <a:bodyPr wrap="square" rtlCol="0" anchor="ctr"/>
          <a:lstStyle/>
          <a:p>
            <a:pPr marL="0" indent="0" algn="l">
              <a:buNone/>
            </a:pPr>
            <a:r>
              <a:rPr lang="en-US" sz="1200" b="1">
                <a:solidFill>
                  <a:srgbClr val="075056"/>
                </a:solidFill>
                <a:latin typeface="Arial" pitchFamily="34" charset="0"/>
                <a:ea typeface="Arial" pitchFamily="34" charset="-122"/>
                <a:cs typeface="Arial" pitchFamily="34" charset="-120"/>
              </a:rPr>
              <a:t>Confidence using AI at work</a:t>
            </a:r>
            <a:endParaRPr lang="en-US" sz="1200"/>
          </a:p>
        </p:txBody>
      </p:sp>
      <p:sp>
        <p:nvSpPr>
          <p:cNvPr id="13" name="Text 10"/>
          <p:cNvSpPr/>
          <p:nvPr/>
        </p:nvSpPr>
        <p:spPr>
          <a:xfrm>
            <a:off x="457200" y="3794760"/>
            <a:ext cx="4023360" cy="365760"/>
          </a:xfrm>
          <a:prstGeom prst="rect">
            <a:avLst/>
          </a:prstGeom>
          <a:noFill/>
          <a:ln/>
        </p:spPr>
        <p:txBody>
          <a:bodyPr wrap="square" rtlCol="0" anchor="ctr"/>
          <a:lstStyle/>
          <a:p>
            <a:pPr marL="0" indent="0">
              <a:buNone/>
            </a:pPr>
            <a:r>
              <a:rPr lang="en-US" dirty="0"/>
              <a:t>Before: 2 / 10        After: 8 / 10</a:t>
            </a:r>
          </a:p>
        </p:txBody>
      </p:sp>
      <p:sp>
        <p:nvSpPr>
          <p:cNvPr id="14" name="Text 11"/>
          <p:cNvSpPr/>
          <p:nvPr/>
        </p:nvSpPr>
        <p:spPr>
          <a:xfrm>
            <a:off x="4709160" y="3520440"/>
            <a:ext cx="3977640" cy="256032"/>
          </a:xfrm>
          <a:prstGeom prst="rect">
            <a:avLst/>
          </a:prstGeom>
          <a:noFill/>
          <a:ln/>
        </p:spPr>
        <p:txBody>
          <a:bodyPr wrap="square" rtlCol="0" anchor="ctr"/>
          <a:lstStyle/>
          <a:p>
            <a:pPr marL="0" indent="0" algn="l">
              <a:buNone/>
            </a:pPr>
            <a:r>
              <a:rPr lang="en-US" sz="1200" b="1">
                <a:solidFill>
                  <a:srgbClr val="075056"/>
                </a:solidFill>
                <a:latin typeface="Arial" pitchFamily="34" charset="0"/>
                <a:ea typeface="Arial" pitchFamily="34" charset="-122"/>
                <a:cs typeface="Arial" pitchFamily="34" charset="-120"/>
              </a:rPr>
              <a:t>One tip for the next cohort</a:t>
            </a:r>
            <a:endParaRPr lang="en-US" sz="1200"/>
          </a:p>
        </p:txBody>
      </p:sp>
      <p:sp>
        <p:nvSpPr>
          <p:cNvPr id="15" name="Shape 12"/>
          <p:cNvSpPr/>
          <p:nvPr/>
        </p:nvSpPr>
        <p:spPr>
          <a:xfrm>
            <a:off x="4709160" y="3794760"/>
            <a:ext cx="3977640" cy="705240"/>
          </a:xfrm>
          <a:prstGeom prst="roundRect">
            <a:avLst>
              <a:gd name="adj" fmla="val 10000"/>
            </a:avLst>
          </a:prstGeom>
          <a:solidFill>
            <a:srgbClr val="DFE7ED"/>
          </a:solidFill>
          <a:ln w="12700">
            <a:solidFill>
              <a:srgbClr val="C5DCEE"/>
            </a:solidFill>
            <a:prstDash val="solid"/>
          </a:ln>
        </p:spPr>
        <p:txBody>
          <a:bodyPr/>
          <a:lstStyle/>
          <a:p>
            <a:r>
              <a:rPr lang="es-CO" sz="1100" i="1" dirty="0" err="1">
                <a:solidFill>
                  <a:srgbClr val="5A6B72"/>
                </a:solidFill>
                <a:latin typeface="Arial" panose="020B0604020202020204" pitchFamily="34" charset="0"/>
                <a:ea typeface="Calibri" pitchFamily="34" charset="-122"/>
                <a:cs typeface="Arial" panose="020B0604020202020204" pitchFamily="34" charset="0"/>
              </a:rPr>
              <a:t>We</a:t>
            </a:r>
            <a:r>
              <a:rPr lang="es-CO" sz="1100" i="1" dirty="0">
                <a:solidFill>
                  <a:srgbClr val="5A6B72"/>
                </a:solidFill>
                <a:latin typeface="Arial" panose="020B0604020202020204" pitchFamily="34" charset="0"/>
                <a:ea typeface="Calibri" pitchFamily="34" charset="-122"/>
                <a:cs typeface="Arial" panose="020B0604020202020204" pitchFamily="34" charset="0"/>
              </a:rPr>
              <a:t> </a:t>
            </a:r>
            <a:r>
              <a:rPr lang="es-CO" sz="1100" i="1" dirty="0" err="1">
                <a:solidFill>
                  <a:srgbClr val="5A6B72"/>
                </a:solidFill>
                <a:latin typeface="Arial" panose="020B0604020202020204" pitchFamily="34" charset="0"/>
                <a:ea typeface="Calibri" pitchFamily="34" charset="-122"/>
                <a:cs typeface="Arial" panose="020B0604020202020204" pitchFamily="34" charset="0"/>
              </a:rPr>
              <a:t>should</a:t>
            </a:r>
            <a:r>
              <a:rPr lang="es-CO" sz="1100" i="1" dirty="0">
                <a:solidFill>
                  <a:srgbClr val="5A6B72"/>
                </a:solidFill>
                <a:latin typeface="Arial" panose="020B0604020202020204" pitchFamily="34" charset="0"/>
                <a:ea typeface="Calibri" pitchFamily="34" charset="-122"/>
                <a:cs typeface="Arial" panose="020B0604020202020204" pitchFamily="34" charset="0"/>
              </a:rPr>
              <a:t> </a:t>
            </a:r>
            <a:r>
              <a:rPr lang="es-CO" sz="1100" i="1" dirty="0" err="1">
                <a:solidFill>
                  <a:srgbClr val="5A6B72"/>
                </a:solidFill>
                <a:latin typeface="Arial" panose="020B0604020202020204" pitchFamily="34" charset="0"/>
                <a:ea typeface="Calibri" pitchFamily="34" charset="-122"/>
                <a:cs typeface="Arial" panose="020B0604020202020204" pitchFamily="34" charset="0"/>
              </a:rPr>
              <a:t>provide</a:t>
            </a:r>
            <a:r>
              <a:rPr lang="es-CO" sz="1100" i="1" dirty="0">
                <a:solidFill>
                  <a:srgbClr val="5A6B72"/>
                </a:solidFill>
                <a:latin typeface="Arial" panose="020B0604020202020204" pitchFamily="34" charset="0"/>
                <a:ea typeface="Calibri" pitchFamily="34" charset="-122"/>
                <a:cs typeface="Arial" panose="020B0604020202020204" pitchFamily="34" charset="0"/>
              </a:rPr>
              <a:t> </a:t>
            </a:r>
            <a:r>
              <a:rPr lang="es-CO" sz="1100" i="1" dirty="0" err="1">
                <a:solidFill>
                  <a:srgbClr val="5A6B72"/>
                </a:solidFill>
                <a:latin typeface="Arial" panose="020B0604020202020204" pitchFamily="34" charset="0"/>
                <a:ea typeface="Calibri" pitchFamily="34" charset="-122"/>
                <a:cs typeface="Arial" panose="020B0604020202020204" pitchFamily="34" charset="0"/>
              </a:rPr>
              <a:t>greater</a:t>
            </a:r>
            <a:r>
              <a:rPr lang="es-CO" sz="1100" i="1" dirty="0">
                <a:solidFill>
                  <a:srgbClr val="5A6B72"/>
                </a:solidFill>
                <a:latin typeface="Arial" panose="020B0604020202020204" pitchFamily="34" charset="0"/>
                <a:ea typeface="Calibri" pitchFamily="34" charset="-122"/>
                <a:cs typeface="Arial" panose="020B0604020202020204" pitchFamily="34" charset="0"/>
              </a:rPr>
              <a:t> </a:t>
            </a:r>
            <a:r>
              <a:rPr lang="es-CO" sz="1100" i="1" dirty="0" err="1">
                <a:solidFill>
                  <a:srgbClr val="5A6B72"/>
                </a:solidFill>
                <a:latin typeface="Arial" panose="020B0604020202020204" pitchFamily="34" charset="0"/>
                <a:ea typeface="Calibri" pitchFamily="34" charset="-122"/>
                <a:cs typeface="Arial" panose="020B0604020202020204" pitchFamily="34" charset="0"/>
              </a:rPr>
              <a:t>support</a:t>
            </a:r>
            <a:r>
              <a:rPr lang="es-CO" sz="1100" i="1" dirty="0">
                <a:solidFill>
                  <a:srgbClr val="5A6B72"/>
                </a:solidFill>
                <a:latin typeface="Arial" panose="020B0604020202020204" pitchFamily="34" charset="0"/>
                <a:ea typeface="Calibri" pitchFamily="34" charset="-122"/>
                <a:cs typeface="Arial" panose="020B0604020202020204" pitchFamily="34" charset="0"/>
              </a:rPr>
              <a:t> </a:t>
            </a:r>
            <a:r>
              <a:rPr lang="es-CO" sz="1100" i="1" dirty="0" err="1">
                <a:solidFill>
                  <a:srgbClr val="5A6B72"/>
                </a:solidFill>
                <a:latin typeface="Arial" panose="020B0604020202020204" pitchFamily="34" charset="0"/>
                <a:ea typeface="Calibri" pitchFamily="34" charset="-122"/>
                <a:cs typeface="Arial" panose="020B0604020202020204" pitchFamily="34" charset="0"/>
              </a:rPr>
              <a:t>for</a:t>
            </a:r>
            <a:r>
              <a:rPr lang="es-CO" sz="1100" i="1" dirty="0">
                <a:solidFill>
                  <a:srgbClr val="5A6B72"/>
                </a:solidFill>
                <a:latin typeface="Arial" panose="020B0604020202020204" pitchFamily="34" charset="0"/>
                <a:ea typeface="Calibri" pitchFamily="34" charset="-122"/>
                <a:cs typeface="Arial" panose="020B0604020202020204" pitchFamily="34" charset="0"/>
              </a:rPr>
              <a:t> </a:t>
            </a:r>
            <a:r>
              <a:rPr lang="es-CO" sz="1100" i="1" dirty="0" err="1">
                <a:solidFill>
                  <a:srgbClr val="5A6B72"/>
                </a:solidFill>
                <a:latin typeface="Arial" panose="020B0604020202020204" pitchFamily="34" charset="0"/>
                <a:ea typeface="Calibri" pitchFamily="34" charset="-122"/>
                <a:cs typeface="Arial" panose="020B0604020202020204" pitchFamily="34" charset="0"/>
              </a:rPr>
              <a:t>nontechnical</a:t>
            </a:r>
            <a:r>
              <a:rPr lang="es-CO" sz="1100" i="1" dirty="0">
                <a:solidFill>
                  <a:srgbClr val="5A6B72"/>
                </a:solidFill>
                <a:latin typeface="Arial" panose="020B0604020202020204" pitchFamily="34" charset="0"/>
                <a:ea typeface="Calibri" pitchFamily="34" charset="-122"/>
                <a:cs typeface="Arial" panose="020B0604020202020204" pitchFamily="34" charset="0"/>
              </a:rPr>
              <a:t> </a:t>
            </a:r>
            <a:r>
              <a:rPr lang="es-CO" sz="1100" i="1" dirty="0" err="1">
                <a:solidFill>
                  <a:srgbClr val="5A6B72"/>
                </a:solidFill>
                <a:latin typeface="Arial" panose="020B0604020202020204" pitchFamily="34" charset="0"/>
                <a:ea typeface="Calibri" pitchFamily="34" charset="-122"/>
                <a:cs typeface="Arial" panose="020B0604020202020204" pitchFamily="34" charset="0"/>
              </a:rPr>
              <a:t>individuals</a:t>
            </a:r>
            <a:r>
              <a:rPr lang="es-CO" sz="1100" i="1" dirty="0">
                <a:solidFill>
                  <a:srgbClr val="5A6B72"/>
                </a:solidFill>
                <a:latin typeface="Arial" panose="020B0604020202020204" pitchFamily="34" charset="0"/>
                <a:ea typeface="Calibri" pitchFamily="34" charset="-122"/>
                <a:cs typeface="Arial" panose="020B0604020202020204" pitchFamily="34" charset="0"/>
              </a:rPr>
              <a:t> and Spanish </a:t>
            </a:r>
            <a:r>
              <a:rPr lang="es-CO" sz="1100" i="1" dirty="0" err="1">
                <a:solidFill>
                  <a:srgbClr val="5A6B72"/>
                </a:solidFill>
                <a:latin typeface="Arial" panose="020B0604020202020204" pitchFamily="34" charset="0"/>
                <a:ea typeface="Calibri" pitchFamily="34" charset="-122"/>
                <a:cs typeface="Arial" panose="020B0604020202020204" pitchFamily="34" charset="0"/>
              </a:rPr>
              <a:t>speakers</a:t>
            </a:r>
            <a:r>
              <a:rPr lang="es-CO" sz="1100" i="1" dirty="0">
                <a:solidFill>
                  <a:srgbClr val="5A6B72"/>
                </a:solidFill>
                <a:latin typeface="Arial" panose="020B0604020202020204" pitchFamily="34" charset="0"/>
                <a:ea typeface="Calibri" pitchFamily="34" charset="-122"/>
                <a:cs typeface="Arial" panose="020B0604020202020204" pitchFamily="34" charset="0"/>
              </a:rPr>
              <a:t> </a:t>
            </a:r>
            <a:r>
              <a:rPr lang="es-CO" sz="1100" i="1" dirty="0" err="1">
                <a:solidFill>
                  <a:srgbClr val="5A6B72"/>
                </a:solidFill>
                <a:latin typeface="Arial" panose="020B0604020202020204" pitchFamily="34" charset="0"/>
                <a:ea typeface="Calibri" pitchFamily="34" charset="-122"/>
                <a:cs typeface="Arial" panose="020B0604020202020204" pitchFamily="34" charset="0"/>
              </a:rPr>
              <a:t>throughout</a:t>
            </a:r>
            <a:r>
              <a:rPr lang="es-CO" sz="1100" i="1" dirty="0">
                <a:solidFill>
                  <a:srgbClr val="5A6B72"/>
                </a:solidFill>
                <a:latin typeface="Arial" panose="020B0604020202020204" pitchFamily="34" charset="0"/>
                <a:ea typeface="Calibri" pitchFamily="34" charset="-122"/>
                <a:cs typeface="Arial" panose="020B0604020202020204" pitchFamily="34" charset="0"/>
              </a:rPr>
              <a:t> </a:t>
            </a:r>
            <a:r>
              <a:rPr lang="es-CO" sz="1100" i="1" dirty="0" err="1">
                <a:solidFill>
                  <a:srgbClr val="5A6B72"/>
                </a:solidFill>
                <a:latin typeface="Arial" panose="020B0604020202020204" pitchFamily="34" charset="0"/>
                <a:ea typeface="Calibri" pitchFamily="34" charset="-122"/>
                <a:cs typeface="Arial" panose="020B0604020202020204" pitchFamily="34" charset="0"/>
              </a:rPr>
              <a:t>the</a:t>
            </a:r>
            <a:r>
              <a:rPr lang="es-CO" sz="1100" i="1" dirty="0">
                <a:solidFill>
                  <a:srgbClr val="5A6B72"/>
                </a:solidFill>
                <a:latin typeface="Arial" panose="020B0604020202020204" pitchFamily="34" charset="0"/>
                <a:ea typeface="Calibri" pitchFamily="34" charset="-122"/>
                <a:cs typeface="Arial" panose="020B0604020202020204" pitchFamily="34" charset="0"/>
              </a:rPr>
              <a:t> </a:t>
            </a:r>
            <a:r>
              <a:rPr lang="es-CO" sz="1100" i="1" dirty="0" err="1">
                <a:solidFill>
                  <a:srgbClr val="5A6B72"/>
                </a:solidFill>
                <a:latin typeface="Arial" panose="020B0604020202020204" pitchFamily="34" charset="0"/>
                <a:ea typeface="Calibri" pitchFamily="34" charset="-122"/>
                <a:cs typeface="Arial" panose="020B0604020202020204" pitchFamily="34" charset="0"/>
              </a:rPr>
              <a:t>development</a:t>
            </a:r>
            <a:r>
              <a:rPr lang="es-CO" sz="1100" i="1" dirty="0">
                <a:solidFill>
                  <a:srgbClr val="5A6B72"/>
                </a:solidFill>
                <a:latin typeface="Arial" panose="020B0604020202020204" pitchFamily="34" charset="0"/>
                <a:ea typeface="Calibri" pitchFamily="34" charset="-122"/>
                <a:cs typeface="Arial" panose="020B0604020202020204" pitchFamily="34" charset="0"/>
              </a:rPr>
              <a:t> </a:t>
            </a:r>
            <a:r>
              <a:rPr lang="es-CO" sz="1100" i="1" dirty="0" err="1">
                <a:solidFill>
                  <a:srgbClr val="5A6B72"/>
                </a:solidFill>
                <a:latin typeface="Arial" panose="020B0604020202020204" pitchFamily="34" charset="0"/>
                <a:ea typeface="Calibri" pitchFamily="34" charset="-122"/>
                <a:cs typeface="Arial" panose="020B0604020202020204" pitchFamily="34" charset="0"/>
              </a:rPr>
              <a:t>of</a:t>
            </a:r>
            <a:r>
              <a:rPr lang="es-CO" sz="1100" i="1" dirty="0">
                <a:solidFill>
                  <a:srgbClr val="5A6B72"/>
                </a:solidFill>
                <a:latin typeface="Arial" panose="020B0604020202020204" pitchFamily="34" charset="0"/>
                <a:ea typeface="Calibri" pitchFamily="34" charset="-122"/>
                <a:cs typeface="Arial" panose="020B0604020202020204" pitchFamily="34" charset="0"/>
              </a:rPr>
              <a:t> </a:t>
            </a:r>
            <a:r>
              <a:rPr lang="es-CO" sz="1100" i="1" dirty="0" err="1">
                <a:solidFill>
                  <a:srgbClr val="5A6B72"/>
                </a:solidFill>
                <a:latin typeface="Arial" panose="020B0604020202020204" pitchFamily="34" charset="0"/>
                <a:ea typeface="Calibri" pitchFamily="34" charset="-122"/>
                <a:cs typeface="Arial" panose="020B0604020202020204" pitchFamily="34" charset="0"/>
              </a:rPr>
              <a:t>their</a:t>
            </a:r>
            <a:r>
              <a:rPr lang="es-CO" sz="1100" i="1" dirty="0">
                <a:solidFill>
                  <a:srgbClr val="5A6B72"/>
                </a:solidFill>
                <a:latin typeface="Arial" panose="020B0604020202020204" pitchFamily="34" charset="0"/>
                <a:ea typeface="Calibri" pitchFamily="34" charset="-122"/>
                <a:cs typeface="Arial" panose="020B0604020202020204" pitchFamily="34" charset="0"/>
              </a:rPr>
              <a:t> </a:t>
            </a:r>
            <a:r>
              <a:rPr lang="es-CO" sz="1100" i="1" dirty="0" err="1">
                <a:solidFill>
                  <a:srgbClr val="5A6B72"/>
                </a:solidFill>
                <a:latin typeface="Arial" panose="020B0604020202020204" pitchFamily="34" charset="0"/>
                <a:ea typeface="Calibri" pitchFamily="34" charset="-122"/>
                <a:cs typeface="Arial" panose="020B0604020202020204" pitchFamily="34" charset="0"/>
              </a:rPr>
              <a:t>capstone</a:t>
            </a:r>
            <a:r>
              <a:rPr lang="es-CO" sz="1100" i="1" dirty="0">
                <a:solidFill>
                  <a:srgbClr val="5A6B72"/>
                </a:solidFill>
                <a:latin typeface="Arial" panose="020B0604020202020204" pitchFamily="34" charset="0"/>
                <a:ea typeface="Calibri" pitchFamily="34" charset="-122"/>
                <a:cs typeface="Arial" panose="020B0604020202020204" pitchFamily="34" charset="0"/>
              </a:rPr>
              <a:t> </a:t>
            </a:r>
            <a:r>
              <a:rPr lang="es-CO" sz="1100" i="1" dirty="0" err="1">
                <a:solidFill>
                  <a:srgbClr val="5A6B72"/>
                </a:solidFill>
                <a:latin typeface="Arial" panose="020B0604020202020204" pitchFamily="34" charset="0"/>
                <a:ea typeface="Calibri" pitchFamily="34" charset="-122"/>
                <a:cs typeface="Arial" panose="020B0604020202020204" pitchFamily="34" charset="0"/>
              </a:rPr>
              <a:t>projects</a:t>
            </a:r>
            <a:r>
              <a:rPr lang="es-CO" sz="1100" i="1" dirty="0">
                <a:solidFill>
                  <a:srgbClr val="5A6B72"/>
                </a:solidFill>
                <a:latin typeface="Arial" panose="020B0604020202020204" pitchFamily="34" charset="0"/>
                <a:ea typeface="Calibri" pitchFamily="34" charset="-122"/>
                <a:cs typeface="Arial" panose="020B0604020202020204" pitchFamily="34" charset="0"/>
              </a:rPr>
              <a:t>.</a:t>
            </a:r>
            <a:endParaRPr lang="en-US" sz="1100" i="1" dirty="0">
              <a:solidFill>
                <a:srgbClr val="5A6B72"/>
              </a:solidFill>
              <a:latin typeface="Arial" panose="020B0604020202020204" pitchFamily="34" charset="0"/>
              <a:ea typeface="Calibri" pitchFamily="34" charset="-122"/>
              <a:cs typeface="Arial" panose="020B0604020202020204" pitchFamily="34" charset="0"/>
            </a:endParaRPr>
          </a:p>
        </p:txBody>
      </p:sp>
      <p:sp>
        <p:nvSpPr>
          <p:cNvPr id="16" name="Text 13"/>
          <p:cNvSpPr/>
          <p:nvPr/>
        </p:nvSpPr>
        <p:spPr>
          <a:xfrm>
            <a:off x="566928" y="1940544"/>
            <a:ext cx="8010144" cy="521208"/>
          </a:xfrm>
          <a:prstGeom prst="rect">
            <a:avLst/>
          </a:prstGeom>
          <a:noFill/>
          <a:ln/>
        </p:spPr>
        <p:txBody>
          <a:bodyPr wrap="square" rtlCol="0" anchor="ctr"/>
          <a:lstStyle/>
          <a:p>
            <a:r>
              <a:rPr lang="en-US" sz="1100" i="1" dirty="0">
                <a:solidFill>
                  <a:srgbClr val="5A6B72"/>
                </a:solidFill>
                <a:latin typeface="Arial" panose="020B0604020202020204" pitchFamily="34" charset="0"/>
                <a:ea typeface="Calibri" pitchFamily="34" charset="-122"/>
                <a:cs typeface="Arial" panose="020B0604020202020204" pitchFamily="34" charset="0"/>
              </a:rPr>
              <a:t>Now I see AI as a force multiplier for repetitive, well-defined tasks. However, it can generate code that appears correct at first glance but fails in edge cases that were not encountered during the agent's exploration. That is why tester review remains essential.</a:t>
            </a:r>
            <a:endParaRPr lang="en-US" sz="1100" dirty="0">
              <a:latin typeface="Arial" panose="020B0604020202020204" pitchFamily="34" charset="0"/>
              <a:cs typeface="Arial" panose="020B0604020202020204" pitchFamily="34" charset="0"/>
            </a:endParaRPr>
          </a:p>
        </p:txBody>
      </p:sp>
      <p:sp>
        <p:nvSpPr>
          <p:cNvPr id="17" name="Text 14"/>
          <p:cNvSpPr/>
          <p:nvPr/>
        </p:nvSpPr>
        <p:spPr>
          <a:xfrm>
            <a:off x="457200" y="4709160"/>
            <a:ext cx="8229600" cy="274320"/>
          </a:xfrm>
          <a:prstGeom prst="rect">
            <a:avLst/>
          </a:prstGeom>
          <a:noFill/>
          <a:ln/>
        </p:spPr>
        <p:txBody>
          <a:bodyPr wrap="square" rtlCol="0" anchor="ctr"/>
          <a:lstStyle/>
          <a:p>
            <a:pPr marL="0" indent="0">
              <a:buNone/>
            </a:pPr>
            <a:r>
              <a:rPr lang="en-US" sz="1000" i="1">
                <a:solidFill>
                  <a:srgbClr val="5A6B72"/>
                </a:solidFill>
                <a:latin typeface="Calibri" pitchFamily="34" charset="0"/>
                <a:ea typeface="Calibri" pitchFamily="34" charset="-122"/>
                <a:cs typeface="Calibri" pitchFamily="34" charset="-120"/>
              </a:rPr>
              <a:t>Thank you — Perficient Global AI First Academy</a:t>
            </a:r>
            <a:endParaRPr lang="en-US" sz="100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2">
    <p:bg>
      <p:bgPr>
        <a:solidFill>
          <a:srgbClr val="075056"/>
        </a:solidFill>
        <a:effectLst/>
      </p:bgPr>
    </p:bg>
    <p:spTree>
      <p:nvGrpSpPr>
        <p:cNvPr id="1" name=""/>
        <p:cNvGrpSpPr/>
        <p:nvPr/>
      </p:nvGrpSpPr>
      <p:grpSpPr>
        <a:xfrm>
          <a:off x="0" y="0"/>
          <a:ext cx="0" cy="0"/>
          <a:chOff x="0" y="0"/>
          <a:chExt cx="0" cy="0"/>
        </a:xfrm>
      </p:grpSpPr>
      <p:sp>
        <p:nvSpPr>
          <p:cNvPr id="2" name="Text 0"/>
          <p:cNvSpPr/>
          <p:nvPr/>
        </p:nvSpPr>
        <p:spPr>
          <a:xfrm>
            <a:off x="457200" y="320040"/>
            <a:ext cx="7315200" cy="548640"/>
          </a:xfrm>
          <a:prstGeom prst="rect">
            <a:avLst/>
          </a:prstGeom>
          <a:noFill/>
          <a:ln/>
        </p:spPr>
        <p:txBody>
          <a:bodyPr wrap="square" rtlCol="0" anchor="ctr"/>
          <a:lstStyle/>
          <a:p>
            <a:pPr marL="0" indent="0">
              <a:buNone/>
            </a:pPr>
            <a:r>
              <a:rPr lang="en-US" sz="2600" b="1">
                <a:solidFill>
                  <a:srgbClr val="FFFFFF"/>
                </a:solidFill>
                <a:latin typeface="Arial" pitchFamily="34" charset="0"/>
                <a:ea typeface="Arial" pitchFamily="34" charset="-122"/>
                <a:cs typeface="Arial" pitchFamily="34" charset="-120"/>
              </a:rPr>
              <a:t>Rubric Validation</a:t>
            </a:r>
            <a:endParaRPr lang="en-US" sz="2600"/>
          </a:p>
        </p:txBody>
      </p:sp>
      <p:sp>
        <p:nvSpPr>
          <p:cNvPr id="3" name="Text 1"/>
          <p:cNvSpPr/>
          <p:nvPr/>
        </p:nvSpPr>
        <p:spPr>
          <a:xfrm>
            <a:off x="457200" y="841248"/>
            <a:ext cx="7315200" cy="274320"/>
          </a:xfrm>
          <a:prstGeom prst="rect">
            <a:avLst/>
          </a:prstGeom>
          <a:noFill/>
          <a:ln/>
        </p:spPr>
        <p:txBody>
          <a:bodyPr wrap="square" rtlCol="0" anchor="ctr"/>
          <a:lstStyle/>
          <a:p>
            <a:pPr marL="0" indent="0">
              <a:buNone/>
            </a:pPr>
            <a:r>
              <a:rPr lang="en-US" sz="1300" i="1">
                <a:solidFill>
                  <a:srgbClr val="71D8C5"/>
                </a:solidFill>
                <a:latin typeface="Calibri" pitchFamily="34" charset="0"/>
                <a:ea typeface="Calibri" pitchFamily="34" charset="-122"/>
                <a:cs typeface="Calibri" pitchFamily="34" charset="-120"/>
              </a:rPr>
              <a:t>Validator use only</a:t>
            </a:r>
            <a:endParaRPr lang="en-US" sz="1300"/>
          </a:p>
        </p:txBody>
      </p:sp>
      <p:pic>
        <p:nvPicPr>
          <p:cNvPr id="4" name="Image 0" descr="preencoded.png"/>
          <p:cNvPicPr>
            <a:picLocks noChangeAspect="1"/>
          </p:cNvPicPr>
          <p:nvPr/>
        </p:nvPicPr>
        <p:blipFill>
          <a:blip r:embed="rId3"/>
          <a:stretch>
            <a:fillRect/>
          </a:stretch>
        </p:blipFill>
        <p:spPr>
          <a:xfrm>
            <a:off x="7635240" y="365760"/>
            <a:ext cx="1097280" cy="252618"/>
          </a:xfrm>
          <a:prstGeom prst="rect">
            <a:avLst/>
          </a:prstGeom>
        </p:spPr>
      </p:pic>
      <p:sp>
        <p:nvSpPr>
          <p:cNvPr id="5" name="Text 2"/>
          <p:cNvSpPr/>
          <p:nvPr/>
        </p:nvSpPr>
        <p:spPr>
          <a:xfrm>
            <a:off x="457200" y="1325880"/>
            <a:ext cx="6858000" cy="384048"/>
          </a:xfrm>
          <a:prstGeom prst="rect">
            <a:avLst/>
          </a:prstGeom>
          <a:noFill/>
          <a:ln/>
        </p:spPr>
        <p:txBody>
          <a:bodyPr wrap="square" rtlCol="0" anchor="ctr"/>
          <a:lstStyle/>
          <a:p>
            <a:pPr marL="0" indent="0">
              <a:buNone/>
            </a:pPr>
            <a:r>
              <a:rPr lang="en-US" sz="1250">
                <a:solidFill>
                  <a:srgbClr val="FFFFFF"/>
                </a:solidFill>
                <a:latin typeface="Calibri" pitchFamily="34" charset="0"/>
                <a:ea typeface="Calibri" pitchFamily="34" charset="-122"/>
                <a:cs typeface="Calibri" pitchFamily="34" charset="-120"/>
              </a:rPr>
              <a:t>1.  Spec-Driven Development</a:t>
            </a:r>
            <a:endParaRPr lang="en-US" sz="1250"/>
          </a:p>
        </p:txBody>
      </p:sp>
      <p:sp>
        <p:nvSpPr>
          <p:cNvPr id="6" name="Shape 3"/>
          <p:cNvSpPr/>
          <p:nvPr/>
        </p:nvSpPr>
        <p:spPr>
          <a:xfrm>
            <a:off x="7543800" y="1325880"/>
            <a:ext cx="1143000" cy="384048"/>
          </a:xfrm>
          <a:prstGeom prst="roundRect">
            <a:avLst>
              <a:gd name="adj" fmla="val 9524"/>
            </a:avLst>
          </a:prstGeom>
          <a:solidFill>
            <a:srgbClr val="FFFFFF"/>
          </a:solidFill>
          <a:ln/>
        </p:spPr>
        <p:txBody>
          <a:bodyPr/>
          <a:lstStyle/>
          <a:p>
            <a:endParaRPr lang="en-US"/>
          </a:p>
        </p:txBody>
      </p:sp>
      <p:sp>
        <p:nvSpPr>
          <p:cNvPr id="7" name="Text 4"/>
          <p:cNvSpPr/>
          <p:nvPr/>
        </p:nvSpPr>
        <p:spPr>
          <a:xfrm>
            <a:off x="7543800" y="1325880"/>
            <a:ext cx="1143000" cy="384048"/>
          </a:xfrm>
          <a:prstGeom prst="rect">
            <a:avLst/>
          </a:prstGeom>
          <a:noFill/>
          <a:ln/>
        </p:spPr>
        <p:txBody>
          <a:bodyPr wrap="square" rtlCol="0" anchor="ctr"/>
          <a:lstStyle/>
          <a:p>
            <a:pPr marL="0" indent="0" algn="ctr">
              <a:buNone/>
            </a:pPr>
            <a:r>
              <a:rPr lang="en-US" sz="1100" b="1">
                <a:solidFill>
                  <a:srgbClr val="075056"/>
                </a:solidFill>
                <a:latin typeface="Arial" pitchFamily="34" charset="0"/>
                <a:ea typeface="Arial" pitchFamily="34" charset="-122"/>
                <a:cs typeface="Arial" pitchFamily="34" charset="-120"/>
              </a:rPr>
              <a:t>____ / 30</a:t>
            </a:r>
            <a:endParaRPr lang="en-US" sz="1100"/>
          </a:p>
        </p:txBody>
      </p:sp>
      <p:sp>
        <p:nvSpPr>
          <p:cNvPr id="8" name="Text 5"/>
          <p:cNvSpPr/>
          <p:nvPr/>
        </p:nvSpPr>
        <p:spPr>
          <a:xfrm>
            <a:off x="457200" y="1783080"/>
            <a:ext cx="6858000" cy="384048"/>
          </a:xfrm>
          <a:prstGeom prst="rect">
            <a:avLst/>
          </a:prstGeom>
          <a:noFill/>
          <a:ln/>
        </p:spPr>
        <p:txBody>
          <a:bodyPr wrap="square" rtlCol="0" anchor="ctr"/>
          <a:lstStyle/>
          <a:p>
            <a:pPr marL="0" indent="0">
              <a:buNone/>
            </a:pPr>
            <a:r>
              <a:rPr lang="en-US" sz="1250">
                <a:solidFill>
                  <a:srgbClr val="FFFFFF"/>
                </a:solidFill>
                <a:latin typeface="Calibri" pitchFamily="34" charset="0"/>
                <a:ea typeface="Calibri" pitchFamily="34" charset="-122"/>
                <a:cs typeface="Calibri" pitchFamily="34" charset="-120"/>
              </a:rPr>
              <a:t>2.  AI-Powered Development</a:t>
            </a:r>
            <a:endParaRPr lang="en-US" sz="1250"/>
          </a:p>
        </p:txBody>
      </p:sp>
      <p:sp>
        <p:nvSpPr>
          <p:cNvPr id="9" name="Shape 6"/>
          <p:cNvSpPr/>
          <p:nvPr/>
        </p:nvSpPr>
        <p:spPr>
          <a:xfrm>
            <a:off x="7543800" y="1783080"/>
            <a:ext cx="1143000" cy="384048"/>
          </a:xfrm>
          <a:prstGeom prst="roundRect">
            <a:avLst>
              <a:gd name="adj" fmla="val 9524"/>
            </a:avLst>
          </a:prstGeom>
          <a:solidFill>
            <a:srgbClr val="FFFFFF"/>
          </a:solidFill>
          <a:ln/>
        </p:spPr>
        <p:txBody>
          <a:bodyPr/>
          <a:lstStyle/>
          <a:p>
            <a:endParaRPr lang="en-US"/>
          </a:p>
        </p:txBody>
      </p:sp>
      <p:sp>
        <p:nvSpPr>
          <p:cNvPr id="10" name="Text 7"/>
          <p:cNvSpPr/>
          <p:nvPr/>
        </p:nvSpPr>
        <p:spPr>
          <a:xfrm>
            <a:off x="7543800" y="1783080"/>
            <a:ext cx="1143000" cy="384048"/>
          </a:xfrm>
          <a:prstGeom prst="rect">
            <a:avLst/>
          </a:prstGeom>
          <a:noFill/>
          <a:ln/>
        </p:spPr>
        <p:txBody>
          <a:bodyPr wrap="square" rtlCol="0" anchor="ctr"/>
          <a:lstStyle/>
          <a:p>
            <a:pPr marL="0" indent="0" algn="ctr">
              <a:buNone/>
            </a:pPr>
            <a:r>
              <a:rPr lang="en-US" sz="1100" b="1">
                <a:solidFill>
                  <a:srgbClr val="075056"/>
                </a:solidFill>
                <a:latin typeface="Arial" pitchFamily="34" charset="0"/>
                <a:ea typeface="Arial" pitchFamily="34" charset="-122"/>
                <a:cs typeface="Arial" pitchFamily="34" charset="-120"/>
              </a:rPr>
              <a:t>____ / 30</a:t>
            </a:r>
            <a:endParaRPr lang="en-US" sz="1100"/>
          </a:p>
        </p:txBody>
      </p:sp>
      <p:sp>
        <p:nvSpPr>
          <p:cNvPr id="11" name="Text 8"/>
          <p:cNvSpPr/>
          <p:nvPr/>
        </p:nvSpPr>
        <p:spPr>
          <a:xfrm>
            <a:off x="457200" y="2240280"/>
            <a:ext cx="6858000" cy="384048"/>
          </a:xfrm>
          <a:prstGeom prst="rect">
            <a:avLst/>
          </a:prstGeom>
          <a:noFill/>
          <a:ln/>
        </p:spPr>
        <p:txBody>
          <a:bodyPr wrap="square" rtlCol="0" anchor="ctr"/>
          <a:lstStyle/>
          <a:p>
            <a:pPr marL="0" indent="0">
              <a:buNone/>
            </a:pPr>
            <a:r>
              <a:rPr lang="en-US" sz="1250">
                <a:solidFill>
                  <a:srgbClr val="FFFFFF"/>
                </a:solidFill>
                <a:latin typeface="Calibri" pitchFamily="34" charset="0"/>
                <a:ea typeface="Calibri" pitchFamily="34" charset="-122"/>
                <a:cs typeface="Calibri" pitchFamily="34" charset="-120"/>
              </a:rPr>
              <a:t>3.  LLM Evaluation &amp; Interpretability</a:t>
            </a:r>
            <a:endParaRPr lang="en-US" sz="1250"/>
          </a:p>
        </p:txBody>
      </p:sp>
      <p:sp>
        <p:nvSpPr>
          <p:cNvPr id="12" name="Shape 9"/>
          <p:cNvSpPr/>
          <p:nvPr/>
        </p:nvSpPr>
        <p:spPr>
          <a:xfrm>
            <a:off x="7543800" y="2240280"/>
            <a:ext cx="1143000" cy="384048"/>
          </a:xfrm>
          <a:prstGeom prst="roundRect">
            <a:avLst>
              <a:gd name="adj" fmla="val 9524"/>
            </a:avLst>
          </a:prstGeom>
          <a:solidFill>
            <a:srgbClr val="FFFFFF"/>
          </a:solidFill>
          <a:ln/>
        </p:spPr>
        <p:txBody>
          <a:bodyPr/>
          <a:lstStyle/>
          <a:p>
            <a:endParaRPr lang="en-US"/>
          </a:p>
        </p:txBody>
      </p:sp>
      <p:sp>
        <p:nvSpPr>
          <p:cNvPr id="13" name="Text 10"/>
          <p:cNvSpPr/>
          <p:nvPr/>
        </p:nvSpPr>
        <p:spPr>
          <a:xfrm>
            <a:off x="7543800" y="2240280"/>
            <a:ext cx="1143000" cy="384048"/>
          </a:xfrm>
          <a:prstGeom prst="rect">
            <a:avLst/>
          </a:prstGeom>
          <a:noFill/>
          <a:ln/>
        </p:spPr>
        <p:txBody>
          <a:bodyPr wrap="square" rtlCol="0" anchor="ctr"/>
          <a:lstStyle/>
          <a:p>
            <a:pPr marL="0" indent="0" algn="ctr">
              <a:buNone/>
            </a:pPr>
            <a:r>
              <a:rPr lang="en-US" sz="1100" b="1">
                <a:solidFill>
                  <a:srgbClr val="075056"/>
                </a:solidFill>
                <a:latin typeface="Arial" pitchFamily="34" charset="0"/>
                <a:ea typeface="Arial" pitchFamily="34" charset="-122"/>
                <a:cs typeface="Arial" pitchFamily="34" charset="-120"/>
              </a:rPr>
              <a:t>____ / 30</a:t>
            </a:r>
            <a:endParaRPr lang="en-US" sz="1100"/>
          </a:p>
        </p:txBody>
      </p:sp>
      <p:sp>
        <p:nvSpPr>
          <p:cNvPr id="14" name="Text 11"/>
          <p:cNvSpPr/>
          <p:nvPr/>
        </p:nvSpPr>
        <p:spPr>
          <a:xfrm>
            <a:off x="457200" y="2697480"/>
            <a:ext cx="6858000" cy="384048"/>
          </a:xfrm>
          <a:prstGeom prst="rect">
            <a:avLst/>
          </a:prstGeom>
          <a:noFill/>
          <a:ln/>
        </p:spPr>
        <p:txBody>
          <a:bodyPr wrap="square" rtlCol="0" anchor="ctr"/>
          <a:lstStyle/>
          <a:p>
            <a:pPr marL="0" indent="0">
              <a:buNone/>
            </a:pPr>
            <a:r>
              <a:rPr lang="en-US" sz="1250">
                <a:solidFill>
                  <a:srgbClr val="FFFFFF"/>
                </a:solidFill>
                <a:latin typeface="Calibri" pitchFamily="34" charset="0"/>
                <a:ea typeface="Calibri" pitchFamily="34" charset="-122"/>
                <a:cs typeface="Calibri" pitchFamily="34" charset="-120"/>
              </a:rPr>
              <a:t>4.  Agent Design, Orchestration &amp; Ops</a:t>
            </a:r>
            <a:endParaRPr lang="en-US" sz="1250"/>
          </a:p>
        </p:txBody>
      </p:sp>
      <p:sp>
        <p:nvSpPr>
          <p:cNvPr id="15" name="Shape 12"/>
          <p:cNvSpPr/>
          <p:nvPr/>
        </p:nvSpPr>
        <p:spPr>
          <a:xfrm>
            <a:off x="7543800" y="2697480"/>
            <a:ext cx="1143000" cy="384048"/>
          </a:xfrm>
          <a:prstGeom prst="roundRect">
            <a:avLst>
              <a:gd name="adj" fmla="val 9524"/>
            </a:avLst>
          </a:prstGeom>
          <a:solidFill>
            <a:srgbClr val="FFFFFF"/>
          </a:solidFill>
          <a:ln/>
        </p:spPr>
        <p:txBody>
          <a:bodyPr/>
          <a:lstStyle/>
          <a:p>
            <a:endParaRPr lang="en-US"/>
          </a:p>
        </p:txBody>
      </p:sp>
      <p:sp>
        <p:nvSpPr>
          <p:cNvPr id="16" name="Text 13"/>
          <p:cNvSpPr/>
          <p:nvPr/>
        </p:nvSpPr>
        <p:spPr>
          <a:xfrm>
            <a:off x="7543800" y="2697480"/>
            <a:ext cx="1143000" cy="384048"/>
          </a:xfrm>
          <a:prstGeom prst="rect">
            <a:avLst/>
          </a:prstGeom>
          <a:noFill/>
          <a:ln/>
        </p:spPr>
        <p:txBody>
          <a:bodyPr wrap="square" rtlCol="0" anchor="ctr"/>
          <a:lstStyle/>
          <a:p>
            <a:pPr marL="0" indent="0" algn="ctr">
              <a:buNone/>
            </a:pPr>
            <a:r>
              <a:rPr lang="en-US" sz="1100" b="1">
                <a:solidFill>
                  <a:srgbClr val="075056"/>
                </a:solidFill>
                <a:latin typeface="Arial" pitchFamily="34" charset="0"/>
                <a:ea typeface="Arial" pitchFamily="34" charset="-122"/>
                <a:cs typeface="Arial" pitchFamily="34" charset="-120"/>
              </a:rPr>
              <a:t>____ / 30</a:t>
            </a:r>
            <a:endParaRPr lang="en-US" sz="1100"/>
          </a:p>
        </p:txBody>
      </p:sp>
      <p:sp>
        <p:nvSpPr>
          <p:cNvPr id="17" name="Text 14"/>
          <p:cNvSpPr/>
          <p:nvPr/>
        </p:nvSpPr>
        <p:spPr>
          <a:xfrm>
            <a:off x="457200" y="3154680"/>
            <a:ext cx="6858000" cy="384048"/>
          </a:xfrm>
          <a:prstGeom prst="rect">
            <a:avLst/>
          </a:prstGeom>
          <a:noFill/>
          <a:ln/>
        </p:spPr>
        <p:txBody>
          <a:bodyPr wrap="square" rtlCol="0" anchor="ctr"/>
          <a:lstStyle/>
          <a:p>
            <a:pPr marL="0" indent="0">
              <a:buNone/>
            </a:pPr>
            <a:r>
              <a:rPr lang="en-US" sz="1250">
                <a:solidFill>
                  <a:srgbClr val="FFFFFF"/>
                </a:solidFill>
                <a:latin typeface="Calibri" pitchFamily="34" charset="0"/>
                <a:ea typeface="Calibri" pitchFamily="34" charset="-122"/>
                <a:cs typeface="Calibri" pitchFamily="34" charset="-120"/>
              </a:rPr>
              <a:t>5.  AI Tool Integration &amp; Extensibility</a:t>
            </a:r>
            <a:endParaRPr lang="en-US" sz="1250"/>
          </a:p>
        </p:txBody>
      </p:sp>
      <p:sp>
        <p:nvSpPr>
          <p:cNvPr id="18" name="Shape 15"/>
          <p:cNvSpPr/>
          <p:nvPr/>
        </p:nvSpPr>
        <p:spPr>
          <a:xfrm>
            <a:off x="7543800" y="3154680"/>
            <a:ext cx="1143000" cy="384048"/>
          </a:xfrm>
          <a:prstGeom prst="roundRect">
            <a:avLst>
              <a:gd name="adj" fmla="val 9524"/>
            </a:avLst>
          </a:prstGeom>
          <a:solidFill>
            <a:srgbClr val="FFFFFF"/>
          </a:solidFill>
          <a:ln/>
        </p:spPr>
        <p:txBody>
          <a:bodyPr/>
          <a:lstStyle/>
          <a:p>
            <a:endParaRPr lang="en-US"/>
          </a:p>
        </p:txBody>
      </p:sp>
      <p:sp>
        <p:nvSpPr>
          <p:cNvPr id="19" name="Text 16"/>
          <p:cNvSpPr/>
          <p:nvPr/>
        </p:nvSpPr>
        <p:spPr>
          <a:xfrm>
            <a:off x="7543800" y="3154680"/>
            <a:ext cx="1143000" cy="384048"/>
          </a:xfrm>
          <a:prstGeom prst="rect">
            <a:avLst/>
          </a:prstGeom>
          <a:noFill/>
          <a:ln/>
        </p:spPr>
        <p:txBody>
          <a:bodyPr wrap="square" rtlCol="0" anchor="ctr"/>
          <a:lstStyle/>
          <a:p>
            <a:pPr marL="0" indent="0" algn="ctr">
              <a:buNone/>
            </a:pPr>
            <a:r>
              <a:rPr lang="en-US" sz="1100" b="1">
                <a:solidFill>
                  <a:srgbClr val="075056"/>
                </a:solidFill>
                <a:latin typeface="Arial" pitchFamily="34" charset="0"/>
                <a:ea typeface="Arial" pitchFamily="34" charset="-122"/>
                <a:cs typeface="Arial" pitchFamily="34" charset="-120"/>
              </a:rPr>
              <a:t>____ / 30</a:t>
            </a:r>
            <a:endParaRPr lang="en-US" sz="1100"/>
          </a:p>
        </p:txBody>
      </p:sp>
      <p:sp>
        <p:nvSpPr>
          <p:cNvPr id="20" name="Text 17"/>
          <p:cNvSpPr/>
          <p:nvPr/>
        </p:nvSpPr>
        <p:spPr>
          <a:xfrm>
            <a:off x="457200" y="3630168"/>
            <a:ext cx="5486400" cy="365760"/>
          </a:xfrm>
          <a:prstGeom prst="rect">
            <a:avLst/>
          </a:prstGeom>
          <a:noFill/>
          <a:ln/>
        </p:spPr>
        <p:txBody>
          <a:bodyPr wrap="square" rtlCol="0" anchor="ctr"/>
          <a:lstStyle/>
          <a:p>
            <a:pPr marL="0" indent="0">
              <a:buNone/>
            </a:pPr>
            <a:r>
              <a:rPr lang="en-US" sz="1500" b="1">
                <a:solidFill>
                  <a:srgbClr val="FFFFFF"/>
                </a:solidFill>
                <a:latin typeface="Arial" pitchFamily="34" charset="0"/>
                <a:ea typeface="Arial" pitchFamily="34" charset="-122"/>
                <a:cs typeface="Arial" pitchFamily="34" charset="-120"/>
              </a:rPr>
              <a:t>Validated total:  ____ / 150</a:t>
            </a:r>
            <a:r>
              <a:rPr lang="en-US" sz="1200">
                <a:solidFill>
                  <a:srgbClr val="71D8C5"/>
                </a:solidFill>
                <a:latin typeface="Arial" pitchFamily="34" charset="0"/>
                <a:ea typeface="Arial" pitchFamily="34" charset="-122"/>
                <a:cs typeface="Arial" pitchFamily="34" charset="-120"/>
              </a:rPr>
              <a:t>     Clear = 70+</a:t>
            </a:r>
            <a:endParaRPr lang="en-US" sz="1500"/>
          </a:p>
        </p:txBody>
      </p:sp>
      <p:sp>
        <p:nvSpPr>
          <p:cNvPr id="21" name="Shape 18"/>
          <p:cNvSpPr/>
          <p:nvPr/>
        </p:nvSpPr>
        <p:spPr>
          <a:xfrm>
            <a:off x="457200" y="4114800"/>
            <a:ext cx="2651760" cy="457200"/>
          </a:xfrm>
          <a:prstGeom prst="roundRect">
            <a:avLst>
              <a:gd name="adj" fmla="val 16000"/>
            </a:avLst>
          </a:prstGeom>
          <a:solidFill>
            <a:srgbClr val="FFFFFF"/>
          </a:solidFill>
          <a:ln w="25400">
            <a:solidFill>
              <a:srgbClr val="075056"/>
            </a:solidFill>
            <a:prstDash val="solid"/>
          </a:ln>
        </p:spPr>
        <p:txBody>
          <a:bodyPr/>
          <a:lstStyle/>
          <a:p>
            <a:endParaRPr lang="en-US"/>
          </a:p>
        </p:txBody>
      </p:sp>
      <p:sp>
        <p:nvSpPr>
          <p:cNvPr id="22" name="Text 19"/>
          <p:cNvSpPr/>
          <p:nvPr/>
        </p:nvSpPr>
        <p:spPr>
          <a:xfrm>
            <a:off x="457200" y="4114800"/>
            <a:ext cx="2651760" cy="457200"/>
          </a:xfrm>
          <a:prstGeom prst="rect">
            <a:avLst/>
          </a:prstGeom>
          <a:noFill/>
          <a:ln/>
        </p:spPr>
        <p:txBody>
          <a:bodyPr wrap="square" rtlCol="0" anchor="ctr"/>
          <a:lstStyle/>
          <a:p>
            <a:pPr marL="0" indent="0" algn="ctr">
              <a:buNone/>
            </a:pPr>
            <a:r>
              <a:rPr lang="en-US" sz="1200" b="1">
                <a:solidFill>
                  <a:srgbClr val="075056"/>
                </a:solidFill>
                <a:latin typeface="Arial" pitchFamily="34" charset="0"/>
                <a:ea typeface="Arial" pitchFamily="34" charset="-122"/>
                <a:cs typeface="Arial" pitchFamily="34" charset="-120"/>
              </a:rPr>
              <a:t>☐  Yes, Agree — certify</a:t>
            </a:r>
            <a:endParaRPr lang="en-US" sz="1200"/>
          </a:p>
        </p:txBody>
      </p:sp>
      <p:sp>
        <p:nvSpPr>
          <p:cNvPr id="23" name="Shape 20"/>
          <p:cNvSpPr/>
          <p:nvPr/>
        </p:nvSpPr>
        <p:spPr>
          <a:xfrm>
            <a:off x="3291840" y="4114800"/>
            <a:ext cx="2651760" cy="457200"/>
          </a:xfrm>
          <a:prstGeom prst="roundRect">
            <a:avLst>
              <a:gd name="adj" fmla="val 16000"/>
            </a:avLst>
          </a:prstGeom>
          <a:solidFill>
            <a:srgbClr val="FFFFFF"/>
          </a:solidFill>
          <a:ln w="25400">
            <a:solidFill>
              <a:srgbClr val="FE3A39"/>
            </a:solidFill>
            <a:prstDash val="solid"/>
          </a:ln>
        </p:spPr>
        <p:txBody>
          <a:bodyPr/>
          <a:lstStyle/>
          <a:p>
            <a:endParaRPr lang="en-US"/>
          </a:p>
        </p:txBody>
      </p:sp>
      <p:sp>
        <p:nvSpPr>
          <p:cNvPr id="24" name="Text 21"/>
          <p:cNvSpPr/>
          <p:nvPr/>
        </p:nvSpPr>
        <p:spPr>
          <a:xfrm>
            <a:off x="3291840" y="4114800"/>
            <a:ext cx="2651760" cy="457200"/>
          </a:xfrm>
          <a:prstGeom prst="rect">
            <a:avLst/>
          </a:prstGeom>
          <a:noFill/>
          <a:ln/>
        </p:spPr>
        <p:txBody>
          <a:bodyPr wrap="square" rtlCol="0" anchor="ctr"/>
          <a:lstStyle/>
          <a:p>
            <a:pPr marL="0" indent="0" algn="ctr">
              <a:buNone/>
            </a:pPr>
            <a:r>
              <a:rPr lang="en-US" sz="1200" b="1">
                <a:solidFill>
                  <a:srgbClr val="FE3A39"/>
                </a:solidFill>
                <a:latin typeface="Arial" pitchFamily="34" charset="0"/>
                <a:ea typeface="Arial" pitchFamily="34" charset="-122"/>
                <a:cs typeface="Arial" pitchFamily="34" charset="-120"/>
              </a:rPr>
              <a:t>☐  No, Do not certify</a:t>
            </a:r>
            <a:endParaRPr lang="en-US" sz="1200"/>
          </a:p>
        </p:txBody>
      </p:sp>
      <p:sp>
        <p:nvSpPr>
          <p:cNvPr id="25" name="Text 22"/>
          <p:cNvSpPr/>
          <p:nvPr/>
        </p:nvSpPr>
        <p:spPr>
          <a:xfrm>
            <a:off x="6126480" y="4178808"/>
            <a:ext cx="3017520" cy="365760"/>
          </a:xfrm>
          <a:prstGeom prst="rect">
            <a:avLst/>
          </a:prstGeom>
          <a:noFill/>
          <a:ln/>
        </p:spPr>
        <p:txBody>
          <a:bodyPr wrap="square" rtlCol="0" anchor="ctr"/>
          <a:lstStyle/>
          <a:p>
            <a:pPr marL="0" indent="0">
              <a:buNone/>
            </a:pPr>
            <a:r>
              <a:rPr lang="en-US" sz="1050" b="1">
                <a:solidFill>
                  <a:srgbClr val="FFFFFF"/>
                </a:solidFill>
                <a:latin typeface="Calibri" pitchFamily="34" charset="0"/>
                <a:ea typeface="Calibri" pitchFamily="34" charset="-122"/>
                <a:cs typeface="Calibri" pitchFamily="34" charset="-120"/>
              </a:rPr>
              <a:t>Validator signature: </a:t>
            </a:r>
            <a:r>
              <a:rPr lang="en-US" sz="1050">
                <a:solidFill>
                  <a:srgbClr val="FFFFFF"/>
                </a:solidFill>
                <a:latin typeface="Calibri" pitchFamily="34" charset="0"/>
                <a:ea typeface="Calibri" pitchFamily="34" charset="-122"/>
                <a:cs typeface="Calibri" pitchFamily="34" charset="-120"/>
              </a:rPr>
              <a:t>__________________     </a:t>
            </a:r>
            <a:r>
              <a:rPr lang="en-US" sz="1050" b="1">
                <a:solidFill>
                  <a:srgbClr val="FFFFFF"/>
                </a:solidFill>
                <a:latin typeface="Calibri" pitchFamily="34" charset="0"/>
                <a:ea typeface="Calibri" pitchFamily="34" charset="-122"/>
                <a:cs typeface="Calibri" pitchFamily="34" charset="-120"/>
              </a:rPr>
              <a:t>Date: </a:t>
            </a:r>
            <a:r>
              <a:rPr lang="en-US" sz="1050">
                <a:solidFill>
                  <a:srgbClr val="FFFFFF"/>
                </a:solidFill>
                <a:latin typeface="Calibri" pitchFamily="34" charset="0"/>
                <a:ea typeface="Calibri" pitchFamily="34" charset="-122"/>
                <a:cs typeface="Calibri" pitchFamily="34" charset="-120"/>
              </a:rPr>
              <a:t>________</a:t>
            </a:r>
            <a:endParaRPr lang="en-US" sz="1050"/>
          </a:p>
        </p:txBody>
      </p:sp>
      <p:sp>
        <p:nvSpPr>
          <p:cNvPr id="26" name="Text 23"/>
          <p:cNvSpPr/>
          <p:nvPr/>
        </p:nvSpPr>
        <p:spPr>
          <a:xfrm>
            <a:off x="457200" y="4754880"/>
            <a:ext cx="8229600" cy="274320"/>
          </a:xfrm>
          <a:prstGeom prst="rect">
            <a:avLst/>
          </a:prstGeom>
          <a:noFill/>
          <a:ln/>
        </p:spPr>
        <p:txBody>
          <a:bodyPr wrap="square" rtlCol="0" anchor="ctr"/>
          <a:lstStyle/>
          <a:p>
            <a:pPr marL="0" indent="0">
              <a:buNone/>
            </a:pPr>
            <a:r>
              <a:rPr lang="en-US" sz="950" i="1">
                <a:solidFill>
                  <a:srgbClr val="71D8C5"/>
                </a:solidFill>
                <a:latin typeface="Calibri" pitchFamily="34" charset="0"/>
                <a:ea typeface="Calibri" pitchFamily="34" charset="-122"/>
                <a:cs typeface="Calibri" pitchFamily="34" charset="-120"/>
              </a:rPr>
              <a:t>Certification is issued only on "Yes, Agree". A score ≥ 70 is a recommendation, not automatic certification.</a:t>
            </a:r>
            <a:endParaRPr lang="en-US" sz="95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178BDE5FBDD49645B4C97074EE65F842" ma:contentTypeVersion="12" ma:contentTypeDescription="Create a new document." ma:contentTypeScope="" ma:versionID="5312b329c996433ceb2b53c55abbd94c">
  <xsd:schema xmlns:xsd="http://www.w3.org/2001/XMLSchema" xmlns:xs="http://www.w3.org/2001/XMLSchema" xmlns:p="http://schemas.microsoft.com/office/2006/metadata/properties" xmlns:ns2="726f94d6-fa4c-4578-9923-387e8e08487a" xmlns:ns3="7a392144-d9c7-4700-81e3-5d9ccc7560d2" targetNamespace="http://schemas.microsoft.com/office/2006/metadata/properties" ma:root="true" ma:fieldsID="4c00a87271a249586203d6baa24a7578" ns2:_="" ns3:_="">
    <xsd:import namespace="726f94d6-fa4c-4578-9923-387e8e08487a"/>
    <xsd:import namespace="7a392144-d9c7-4700-81e3-5d9ccc7560d2"/>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MediaServiceGenerationTime" minOccurs="0"/>
                <xsd:element ref="ns2:MediaServiceEventHashCode" minOccurs="0"/>
                <xsd:element ref="ns2:MediaLengthInSeconds" minOccurs="0"/>
                <xsd:element ref="ns2:lcf76f155ced4ddcb4097134ff3c332f" minOccurs="0"/>
                <xsd:element ref="ns3:TaxCatchAll" minOccurs="0"/>
                <xsd:element ref="ns2:MediaServiceOCR" minOccurs="0"/>
                <xsd:element ref="ns2:Fecha_x002f_hor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26f94d6-fa4c-4578-9923-387e8e08487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LengthInSeconds" ma:index="14" nillable="true" ma:displayName="MediaLengthInSeconds" ma:hidden="true" ma:internalName="MediaLengthInSeconds" ma:readOnly="true">
      <xsd:simpleType>
        <xsd:restriction base="dms:Unknown"/>
      </xsd:simpleType>
    </xsd:element>
    <xsd:element name="lcf76f155ced4ddcb4097134ff3c332f" ma:index="16" nillable="true" ma:taxonomy="true" ma:internalName="lcf76f155ced4ddcb4097134ff3c332f" ma:taxonomyFieldName="MediaServiceImageTags" ma:displayName="Image Tags" ma:readOnly="false" ma:fieldId="{5cf76f15-5ced-4ddc-b409-7134ff3c332f}" ma:taxonomyMulti="true" ma:sspId="e398e266-1b5a-423d-aa71-fcb68a1b7551" ma:termSetId="09814cd3-568e-fe90-9814-8d621ff8fb84" ma:anchorId="fba54fb3-c3e1-fe81-a776-ca4b69148c4d" ma:open="true" ma:isKeyword="false">
      <xsd:complexType>
        <xsd:sequence>
          <xsd:element ref="pc:Terms" minOccurs="0" maxOccurs="1"/>
        </xsd:sequence>
      </xsd:complexType>
    </xsd:element>
    <xsd:element name="MediaServiceOCR" ma:index="18" nillable="true" ma:displayName="Extracted Text" ma:internalName="MediaServiceOCR" ma:readOnly="true">
      <xsd:simpleType>
        <xsd:restriction base="dms:Note">
          <xsd:maxLength value="255"/>
        </xsd:restriction>
      </xsd:simpleType>
    </xsd:element>
    <xsd:element name="Fecha_x002f_hora" ma:index="19" nillable="true" ma:displayName="Fecha/hora" ma:format="DateTime" ma:internalName="Fecha_x002f_hora">
      <xsd:simpleType>
        <xsd:restriction base="dms:DateTime"/>
      </xsd:simpleType>
    </xsd:element>
  </xsd:schema>
  <xsd:schema xmlns:xsd="http://www.w3.org/2001/XMLSchema" xmlns:xs="http://www.w3.org/2001/XMLSchema" xmlns:dms="http://schemas.microsoft.com/office/2006/documentManagement/types" xmlns:pc="http://schemas.microsoft.com/office/infopath/2007/PartnerControls" targetNamespace="7a392144-d9c7-4700-81e3-5d9ccc7560d2" elementFormDefault="qualified">
    <xsd:import namespace="http://schemas.microsoft.com/office/2006/documentManagement/types"/>
    <xsd:import namespace="http://schemas.microsoft.com/office/infopath/2007/PartnerControls"/>
    <xsd:element name="TaxCatchAll" ma:index="17" nillable="true" ma:displayName="Taxonomy Catch All Column" ma:hidden="true" ma:list="{a24c2efa-4133-4b24-8c74-08d4563e1292}" ma:internalName="TaxCatchAll" ma:showField="CatchAllData" ma:web="7a392144-d9c7-4700-81e3-5d9ccc7560d2">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726f94d6-fa4c-4578-9923-387e8e08487a">
      <Terms xmlns="http://schemas.microsoft.com/office/infopath/2007/PartnerControls"/>
    </lcf76f155ced4ddcb4097134ff3c332f>
    <TaxCatchAll xmlns="7a392144-d9c7-4700-81e3-5d9ccc7560d2" xsi:nil="true"/>
    <Fecha_x002f_hora xmlns="726f94d6-fa4c-4578-9923-387e8e08487a" xsi:nil="true"/>
  </documentManagement>
</p:properties>
</file>

<file path=customXml/itemProps1.xml><?xml version="1.0" encoding="utf-8"?>
<ds:datastoreItem xmlns:ds="http://schemas.openxmlformats.org/officeDocument/2006/customXml" ds:itemID="{D68DD810-7AED-43B6-BB17-F254283372F2}">
  <ds:schemaRefs>
    <ds:schemaRef ds:uri="http://schemas.microsoft.com/sharepoint/v3/contenttype/forms"/>
  </ds:schemaRefs>
</ds:datastoreItem>
</file>

<file path=customXml/itemProps2.xml><?xml version="1.0" encoding="utf-8"?>
<ds:datastoreItem xmlns:ds="http://schemas.openxmlformats.org/officeDocument/2006/customXml" ds:itemID="{22674E81-17EB-43AD-A4DC-3DD0F2DF9E2A}">
  <ds:schemaRefs>
    <ds:schemaRef ds:uri="726f94d6-fa4c-4578-9923-387e8e08487a"/>
    <ds:schemaRef ds:uri="7a392144-d9c7-4700-81e3-5d9ccc7560d2"/>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6C7FDC5A-70C0-4588-82CA-E8B6F6B3A12D}">
  <ds:schemaRefs>
    <ds:schemaRef ds:uri="http://schemas.openxmlformats.org/package/2006/metadata/core-properties"/>
    <ds:schemaRef ds:uri="http://schemas.microsoft.com/office/2006/metadata/properties"/>
    <ds:schemaRef ds:uri="http://purl.org/dc/terms/"/>
    <ds:schemaRef ds:uri="http://purl.org/dc/dcmitype/"/>
    <ds:schemaRef ds:uri="http://purl.org/dc/elements/1.1/"/>
    <ds:schemaRef ds:uri="http://www.w3.org/XML/1998/namespace"/>
    <ds:schemaRef ds:uri="http://schemas.microsoft.com/office/2006/documentManagement/types"/>
    <ds:schemaRef ds:uri="http://schemas.microsoft.com/office/infopath/2007/PartnerControls"/>
    <ds:schemaRef ds:uri="7a392144-d9c7-4700-81e3-5d9ccc7560d2"/>
    <ds:schemaRef ds:uri="726f94d6-fa4c-4578-9923-387e8e08487a"/>
  </ds:schemaRefs>
</ds:datastoreItem>
</file>

<file path=docProps/app.xml><?xml version="1.0" encoding="utf-8"?>
<Properties xmlns="http://schemas.openxmlformats.org/officeDocument/2006/extended-properties" xmlns:vt="http://schemas.openxmlformats.org/officeDocument/2006/docPropsVTypes">
  <TotalTime>68</TotalTime>
  <Words>1695</Words>
  <Application>Microsoft Office PowerPoint</Application>
  <PresentationFormat>On-screen Show (16:9)</PresentationFormat>
  <Paragraphs>222</Paragraphs>
  <Slides>16</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Julian Largo Ramirez</cp:lastModifiedBy>
  <cp:revision>7</cp:revision>
  <dcterms:created xsi:type="dcterms:W3CDTF">2026-07-11T21:26:25Z</dcterms:created>
  <dcterms:modified xsi:type="dcterms:W3CDTF">2026-08-14T20:45:39Z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0x010100178BDE5FBDD49645B4C97074EE65F842</vt:lpwstr>
  </property>
  <property fmtid="{D5CDD505-2E9C-101B-9397-08002B2CF9AE}" pid="3" name="MediaServiceImageTags">
    <vt:lpwstr/>
  </property>
</Properties>
</file>