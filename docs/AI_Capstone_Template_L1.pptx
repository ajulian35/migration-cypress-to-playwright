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3EFF4-A06C-F3B8-2397-3167CE419EA2}" v="82" dt="2026-08-05T17:15:17.733"/>
    <p1510:client id="{F3C724E1-2ADA-F245-7F8D-3629A41DE867}" v="58" dt="2026-08-05T17:12:31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0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1737360" cy="3999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endParaRPr lang="en-US" sz="440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AI Augmented SDLC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Submission Template — Option 1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1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— Customer Project Showcase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484632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Internal Platform Contribution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Name: _______________   Validator:  ______________________ Date: __________________</a:t>
            </a:r>
            <a:endParaRPr lang="en-US" sz="13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Perficient Global AI First Academy</a:t>
            </a:r>
            <a:endParaRPr lang="en-US" sz="10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C9D93B8-1749-2345-294B-BBB2E82FACDD}"/>
              </a:ext>
            </a:extLst>
          </p:cNvPr>
          <p:cNvSpPr/>
          <p:nvPr/>
        </p:nvSpPr>
        <p:spPr>
          <a:xfrm>
            <a:off x="4575778" y="3296563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1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BAB99C4-E5EB-A1F0-794B-3F93119DEDFE}"/>
              </a:ext>
            </a:extLst>
          </p:cNvPr>
          <p:cNvSpPr/>
          <p:nvPr/>
        </p:nvSpPr>
        <p:spPr>
          <a:xfrm>
            <a:off x="4667218" y="3296563"/>
            <a:ext cx="37490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075056"/>
                </a:solidFill>
                <a:latin typeface="Calibri"/>
                <a:ea typeface="Calibri"/>
                <a:cs typeface="Calibri"/>
              </a:rPr>
              <a:t>Option 2 — Platform Contribution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91440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option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Option 1 (client work) or Option 2 (platform contribution). Fill every slide; delete instruction notes.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457200" y="1709928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709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914400" y="16642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at least 3 of 5 competencies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has 5 topics. Demonstrate a minimum of 3 with real evidence.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457200" y="2276856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276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914400" y="22311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impact &amp; reusability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before/after and show whether others can reuse your work.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457200" y="2843784"/>
            <a:ext cx="310896" cy="310896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843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914400" y="279806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 honestly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0–30 on the Self-Rating slide. Attach evidence for every claim.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457200" y="3410712"/>
            <a:ext cx="310896" cy="310896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914400" y="33649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your validator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named validator scores and signs off: Agree or Do not certify.</a:t>
            </a:r>
            <a:endParaRPr lang="en-US" sz="1300"/>
          </a:p>
        </p:txBody>
      </p:sp>
      <p:sp>
        <p:nvSpPr>
          <p:cNvPr id="19" name="Shape 16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to clear:  70 / 150 minimum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 5 topics × 30 max each  •  minimum 3 topics demonstrated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Project Overview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 — Customer Project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client &amp; engagement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AI solution · outcomes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business impact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0060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 — Platform Contribution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470916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contributed to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470916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1888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70916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innovation contributed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70916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1888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470916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Org-scale AI capability impact</a:t>
            </a:r>
            <a:endParaRPr lang="en-US" sz="1200"/>
          </a:p>
        </p:txBody>
      </p:sp>
      <p:sp>
        <p:nvSpPr>
          <p:cNvPr id="24" name="Shape 21"/>
          <p:cNvSpPr/>
          <p:nvPr/>
        </p:nvSpPr>
        <p:spPr>
          <a:xfrm>
            <a:off x="470916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1888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only the column for your option.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AI Approach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one sentence: the repeatable outcome you wanted AI to deliver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e.g., "Turn a legacy migration ticket into a reviewed, tested PR in one session." ]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4241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241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51206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53035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12" name="Shape 9"/>
          <p:cNvSpPr/>
          <p:nvPr/>
        </p:nvSpPr>
        <p:spPr>
          <a:xfrm>
            <a:off x="214884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3405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3405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220370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16" name="Text 13"/>
          <p:cNvSpPr/>
          <p:nvPr/>
        </p:nvSpPr>
        <p:spPr>
          <a:xfrm>
            <a:off x="222199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384048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42569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42569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389534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391363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22" name="Shape 19"/>
          <p:cNvSpPr/>
          <p:nvPr/>
        </p:nvSpPr>
        <p:spPr>
          <a:xfrm>
            <a:off x="553212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1733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1733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558698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560527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27" name="Shape 24"/>
          <p:cNvSpPr/>
          <p:nvPr/>
        </p:nvSpPr>
        <p:spPr>
          <a:xfrm>
            <a:off x="7223760" y="2057400"/>
            <a:ext cx="1572768" cy="2194560"/>
          </a:xfrm>
          <a:prstGeom prst="roundRect">
            <a:avLst>
              <a:gd name="adj" fmla="val 348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808976" y="2194560"/>
            <a:ext cx="402336" cy="40233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08976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30" name="Text 27"/>
          <p:cNvSpPr/>
          <p:nvPr/>
        </p:nvSpPr>
        <p:spPr>
          <a:xfrm>
            <a:off x="7278624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Phase</a:t>
            </a:r>
            <a:endParaRPr lang="en-US" sz="1100"/>
          </a:p>
        </p:txBody>
      </p:sp>
      <p:sp>
        <p:nvSpPr>
          <p:cNvPr id="31" name="Text 28"/>
          <p:cNvSpPr/>
          <p:nvPr/>
        </p:nvSpPr>
        <p:spPr>
          <a:xfrm>
            <a:off x="7296912" y="301752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 + which AI tool / prompt you used</a:t>
            </a:r>
            <a:endParaRPr lang="en-US" sz="950"/>
          </a:p>
        </p:txBody>
      </p:sp>
      <p:sp>
        <p:nvSpPr>
          <p:cNvPr id="32" name="Text 2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steps to match your actual workflow.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After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5A6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The Manual Way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manual process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(hrs / min)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&amp; error risks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 that occurred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The AI-Assisted Way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480060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steps / prompts used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refined the output (rounds)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accuracy (e.g. ~90%)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with AI — compare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screenshot of your AI output on this slide.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Impact Scorecard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697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1 — time / run]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hours]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minutes]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 time saved]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2 — time / run]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hours]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minutes]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 time saved]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[Quality / error rate]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[old level]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[new level]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[improvement]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[how often]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[same / changed]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[change]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 benefit]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[# team members]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[hrs saved / month]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66928" y="39776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[ 1–2 sentences: overall time saved, quality gain, and team benefit — be specific with numbers. ]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&amp; Scale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reusable?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others can pick up — a prompt library, skill, MCP server, template, or pattern.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adopt it?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teams, accounts, or roles could use this as-is or with small changes?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109728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package?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64008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README, repo link, or demo that lets someone else run it.</a:t>
            </a:r>
            <a:endParaRPr lang="en-US" sz="1150"/>
          </a:p>
        </p:txBody>
      </p:sp>
      <p:sp>
        <p:nvSpPr>
          <p:cNvPr id="19" name="Shape 16"/>
          <p:cNvSpPr/>
          <p:nvPr/>
        </p:nvSpPr>
        <p:spPr>
          <a:xfrm>
            <a:off x="470916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4632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53492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Org-scale potential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489204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adopted widely, what changes — hours saved, risk reduced, capability unlocked?</a:t>
            </a:r>
            <a:endParaRPr lang="en-US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 &amp; What It Got Wrong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463040"/>
            <a:ext cx="411480" cy="41148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188720" y="16002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it handled well — cite a real example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strength from your actual work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457200" y="2350008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2670048"/>
            <a:ext cx="411480" cy="411480"/>
          </a:xfrm>
          <a:prstGeom prst="ellipse">
            <a:avLst/>
          </a:prstGeom>
          <a:solidFill>
            <a:srgbClr val="FE3A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88720" y="2441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WRONG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1188720" y="280720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failure or limitation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triggered it — prompt, data, or tool limit?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457200" y="3557016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" y="3877056"/>
            <a:ext cx="411480" cy="411480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88720" y="3648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corrected manually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1188720" y="401421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human judgement was required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your critical thinking — be honest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Artifacts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attachments — the proof behind every claim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 link(s) / merged commits</a:t>
            </a:r>
            <a:endParaRPr lang="en-US" sz="1150"/>
          </a:p>
        </p:txBody>
      </p:sp>
      <p:sp>
        <p:nvSpPr>
          <p:cNvPr id="6" name="Shape 3"/>
          <p:cNvSpPr/>
          <p:nvPr/>
        </p:nvSpPr>
        <p:spPr>
          <a:xfrm>
            <a:off x="242316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3288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7091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Design docs / demo recording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67512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8484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log / agent transcript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242316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3288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7091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Screenshots on the slides above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667512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8484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Validator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→ client PM / Account Lead   ·   Option 2 → Platform Leader / Owner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— 5 Topics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scored 0–30. Demonstrate at least 3. Clear at 70 / 150.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 topic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earns top marks (25–30)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→ Plan → Tasks → Implement drove the work; specs written before code.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files, skills, and curated references deliberately shaped AI output.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 Review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AI output for intent, tests, security, performance, maintainability; caught &amp; fixed errors.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Pipeline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load → chunk → embed → store → query over your own docs or codebase.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+ AI Automation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 working AI-in-the-loop n8n workflow that automates a real recurring task.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71D8C5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  25–30</a:t>
            </a:r>
            <a:endParaRPr lang="en-US" sz="1000"/>
          </a:p>
        </p:txBody>
      </p:sp>
      <p:sp>
        <p:nvSpPr>
          <p:cNvPr id="8" name="Shape 4"/>
          <p:cNvSpPr/>
          <p:nvPr/>
        </p:nvSpPr>
        <p:spPr>
          <a:xfrm>
            <a:off x="2532888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C5DCEE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32888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 18–24</a:t>
            </a:r>
            <a:endParaRPr lang="en-US" sz="1000"/>
          </a:p>
        </p:txBody>
      </p:sp>
      <p:sp>
        <p:nvSpPr>
          <p:cNvPr id="10" name="Shape 6"/>
          <p:cNvSpPr/>
          <p:nvPr/>
        </p:nvSpPr>
        <p:spPr>
          <a:xfrm>
            <a:off x="4608576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DFE7ED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4608576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 10–17</a:t>
            </a:r>
            <a:endParaRPr lang="en-US" sz="1000"/>
          </a:p>
        </p:txBody>
      </p:sp>
      <p:sp>
        <p:nvSpPr>
          <p:cNvPr id="12" name="Shape 8"/>
          <p:cNvSpPr/>
          <p:nvPr/>
        </p:nvSpPr>
        <p:spPr>
          <a:xfrm>
            <a:off x="6684264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684264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 0–9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Self-Rating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you demonstrated (0–30). Leave blank if not used (min 3 required).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7" name="Shape 4"/>
          <p:cNvSpPr/>
          <p:nvPr/>
        </p:nvSpPr>
        <p:spPr>
          <a:xfrm>
            <a:off x="7543800" y="128016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43800" y="12801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8105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Context Engineering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7543800" y="1810512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43800" y="18105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2340864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234086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Output Review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340864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3408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457200" y="2871216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287121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RAG Pipeline</a:t>
            </a:r>
            <a:endParaRPr lang="en-US" sz="1250"/>
          </a:p>
        </p:txBody>
      </p:sp>
      <p:sp>
        <p:nvSpPr>
          <p:cNvPr id="19" name="Shape 16"/>
          <p:cNvSpPr/>
          <p:nvPr/>
        </p:nvSpPr>
        <p:spPr>
          <a:xfrm>
            <a:off x="7543800" y="287121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43800" y="2871216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57200" y="3401568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401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n8n + AI Automation</a:t>
            </a:r>
            <a:endParaRPr lang="en-US" sz="1250"/>
          </a:p>
        </p:txBody>
      </p:sp>
      <p:sp>
        <p:nvSpPr>
          <p:cNvPr id="23" name="Shape 20"/>
          <p:cNvSpPr/>
          <p:nvPr/>
        </p:nvSpPr>
        <p:spPr>
          <a:xfrm>
            <a:off x="7543800" y="340156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43800" y="340156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total:  ____ / 150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Clear = 70+     (I demonstrated ____ of 5 topics)</a:t>
            </a: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Key Takeaway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these sentences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this program, I thought AI was …"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2024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I know it is …"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biggest learning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88036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using AI at work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/10        </a:t>
            </a:r>
            <a:r>
              <a:rPr lang="en-US" sz="13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/10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4709160" y="3520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tip for the next cohort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4709160" y="379476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18888" y="379476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Perficient Global AI First Academy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Validation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use only</a:t>
            </a:r>
            <a:endParaRPr lang="en-US" sz="13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5760"/>
            <a:ext cx="1097280" cy="2526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6" name="Shape 3"/>
          <p:cNvSpPr/>
          <p:nvPr/>
        </p:nvSpPr>
        <p:spPr>
          <a:xfrm>
            <a:off x="7543800" y="13258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43800" y="13258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Context Engineering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7543800" y="17830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43800" y="17830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Output Review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7543800" y="22402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543800" y="22402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RAG Pipeline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6974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697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31546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n8n + AI Automation</a:t>
            </a:r>
            <a:endParaRPr lang="en-US" sz="1250"/>
          </a:p>
        </p:txBody>
      </p:sp>
      <p:sp>
        <p:nvSpPr>
          <p:cNvPr id="18" name="Shape 15"/>
          <p:cNvSpPr/>
          <p:nvPr/>
        </p:nvSpPr>
        <p:spPr>
          <a:xfrm>
            <a:off x="7543800" y="31546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43800" y="31546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57200" y="3630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total:  ____ / 150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Clear = 70+</a:t>
            </a:r>
            <a:endParaRPr lang="en-US" sz="150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Yes, Agree — certify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329184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E3A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9184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No, Do not certify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6126480" y="4178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signature: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    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 issued only on "Yes, Agree". A score ≥ 70 is a recommendation, not automatic certification.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6f94d6-fa4c-4578-9923-387e8e08487a">
      <Terms xmlns="http://schemas.microsoft.com/office/infopath/2007/PartnerControls"/>
    </lcf76f155ced4ddcb4097134ff3c332f>
    <TaxCatchAll xmlns="7a392144-d9c7-4700-81e3-5d9ccc7560d2" xsi:nil="true"/>
    <Fecha_x002f_hora xmlns="726f94d6-fa4c-4578-9923-387e8e08487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8BDE5FBDD49645B4C97074EE65F842" ma:contentTypeVersion="12" ma:contentTypeDescription="Create a new document." ma:contentTypeScope="" ma:versionID="5312b329c996433ceb2b53c55abbd94c">
  <xsd:schema xmlns:xsd="http://www.w3.org/2001/XMLSchema" xmlns:xs="http://www.w3.org/2001/XMLSchema" xmlns:p="http://schemas.microsoft.com/office/2006/metadata/properties" xmlns:ns2="726f94d6-fa4c-4578-9923-387e8e08487a" xmlns:ns3="7a392144-d9c7-4700-81e3-5d9ccc7560d2" targetNamespace="http://schemas.microsoft.com/office/2006/metadata/properties" ma:root="true" ma:fieldsID="4c00a87271a249586203d6baa24a7578" ns2:_="" ns3:_="">
    <xsd:import namespace="726f94d6-fa4c-4578-9923-387e8e08487a"/>
    <xsd:import namespace="7a392144-d9c7-4700-81e3-5d9ccc7560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echa_x002f_hor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f94d6-fa4c-4578-9923-387e8e084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98e266-1b5a-423d-aa71-fcb68a1b75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echa_x002f_hora" ma:index="19" nillable="true" ma:displayName="Fecha/hora" ma:format="DateTime" ma:internalName="Fecha_x002f_hor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392144-d9c7-4700-81e3-5d9ccc7560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4c2efa-4133-4b24-8c74-08d4563e1292}" ma:internalName="TaxCatchAll" ma:showField="CatchAllData" ma:web="7a392144-d9c7-4700-81e3-5d9ccc7560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7A92AA-1CF0-49A4-8A87-FC411546C1DB}">
  <ds:schemaRefs>
    <ds:schemaRef ds:uri="726f94d6-fa4c-4578-9923-387e8e08487a"/>
    <ds:schemaRef ds:uri="7a392144-d9c7-4700-81e3-5d9ccc7560d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1A7F19F-5EB7-4455-AD3C-F761A42CB93A}">
  <ds:schemaRefs>
    <ds:schemaRef ds:uri="726f94d6-fa4c-4578-9923-387e8e08487a"/>
    <ds:schemaRef ds:uri="7a392144-d9c7-4700-81e3-5d9ccc7560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1DFD20-BF42-41D7-A8D9-80A8CEA4EF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2026-07-11T21:26:24Z</dcterms:created>
  <dcterms:modified xsi:type="dcterms:W3CDTF">2026-08-06T02:10:58Z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0x010100178BDE5FBDD49645B4C97074EE65F842</vt:lpwstr>
  </property>
  <property fmtid="{D5CDD505-2E9C-101B-9397-08002B2CF9AE}" pid="3" name="MediaServiceImageTags">
    <vt:lpwstr/>
  </property>
</Properties>
</file>