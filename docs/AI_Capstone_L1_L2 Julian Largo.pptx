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256" r:id="rId5"/>
    <p:sldId id="257" r:id="rId6"/>
    <p:sldId id="258" r:id="rId7"/>
    <p:sldId id="259" r:id="rId8"/>
    <p:sldId id="260" r:id="rId9"/>
    <p:sldId id="261" r:id="rId10"/>
    <p:sldId id="262" r:id="rId11"/>
    <p:sldId id="263" r:id="rId12"/>
    <p:sldId id="264" r:id="rId13"/>
    <p:sldId id="265" r:id="rId14"/>
    <p:sldId id="266" r:id="rId15"/>
    <p:sldId id="268" r:id="rId16"/>
    <p:sldId id="267"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39CCA2-577E-A745-E359-6094FDB240F6}" v="1" dt="2026-08-07T12:53:32.035"/>
    <p1510:client id="{7B561C1C-B3A3-4D72-8E93-4EC69A990432}" v="1" dt="2026-08-07T12:50:15.5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3" d="100"/>
          <a:sy n="133" d="100"/>
        </p:scale>
        <p:origin x="37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0601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HIT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505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411480"/>
            <a:ext cx="1737360" cy="399979"/>
          </a:xfrm>
          <a:prstGeom prst="rect">
            <a:avLst/>
          </a:prstGeom>
        </p:spPr>
      </p:pic>
      <p:sp>
        <p:nvSpPr>
          <p:cNvPr id="3" name="Text 0"/>
          <p:cNvSpPr/>
          <p:nvPr/>
        </p:nvSpPr>
        <p:spPr>
          <a:xfrm>
            <a:off x="457200" y="1417320"/>
            <a:ext cx="8229600" cy="822960"/>
          </a:xfrm>
          <a:prstGeom prst="rect">
            <a:avLst/>
          </a:prstGeom>
          <a:noFill/>
          <a:ln/>
        </p:spPr>
        <p:txBody>
          <a:bodyPr wrap="square" rtlCol="0" anchor="ctr"/>
          <a:lstStyle/>
          <a:p>
            <a:pPr marL="0" indent="0">
              <a:buNone/>
            </a:pPr>
            <a:r>
              <a:rPr lang="en-US" sz="4400" b="1" kern="0" spc="200">
                <a:solidFill>
                  <a:srgbClr val="FFFFFF"/>
                </a:solidFill>
                <a:latin typeface="Arial" pitchFamily="34" charset="0"/>
                <a:ea typeface="Arial" pitchFamily="34" charset="-122"/>
                <a:cs typeface="Arial" pitchFamily="34" charset="-120"/>
              </a:rPr>
              <a:t>CAPSTONE PROJECT</a:t>
            </a:r>
            <a:endParaRPr lang="en-US" sz="4400"/>
          </a:p>
        </p:txBody>
      </p:sp>
      <p:sp>
        <p:nvSpPr>
          <p:cNvPr id="4" name="Text 1"/>
          <p:cNvSpPr/>
          <p:nvPr/>
        </p:nvSpPr>
        <p:spPr>
          <a:xfrm>
            <a:off x="457200" y="2286000"/>
            <a:ext cx="8229600" cy="457200"/>
          </a:xfrm>
          <a:prstGeom prst="rect">
            <a:avLst/>
          </a:prstGeom>
          <a:noFill/>
          <a:ln/>
        </p:spPr>
        <p:txBody>
          <a:bodyPr wrap="square" rtlCol="0" anchor="ctr"/>
          <a:lstStyle/>
          <a:p>
            <a:pPr marL="0" indent="0">
              <a:buNone/>
            </a:pPr>
            <a:r>
              <a:rPr lang="en-US" sz="2200" b="1">
                <a:solidFill>
                  <a:srgbClr val="71D8C5"/>
                </a:solidFill>
                <a:latin typeface="Arial" pitchFamily="34" charset="0"/>
                <a:ea typeface="Arial" pitchFamily="34" charset="-122"/>
                <a:cs typeface="Arial" pitchFamily="34" charset="-120"/>
              </a:rPr>
              <a:t>L1 — AI Augmented SDLC</a:t>
            </a:r>
            <a:endParaRPr lang="en-US" sz="2200"/>
          </a:p>
        </p:txBody>
      </p:sp>
      <p:sp>
        <p:nvSpPr>
          <p:cNvPr id="5" name="Text 2"/>
          <p:cNvSpPr/>
          <p:nvPr/>
        </p:nvSpPr>
        <p:spPr>
          <a:xfrm>
            <a:off x="457200" y="2743200"/>
            <a:ext cx="8229600" cy="320040"/>
          </a:xfrm>
          <a:prstGeom prst="rect">
            <a:avLst/>
          </a:prstGeom>
          <a:noFill/>
          <a:ln/>
        </p:spPr>
        <p:txBody>
          <a:bodyPr wrap="square" lIns="91440" tIns="45720" rIns="91440" bIns="45720" rtlCol="0" anchor="ctr"/>
          <a:lstStyle/>
          <a:p>
            <a:r>
              <a:rPr lang="en-US" sz="1400" i="1" dirty="0">
                <a:solidFill>
                  <a:srgbClr val="FFFFFF"/>
                </a:solidFill>
                <a:latin typeface="Calibri"/>
                <a:ea typeface="Calibri"/>
                <a:cs typeface="Calibri"/>
              </a:rPr>
              <a:t>Submission - Option 1:</a:t>
            </a:r>
            <a:r>
              <a:rPr lang="en-US" sz="1400" b="1" dirty="0">
                <a:solidFill>
                  <a:srgbClr val="FFFFFF"/>
                </a:solidFill>
                <a:latin typeface="Arial" pitchFamily="34" charset="0"/>
                <a:ea typeface="Arial" pitchFamily="34" charset="-122"/>
                <a:cs typeface="Arial" pitchFamily="34" charset="-120"/>
              </a:rPr>
              <a:t> Customer Project</a:t>
            </a:r>
            <a:endParaRPr lang="en-US" sz="1400" dirty="0"/>
          </a:p>
        </p:txBody>
      </p:sp>
      <p:sp>
        <p:nvSpPr>
          <p:cNvPr id="6" name="Shape 3"/>
          <p:cNvSpPr/>
          <p:nvPr/>
        </p:nvSpPr>
        <p:spPr>
          <a:xfrm>
            <a:off x="457200" y="3291840"/>
            <a:ext cx="3931920" cy="502920"/>
          </a:xfrm>
          <a:prstGeom prst="roundRect">
            <a:avLst>
              <a:gd name="adj" fmla="val 14545"/>
            </a:avLst>
          </a:prstGeom>
          <a:solidFill>
            <a:srgbClr val="FFFFFF"/>
          </a:solidFill>
          <a:ln w="19050">
            <a:solidFill>
              <a:srgbClr val="71D8C5"/>
            </a:solidFill>
            <a:prstDash val="solid"/>
          </a:ln>
        </p:spPr>
        <p:txBody>
          <a:bodyPr/>
          <a:lstStyle/>
          <a:p>
            <a:endParaRPr lang="en-US"/>
          </a:p>
        </p:txBody>
      </p:sp>
      <p:sp>
        <p:nvSpPr>
          <p:cNvPr id="7" name="Text 4"/>
          <p:cNvSpPr/>
          <p:nvPr/>
        </p:nvSpPr>
        <p:spPr>
          <a:xfrm>
            <a:off x="548640" y="3291840"/>
            <a:ext cx="3749040" cy="502920"/>
          </a:xfrm>
          <a:prstGeom prst="rect">
            <a:avLst/>
          </a:prstGeom>
          <a:noFill/>
          <a:ln/>
        </p:spPr>
        <p:txBody>
          <a:bodyPr wrap="square" rtlCol="0" anchor="ctr"/>
          <a:lstStyle/>
          <a:p>
            <a:pPr algn="ctr"/>
            <a:r>
              <a:rPr lang="en-US" sz="1200" b="1" dirty="0">
                <a:solidFill>
                  <a:srgbClr val="075056"/>
                </a:solidFill>
                <a:latin typeface="Calibri" pitchFamily="34" charset="0"/>
                <a:ea typeface="Calibri" pitchFamily="34" charset="-122"/>
                <a:cs typeface="Calibri" pitchFamily="34" charset="-120"/>
              </a:rPr>
              <a:t>Option 1 — Customer Project</a:t>
            </a:r>
          </a:p>
        </p:txBody>
      </p:sp>
      <p:sp>
        <p:nvSpPr>
          <p:cNvPr id="9" name="Text 6"/>
          <p:cNvSpPr/>
          <p:nvPr/>
        </p:nvSpPr>
        <p:spPr>
          <a:xfrm>
            <a:off x="4846320" y="3291840"/>
            <a:ext cx="3749040" cy="502920"/>
          </a:xfrm>
          <a:prstGeom prst="rect">
            <a:avLst/>
          </a:prstGeom>
          <a:noFill/>
          <a:ln/>
        </p:spPr>
        <p:txBody>
          <a:bodyPr wrap="square" rtlCol="0" anchor="ctr"/>
          <a:lstStyle/>
          <a:p>
            <a:pPr marL="0" indent="0" algn="ctr">
              <a:buNone/>
            </a:pPr>
            <a:r>
              <a:rPr lang="en-US" sz="1200" b="1">
                <a:solidFill>
                  <a:srgbClr val="075056"/>
                </a:solidFill>
                <a:latin typeface="Calibri" pitchFamily="34" charset="0"/>
                <a:ea typeface="Calibri" pitchFamily="34" charset="-122"/>
                <a:cs typeface="Calibri" pitchFamily="34" charset="-120"/>
              </a:rPr>
              <a:t>Option 2 — Internal Platform Contribution</a:t>
            </a:r>
            <a:endParaRPr lang="en-US" sz="1200"/>
          </a:p>
        </p:txBody>
      </p:sp>
      <p:sp>
        <p:nvSpPr>
          <p:cNvPr id="11" name="Text 8"/>
          <p:cNvSpPr/>
          <p:nvPr/>
        </p:nvSpPr>
        <p:spPr>
          <a:xfrm>
            <a:off x="457200" y="4343400"/>
            <a:ext cx="8229600" cy="365760"/>
          </a:xfrm>
          <a:prstGeom prst="rect">
            <a:avLst/>
          </a:prstGeom>
          <a:noFill/>
          <a:ln/>
        </p:spPr>
        <p:txBody>
          <a:bodyPr wrap="square" lIns="91440" tIns="45720" rIns="91440" bIns="45720" rtlCol="0" anchor="ctr"/>
          <a:lstStyle/>
          <a:p>
            <a:r>
              <a:rPr lang="en-US" sz="1300" b="1" dirty="0">
                <a:solidFill>
                  <a:srgbClr val="FFFFFF"/>
                </a:solidFill>
                <a:ea typeface="Calibri"/>
                <a:cs typeface="Calibri"/>
              </a:rPr>
              <a:t>Name: Julian Largo Ramirez                    Date: 2026-08-10</a:t>
            </a:r>
            <a:endParaRPr lang="en-US" sz="1300" dirty="0">
              <a:ea typeface="Calibri"/>
              <a:cs typeface="Calibri"/>
            </a:endParaRPr>
          </a:p>
        </p:txBody>
      </p:sp>
      <p:sp>
        <p:nvSpPr>
          <p:cNvPr id="12" name="Text 9"/>
          <p:cNvSpPr/>
          <p:nvPr/>
        </p:nvSpPr>
        <p:spPr>
          <a:xfrm>
            <a:off x="457200" y="4709160"/>
            <a:ext cx="8229600" cy="274320"/>
          </a:xfrm>
          <a:prstGeom prst="rect">
            <a:avLst/>
          </a:prstGeom>
          <a:noFill/>
          <a:ln/>
        </p:spPr>
        <p:txBody>
          <a:bodyPr wrap="square" rtlCol="0" anchor="ctr"/>
          <a:lstStyle/>
          <a:p>
            <a:pPr marL="0" indent="0">
              <a:buNone/>
            </a:pPr>
            <a:r>
              <a:rPr lang="en-US" sz="1000">
                <a:solidFill>
                  <a:srgbClr val="71D8C5"/>
                </a:solidFill>
                <a:latin typeface="Calibri" pitchFamily="34" charset="0"/>
                <a:ea typeface="Calibri" pitchFamily="34" charset="-122"/>
                <a:cs typeface="Calibri" pitchFamily="34" charset="-120"/>
              </a:rPr>
              <a:t>Perficient Global AI First Academy</a:t>
            </a:r>
            <a:endParaRPr 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How to Use This Template</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Shape 1"/>
          <p:cNvSpPr/>
          <p:nvPr/>
        </p:nvSpPr>
        <p:spPr>
          <a:xfrm>
            <a:off x="457200" y="1143000"/>
            <a:ext cx="310896" cy="310896"/>
          </a:xfrm>
          <a:prstGeom prst="ellipse">
            <a:avLst/>
          </a:prstGeom>
          <a:solidFill>
            <a:srgbClr val="075056"/>
          </a:solidFill>
          <a:ln/>
        </p:spPr>
        <p:txBody>
          <a:bodyPr/>
          <a:lstStyle/>
          <a:p>
            <a:endParaRPr lang="en-US"/>
          </a:p>
        </p:txBody>
      </p:sp>
      <p:sp>
        <p:nvSpPr>
          <p:cNvPr id="5" name="Text 2"/>
          <p:cNvSpPr/>
          <p:nvPr/>
        </p:nvSpPr>
        <p:spPr>
          <a:xfrm>
            <a:off x="457200" y="1143000"/>
            <a:ext cx="310896" cy="310896"/>
          </a:xfrm>
          <a:prstGeom prst="rect">
            <a:avLst/>
          </a:prstGeom>
          <a:noFill/>
          <a:ln/>
        </p:spPr>
        <p:txBody>
          <a:bodyPr wrap="square" rtlCol="0" anchor="ctr"/>
          <a:lstStyle/>
          <a:p>
            <a:pPr marL="0" indent="0" algn="ctr">
              <a:buNone/>
            </a:pPr>
            <a:r>
              <a:rPr lang="en-US" sz="1400" b="1">
                <a:solidFill>
                  <a:srgbClr val="FFFFFF"/>
                </a:solidFill>
                <a:latin typeface="Arial" pitchFamily="34" charset="0"/>
                <a:ea typeface="Arial" pitchFamily="34" charset="-122"/>
                <a:cs typeface="Arial" pitchFamily="34" charset="-120"/>
              </a:rPr>
              <a:t>1</a:t>
            </a:r>
            <a:endParaRPr lang="en-US" sz="1400"/>
          </a:p>
        </p:txBody>
      </p:sp>
      <p:sp>
        <p:nvSpPr>
          <p:cNvPr id="6" name="Text 3"/>
          <p:cNvSpPr/>
          <p:nvPr/>
        </p:nvSpPr>
        <p:spPr>
          <a:xfrm>
            <a:off x="914400" y="1097280"/>
            <a:ext cx="7680960" cy="457200"/>
          </a:xfrm>
          <a:prstGeom prst="rect">
            <a:avLst/>
          </a:prstGeom>
          <a:noFill/>
          <a:ln/>
        </p:spPr>
        <p:txBody>
          <a:bodyPr wrap="square" rtlCol="0" anchor="ctr"/>
          <a:lstStyle/>
          <a:p>
            <a:pPr marL="0" indent="0">
              <a:buNone/>
            </a:pPr>
            <a:r>
              <a:rPr lang="en-US" sz="1300" b="1">
                <a:solidFill>
                  <a:srgbClr val="024879"/>
                </a:solidFill>
                <a:latin typeface="Calibri" pitchFamily="34" charset="0"/>
                <a:ea typeface="Calibri" pitchFamily="34" charset="-122"/>
                <a:cs typeface="Calibri" pitchFamily="34" charset="-120"/>
              </a:rPr>
              <a:t>Pick your option  </a:t>
            </a:r>
            <a:r>
              <a:rPr lang="en-US" sz="1300">
                <a:solidFill>
                  <a:srgbClr val="1B2227"/>
                </a:solidFill>
                <a:latin typeface="Calibri" pitchFamily="34" charset="0"/>
                <a:ea typeface="Calibri" pitchFamily="34" charset="-122"/>
                <a:cs typeface="Calibri" pitchFamily="34" charset="-120"/>
              </a:rPr>
              <a:t>Keep Option 1 (client work) or Option 2 (platform contribution). Fill every slide; delete instruction notes.</a:t>
            </a:r>
            <a:endParaRPr lang="en-US" sz="1300"/>
          </a:p>
        </p:txBody>
      </p:sp>
      <p:sp>
        <p:nvSpPr>
          <p:cNvPr id="7" name="Shape 4"/>
          <p:cNvSpPr/>
          <p:nvPr/>
        </p:nvSpPr>
        <p:spPr>
          <a:xfrm>
            <a:off x="457200" y="1709928"/>
            <a:ext cx="310896" cy="310896"/>
          </a:xfrm>
          <a:prstGeom prst="ellipse">
            <a:avLst/>
          </a:prstGeom>
          <a:solidFill>
            <a:srgbClr val="075056"/>
          </a:solidFill>
          <a:ln/>
        </p:spPr>
        <p:txBody>
          <a:bodyPr/>
          <a:lstStyle/>
          <a:p>
            <a:endParaRPr lang="en-US"/>
          </a:p>
        </p:txBody>
      </p:sp>
      <p:sp>
        <p:nvSpPr>
          <p:cNvPr id="8" name="Text 5"/>
          <p:cNvSpPr/>
          <p:nvPr/>
        </p:nvSpPr>
        <p:spPr>
          <a:xfrm>
            <a:off x="457200" y="1709928"/>
            <a:ext cx="310896" cy="310896"/>
          </a:xfrm>
          <a:prstGeom prst="rect">
            <a:avLst/>
          </a:prstGeom>
          <a:noFill/>
          <a:ln/>
        </p:spPr>
        <p:txBody>
          <a:bodyPr wrap="square" rtlCol="0" anchor="ctr"/>
          <a:lstStyle/>
          <a:p>
            <a:pPr marL="0" indent="0" algn="ctr">
              <a:buNone/>
            </a:pPr>
            <a:r>
              <a:rPr lang="en-US" sz="1400" b="1">
                <a:solidFill>
                  <a:srgbClr val="FFFFFF"/>
                </a:solidFill>
                <a:latin typeface="Arial" pitchFamily="34" charset="0"/>
                <a:ea typeface="Arial" pitchFamily="34" charset="-122"/>
                <a:cs typeface="Arial" pitchFamily="34" charset="-120"/>
              </a:rPr>
              <a:t>2</a:t>
            </a:r>
            <a:endParaRPr lang="en-US" sz="1400"/>
          </a:p>
        </p:txBody>
      </p:sp>
      <p:sp>
        <p:nvSpPr>
          <p:cNvPr id="9" name="Text 6"/>
          <p:cNvSpPr/>
          <p:nvPr/>
        </p:nvSpPr>
        <p:spPr>
          <a:xfrm>
            <a:off x="914400" y="1664208"/>
            <a:ext cx="7680960" cy="457200"/>
          </a:xfrm>
          <a:prstGeom prst="rect">
            <a:avLst/>
          </a:prstGeom>
          <a:noFill/>
          <a:ln/>
        </p:spPr>
        <p:txBody>
          <a:bodyPr wrap="square" rtlCol="0" anchor="ctr"/>
          <a:lstStyle/>
          <a:p>
            <a:pPr marL="0" indent="0">
              <a:buNone/>
            </a:pPr>
            <a:r>
              <a:rPr lang="en-US" sz="1300" b="1">
                <a:solidFill>
                  <a:srgbClr val="024879"/>
                </a:solidFill>
                <a:latin typeface="Calibri" pitchFamily="34" charset="0"/>
                <a:ea typeface="Calibri" pitchFamily="34" charset="-122"/>
                <a:cs typeface="Calibri" pitchFamily="34" charset="-120"/>
              </a:rPr>
              <a:t>Show at least 3 of 5 competencies  </a:t>
            </a:r>
            <a:r>
              <a:rPr lang="en-US" sz="1300">
                <a:solidFill>
                  <a:srgbClr val="1B2227"/>
                </a:solidFill>
                <a:latin typeface="Calibri" pitchFamily="34" charset="0"/>
                <a:ea typeface="Calibri" pitchFamily="34" charset="-122"/>
                <a:cs typeface="Calibri" pitchFamily="34" charset="-120"/>
              </a:rPr>
              <a:t>The rubric has 5 topics. Demonstrate a minimum of 3 with real evidence.</a:t>
            </a:r>
            <a:endParaRPr lang="en-US" sz="1300"/>
          </a:p>
        </p:txBody>
      </p:sp>
      <p:sp>
        <p:nvSpPr>
          <p:cNvPr id="10" name="Shape 7"/>
          <p:cNvSpPr/>
          <p:nvPr/>
        </p:nvSpPr>
        <p:spPr>
          <a:xfrm>
            <a:off x="457200" y="2276856"/>
            <a:ext cx="310896" cy="310896"/>
          </a:xfrm>
          <a:prstGeom prst="ellipse">
            <a:avLst/>
          </a:prstGeom>
          <a:solidFill>
            <a:srgbClr val="075056"/>
          </a:solidFill>
          <a:ln/>
        </p:spPr>
        <p:txBody>
          <a:bodyPr/>
          <a:lstStyle/>
          <a:p>
            <a:endParaRPr lang="en-US"/>
          </a:p>
        </p:txBody>
      </p:sp>
      <p:sp>
        <p:nvSpPr>
          <p:cNvPr id="11" name="Text 8"/>
          <p:cNvSpPr/>
          <p:nvPr/>
        </p:nvSpPr>
        <p:spPr>
          <a:xfrm>
            <a:off x="457200" y="2276856"/>
            <a:ext cx="310896" cy="310896"/>
          </a:xfrm>
          <a:prstGeom prst="rect">
            <a:avLst/>
          </a:prstGeom>
          <a:noFill/>
          <a:ln/>
        </p:spPr>
        <p:txBody>
          <a:bodyPr wrap="square" rtlCol="0" anchor="ctr"/>
          <a:lstStyle/>
          <a:p>
            <a:pPr marL="0" indent="0" algn="ctr">
              <a:buNone/>
            </a:pPr>
            <a:r>
              <a:rPr lang="en-US" sz="1400" b="1">
                <a:solidFill>
                  <a:srgbClr val="FFFFFF"/>
                </a:solidFill>
                <a:latin typeface="Arial" pitchFamily="34" charset="0"/>
                <a:ea typeface="Arial" pitchFamily="34" charset="-122"/>
                <a:cs typeface="Arial" pitchFamily="34" charset="-120"/>
              </a:rPr>
              <a:t>3</a:t>
            </a:r>
            <a:endParaRPr lang="en-US" sz="1400"/>
          </a:p>
        </p:txBody>
      </p:sp>
      <p:sp>
        <p:nvSpPr>
          <p:cNvPr id="12" name="Text 9"/>
          <p:cNvSpPr/>
          <p:nvPr/>
        </p:nvSpPr>
        <p:spPr>
          <a:xfrm>
            <a:off x="914400" y="2231136"/>
            <a:ext cx="7680960" cy="457200"/>
          </a:xfrm>
          <a:prstGeom prst="rect">
            <a:avLst/>
          </a:prstGeom>
          <a:noFill/>
          <a:ln/>
        </p:spPr>
        <p:txBody>
          <a:bodyPr wrap="square" rtlCol="0" anchor="ctr"/>
          <a:lstStyle/>
          <a:p>
            <a:pPr marL="0" indent="0">
              <a:buNone/>
            </a:pPr>
            <a:r>
              <a:rPr lang="en-US" sz="1300" b="1">
                <a:solidFill>
                  <a:srgbClr val="024879"/>
                </a:solidFill>
                <a:latin typeface="Calibri" pitchFamily="34" charset="0"/>
                <a:ea typeface="Calibri" pitchFamily="34" charset="-122"/>
                <a:cs typeface="Calibri" pitchFamily="34" charset="-120"/>
              </a:rPr>
              <a:t>Capture impact &amp; reusability  </a:t>
            </a:r>
            <a:r>
              <a:rPr lang="en-US" sz="1300">
                <a:solidFill>
                  <a:srgbClr val="1B2227"/>
                </a:solidFill>
                <a:latin typeface="Calibri" pitchFamily="34" charset="0"/>
                <a:ea typeface="Calibri" pitchFamily="34" charset="-122"/>
                <a:cs typeface="Calibri" pitchFamily="34" charset="-120"/>
              </a:rPr>
              <a:t>Quantify before/after and show whether others can reuse your work.</a:t>
            </a:r>
            <a:endParaRPr lang="en-US" sz="1300"/>
          </a:p>
        </p:txBody>
      </p:sp>
      <p:sp>
        <p:nvSpPr>
          <p:cNvPr id="13" name="Shape 10"/>
          <p:cNvSpPr/>
          <p:nvPr/>
        </p:nvSpPr>
        <p:spPr>
          <a:xfrm>
            <a:off x="457200" y="2843784"/>
            <a:ext cx="310896" cy="310896"/>
          </a:xfrm>
          <a:prstGeom prst="ellipse">
            <a:avLst/>
          </a:prstGeom>
          <a:solidFill>
            <a:srgbClr val="024879"/>
          </a:solidFill>
          <a:ln/>
        </p:spPr>
        <p:txBody>
          <a:bodyPr/>
          <a:lstStyle/>
          <a:p>
            <a:endParaRPr lang="en-US"/>
          </a:p>
        </p:txBody>
      </p:sp>
      <p:sp>
        <p:nvSpPr>
          <p:cNvPr id="14" name="Text 11"/>
          <p:cNvSpPr/>
          <p:nvPr/>
        </p:nvSpPr>
        <p:spPr>
          <a:xfrm>
            <a:off x="457200" y="2843784"/>
            <a:ext cx="310896" cy="310896"/>
          </a:xfrm>
          <a:prstGeom prst="rect">
            <a:avLst/>
          </a:prstGeom>
          <a:noFill/>
          <a:ln/>
        </p:spPr>
        <p:txBody>
          <a:bodyPr wrap="square" rtlCol="0" anchor="ctr"/>
          <a:lstStyle/>
          <a:p>
            <a:pPr marL="0" indent="0" algn="ctr">
              <a:buNone/>
            </a:pPr>
            <a:r>
              <a:rPr lang="en-US" sz="1400" b="1">
                <a:solidFill>
                  <a:srgbClr val="FFFFFF"/>
                </a:solidFill>
                <a:latin typeface="Arial" pitchFamily="34" charset="0"/>
                <a:ea typeface="Arial" pitchFamily="34" charset="-122"/>
                <a:cs typeface="Arial" pitchFamily="34" charset="-120"/>
              </a:rPr>
              <a:t>4</a:t>
            </a:r>
            <a:endParaRPr lang="en-US" sz="1400"/>
          </a:p>
        </p:txBody>
      </p:sp>
      <p:sp>
        <p:nvSpPr>
          <p:cNvPr id="15" name="Text 12"/>
          <p:cNvSpPr/>
          <p:nvPr/>
        </p:nvSpPr>
        <p:spPr>
          <a:xfrm>
            <a:off x="914400" y="2798064"/>
            <a:ext cx="7680960" cy="457200"/>
          </a:xfrm>
          <a:prstGeom prst="rect">
            <a:avLst/>
          </a:prstGeom>
          <a:noFill/>
          <a:ln/>
        </p:spPr>
        <p:txBody>
          <a:bodyPr wrap="square" rtlCol="0" anchor="ctr"/>
          <a:lstStyle/>
          <a:p>
            <a:pPr marL="0" indent="0">
              <a:buNone/>
            </a:pPr>
            <a:r>
              <a:rPr lang="en-US" sz="1300" b="1">
                <a:solidFill>
                  <a:srgbClr val="024879"/>
                </a:solidFill>
                <a:latin typeface="Calibri" pitchFamily="34" charset="0"/>
                <a:ea typeface="Calibri" pitchFamily="34" charset="-122"/>
                <a:cs typeface="Calibri" pitchFamily="34" charset="-120"/>
              </a:rPr>
              <a:t>Self-rate honestly  </a:t>
            </a:r>
            <a:r>
              <a:rPr lang="en-US" sz="1300">
                <a:solidFill>
                  <a:srgbClr val="1B2227"/>
                </a:solidFill>
                <a:latin typeface="Calibri" pitchFamily="34" charset="0"/>
                <a:ea typeface="Calibri" pitchFamily="34" charset="-122"/>
                <a:cs typeface="Calibri" pitchFamily="34" charset="-120"/>
              </a:rPr>
              <a:t>Score each topic 0–30 on the Self-Rating slide. Attach evidence for every claim.</a:t>
            </a:r>
            <a:endParaRPr lang="en-US" sz="1300"/>
          </a:p>
        </p:txBody>
      </p:sp>
      <p:sp>
        <p:nvSpPr>
          <p:cNvPr id="16" name="Shape 13"/>
          <p:cNvSpPr/>
          <p:nvPr/>
        </p:nvSpPr>
        <p:spPr>
          <a:xfrm>
            <a:off x="457200" y="3410712"/>
            <a:ext cx="310896" cy="310896"/>
          </a:xfrm>
          <a:prstGeom prst="ellipse">
            <a:avLst/>
          </a:prstGeom>
          <a:solidFill>
            <a:srgbClr val="024879"/>
          </a:solidFill>
          <a:ln/>
        </p:spPr>
        <p:txBody>
          <a:bodyPr/>
          <a:lstStyle/>
          <a:p>
            <a:endParaRPr lang="en-US"/>
          </a:p>
        </p:txBody>
      </p:sp>
      <p:sp>
        <p:nvSpPr>
          <p:cNvPr id="17" name="Text 14"/>
          <p:cNvSpPr/>
          <p:nvPr/>
        </p:nvSpPr>
        <p:spPr>
          <a:xfrm>
            <a:off x="457200" y="3410712"/>
            <a:ext cx="310896" cy="310896"/>
          </a:xfrm>
          <a:prstGeom prst="rect">
            <a:avLst/>
          </a:prstGeom>
          <a:noFill/>
          <a:ln/>
        </p:spPr>
        <p:txBody>
          <a:bodyPr wrap="square" rtlCol="0" anchor="ctr"/>
          <a:lstStyle/>
          <a:p>
            <a:pPr marL="0" indent="0" algn="ctr">
              <a:buNone/>
            </a:pPr>
            <a:r>
              <a:rPr lang="en-US" sz="1400" b="1">
                <a:solidFill>
                  <a:srgbClr val="FFFFFF"/>
                </a:solidFill>
                <a:latin typeface="Arial" pitchFamily="34" charset="0"/>
                <a:ea typeface="Arial" pitchFamily="34" charset="-122"/>
                <a:cs typeface="Arial" pitchFamily="34" charset="-120"/>
              </a:rPr>
              <a:t>5</a:t>
            </a:r>
            <a:endParaRPr lang="en-US" sz="1400"/>
          </a:p>
        </p:txBody>
      </p:sp>
      <p:sp>
        <p:nvSpPr>
          <p:cNvPr id="18" name="Text 15"/>
          <p:cNvSpPr/>
          <p:nvPr/>
        </p:nvSpPr>
        <p:spPr>
          <a:xfrm>
            <a:off x="914400" y="3364992"/>
            <a:ext cx="7680960" cy="457200"/>
          </a:xfrm>
          <a:prstGeom prst="rect">
            <a:avLst/>
          </a:prstGeom>
          <a:noFill/>
          <a:ln/>
        </p:spPr>
        <p:txBody>
          <a:bodyPr wrap="square" rtlCol="0" anchor="ctr"/>
          <a:lstStyle/>
          <a:p>
            <a:pPr marL="0" indent="0">
              <a:buNone/>
            </a:pPr>
            <a:r>
              <a:rPr lang="en-US" sz="1300" b="1">
                <a:solidFill>
                  <a:srgbClr val="024879"/>
                </a:solidFill>
                <a:latin typeface="Calibri" pitchFamily="34" charset="0"/>
                <a:ea typeface="Calibri" pitchFamily="34" charset="-122"/>
                <a:cs typeface="Calibri" pitchFamily="34" charset="-120"/>
              </a:rPr>
              <a:t>Route to your validator  </a:t>
            </a:r>
            <a:r>
              <a:rPr lang="en-US" sz="1300">
                <a:solidFill>
                  <a:srgbClr val="1B2227"/>
                </a:solidFill>
                <a:latin typeface="Calibri" pitchFamily="34" charset="0"/>
                <a:ea typeface="Calibri" pitchFamily="34" charset="-122"/>
                <a:cs typeface="Calibri" pitchFamily="34" charset="-120"/>
              </a:rPr>
              <a:t>Your named validator scores and signs off: Agree or Do not certify.</a:t>
            </a:r>
            <a:endParaRPr lang="en-US" sz="1300"/>
          </a:p>
        </p:txBody>
      </p:sp>
      <p:sp>
        <p:nvSpPr>
          <p:cNvPr id="19" name="Shape 16"/>
          <p:cNvSpPr/>
          <p:nvPr/>
        </p:nvSpPr>
        <p:spPr>
          <a:xfrm>
            <a:off x="457200" y="4160520"/>
            <a:ext cx="8229600" cy="640080"/>
          </a:xfrm>
          <a:prstGeom prst="roundRect">
            <a:avLst>
              <a:gd name="adj" fmla="val 8571"/>
            </a:avLst>
          </a:prstGeom>
          <a:solidFill>
            <a:srgbClr val="075056"/>
          </a:solidFill>
          <a:ln/>
        </p:spPr>
        <p:txBody>
          <a:bodyPr/>
          <a:lstStyle/>
          <a:p>
            <a:endParaRPr lang="en-US"/>
          </a:p>
        </p:txBody>
      </p:sp>
      <p:sp>
        <p:nvSpPr>
          <p:cNvPr id="20" name="Text 17"/>
          <p:cNvSpPr/>
          <p:nvPr/>
        </p:nvSpPr>
        <p:spPr>
          <a:xfrm>
            <a:off x="640080" y="4160520"/>
            <a:ext cx="7863840" cy="640080"/>
          </a:xfrm>
          <a:prstGeom prst="rect">
            <a:avLst/>
          </a:prstGeom>
          <a:noFill/>
          <a:ln/>
        </p:spPr>
        <p:txBody>
          <a:bodyPr wrap="square" rtlCol="0" anchor="ctr"/>
          <a:lstStyle/>
          <a:p>
            <a:pPr marL="0" indent="0">
              <a:buNone/>
            </a:pPr>
            <a:r>
              <a:rPr lang="en-US" sz="1600" b="1">
                <a:solidFill>
                  <a:srgbClr val="FFFFFF"/>
                </a:solidFill>
                <a:latin typeface="Arial" pitchFamily="34" charset="0"/>
                <a:ea typeface="Arial" pitchFamily="34" charset="-122"/>
                <a:cs typeface="Arial" pitchFamily="34" charset="-120"/>
              </a:rPr>
              <a:t>Score to clear:  70 / 150 minimum</a:t>
            </a:r>
            <a:r>
              <a:rPr lang="en-US" sz="1200">
                <a:solidFill>
                  <a:srgbClr val="71D8C5"/>
                </a:solidFill>
                <a:latin typeface="Arial" pitchFamily="34" charset="0"/>
                <a:ea typeface="Arial" pitchFamily="34" charset="-122"/>
                <a:cs typeface="Arial" pitchFamily="34" charset="-120"/>
              </a:rPr>
              <a:t>     •  5 topics × 30 max each  •  minimum 3 topics demonstrated</a:t>
            </a:r>
            <a:endParaRPr lang="en-US"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My Project Overview</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Shape 1"/>
          <p:cNvSpPr/>
          <p:nvPr/>
        </p:nvSpPr>
        <p:spPr>
          <a:xfrm>
            <a:off x="457200" y="1097280"/>
            <a:ext cx="3977640" cy="457200"/>
          </a:xfrm>
          <a:prstGeom prst="roundRect">
            <a:avLst>
              <a:gd name="adj" fmla="val 10000"/>
            </a:avLst>
          </a:prstGeom>
          <a:solidFill>
            <a:srgbClr val="024879"/>
          </a:solidFill>
          <a:ln/>
        </p:spPr>
        <p:txBody>
          <a:bodyPr/>
          <a:lstStyle/>
          <a:p>
            <a:endParaRPr lang="en-US" dirty="0"/>
          </a:p>
        </p:txBody>
      </p:sp>
      <p:sp>
        <p:nvSpPr>
          <p:cNvPr id="5" name="Text 2"/>
          <p:cNvSpPr/>
          <p:nvPr/>
        </p:nvSpPr>
        <p:spPr>
          <a:xfrm>
            <a:off x="548640" y="1097280"/>
            <a:ext cx="379476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OPTION 1 — Customer Project</a:t>
            </a:r>
            <a:endParaRPr lang="en-US" sz="1300" dirty="0"/>
          </a:p>
        </p:txBody>
      </p:sp>
      <p:sp>
        <p:nvSpPr>
          <p:cNvPr id="6" name="Text 3"/>
          <p:cNvSpPr/>
          <p:nvPr/>
        </p:nvSpPr>
        <p:spPr>
          <a:xfrm>
            <a:off x="457200" y="1691640"/>
            <a:ext cx="393192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Customer / client &amp; engagement</a:t>
            </a:r>
            <a:endParaRPr lang="en-US" sz="1200"/>
          </a:p>
        </p:txBody>
      </p:sp>
      <p:sp>
        <p:nvSpPr>
          <p:cNvPr id="7" name="Shape 4"/>
          <p:cNvSpPr/>
          <p:nvPr/>
        </p:nvSpPr>
        <p:spPr>
          <a:xfrm>
            <a:off x="457200" y="1947672"/>
            <a:ext cx="3977640" cy="45720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8" name="Text 5"/>
          <p:cNvSpPr/>
          <p:nvPr/>
        </p:nvSpPr>
        <p:spPr>
          <a:xfrm>
            <a:off x="566928" y="1947672"/>
            <a:ext cx="3758184" cy="457200"/>
          </a:xfrm>
          <a:prstGeom prst="rect">
            <a:avLst/>
          </a:prstGeom>
          <a:noFill/>
          <a:ln/>
        </p:spPr>
        <p:txBody>
          <a:bodyPr wrap="square" rtlCol="0" anchor="ctr"/>
          <a:lstStyle/>
          <a:p>
            <a:r>
              <a:rPr lang="en-US" sz="1100" i="1" dirty="0">
                <a:solidFill>
                  <a:srgbClr val="5A6B72"/>
                </a:solidFill>
                <a:latin typeface="Calibri" pitchFamily="34" charset="0"/>
                <a:ea typeface="Calibri" pitchFamily="34" charset="-122"/>
                <a:cs typeface="Calibri" pitchFamily="34" charset="-120"/>
              </a:rPr>
              <a:t>QA Automation Migration Framework</a:t>
            </a:r>
            <a:endParaRPr lang="en-US" sz="1100" dirty="0"/>
          </a:p>
        </p:txBody>
      </p:sp>
      <p:sp>
        <p:nvSpPr>
          <p:cNvPr id="9" name="Text 6"/>
          <p:cNvSpPr/>
          <p:nvPr/>
        </p:nvSpPr>
        <p:spPr>
          <a:xfrm>
            <a:off x="457200" y="2532888"/>
            <a:ext cx="393192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Problem · AI solution · outcomes</a:t>
            </a:r>
            <a:endParaRPr lang="en-US" sz="1200"/>
          </a:p>
        </p:txBody>
      </p:sp>
      <p:sp>
        <p:nvSpPr>
          <p:cNvPr id="10" name="Shape 7"/>
          <p:cNvSpPr/>
          <p:nvPr/>
        </p:nvSpPr>
        <p:spPr>
          <a:xfrm>
            <a:off x="457200" y="2788920"/>
            <a:ext cx="3977640" cy="731880"/>
          </a:xfrm>
          <a:prstGeom prst="roundRect">
            <a:avLst>
              <a:gd name="adj" fmla="val 10000"/>
            </a:avLst>
          </a:prstGeom>
          <a:solidFill>
            <a:srgbClr val="DFE7ED"/>
          </a:solidFill>
          <a:ln w="12700">
            <a:solidFill>
              <a:srgbClr val="C5DCEE"/>
            </a:solidFill>
            <a:prstDash val="solid"/>
          </a:ln>
        </p:spPr>
        <p:txBody>
          <a:bodyPr/>
          <a:lstStyle/>
          <a:p>
            <a:endParaRPr lang="en-US" dirty="0"/>
          </a:p>
        </p:txBody>
      </p:sp>
      <p:sp>
        <p:nvSpPr>
          <p:cNvPr id="11" name="Text 8"/>
          <p:cNvSpPr/>
          <p:nvPr/>
        </p:nvSpPr>
        <p:spPr>
          <a:xfrm>
            <a:off x="585216" y="2980944"/>
            <a:ext cx="3758184" cy="457200"/>
          </a:xfrm>
          <a:prstGeom prst="rect">
            <a:avLst/>
          </a:prstGeom>
          <a:noFill/>
          <a:ln/>
        </p:spPr>
        <p:txBody>
          <a:bodyPr wrap="square" rtlCol="0" anchor="ctr"/>
          <a:lstStyle/>
          <a:p>
            <a:r>
              <a:rPr lang="en-US" sz="1100" i="1" dirty="0">
                <a:solidFill>
                  <a:srgbClr val="5A6B72"/>
                </a:solidFill>
                <a:latin typeface="Calibri" pitchFamily="34" charset="0"/>
                <a:ea typeface="Calibri" pitchFamily="34" charset="-122"/>
                <a:cs typeface="Calibri" pitchFamily="34" charset="-120"/>
              </a:rPr>
              <a:t>Agent-driven Cypress to Playwright migration workflow. AI agent reads requirements, explores live app via MCP Playwright, generates Cypress TS + Playwright Python BDD suites from a single requirements document.</a:t>
            </a:r>
            <a:endParaRPr lang="en-US" sz="1100" dirty="0"/>
          </a:p>
          <a:p>
            <a:pPr marL="0" indent="0" algn="l">
              <a:buNone/>
            </a:pPr>
            <a:endParaRPr lang="en-US" sz="1100" dirty="0"/>
          </a:p>
        </p:txBody>
      </p:sp>
      <p:sp>
        <p:nvSpPr>
          <p:cNvPr id="12" name="Text 9"/>
          <p:cNvSpPr/>
          <p:nvPr/>
        </p:nvSpPr>
        <p:spPr>
          <a:xfrm>
            <a:off x="457200" y="3597336"/>
            <a:ext cx="393192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Quantified business impact</a:t>
            </a:r>
            <a:endParaRPr lang="en-US" sz="1200"/>
          </a:p>
        </p:txBody>
      </p:sp>
      <p:sp>
        <p:nvSpPr>
          <p:cNvPr id="13" name="Shape 10"/>
          <p:cNvSpPr/>
          <p:nvPr/>
        </p:nvSpPr>
        <p:spPr>
          <a:xfrm>
            <a:off x="457200" y="3853368"/>
            <a:ext cx="3977640" cy="45720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14" name="Text 11"/>
          <p:cNvSpPr/>
          <p:nvPr/>
        </p:nvSpPr>
        <p:spPr>
          <a:xfrm>
            <a:off x="566928" y="3853368"/>
            <a:ext cx="3758184" cy="457200"/>
          </a:xfrm>
          <a:prstGeom prst="rect">
            <a:avLst/>
          </a:prstGeom>
          <a:noFill/>
          <a:ln/>
        </p:spPr>
        <p:txBody>
          <a:bodyPr wrap="square" rtlCol="0" anchor="ctr"/>
          <a:lstStyle/>
          <a:p>
            <a:r>
              <a:rPr lang="en-US" sz="1100" i="1" dirty="0">
                <a:solidFill>
                  <a:srgbClr val="5A6B72"/>
                </a:solidFill>
                <a:latin typeface="Calibri" pitchFamily="34" charset="0"/>
                <a:ea typeface="Calibri" pitchFamily="34" charset="-122"/>
                <a:cs typeface="Calibri" pitchFamily="34" charset="-120"/>
              </a:rPr>
              <a:t>4-5 days of manual migration work compressed into one agent session (~7h). Reusable prompts + project structure portable to any future migration target.</a:t>
            </a:r>
            <a:endParaRPr lang="en-US" sz="1100" dirty="0"/>
          </a:p>
        </p:txBody>
      </p:sp>
      <p:sp>
        <p:nvSpPr>
          <p:cNvPr id="15" name="Shape 12"/>
          <p:cNvSpPr/>
          <p:nvPr/>
        </p:nvSpPr>
        <p:spPr>
          <a:xfrm>
            <a:off x="4709160" y="1097280"/>
            <a:ext cx="3977640" cy="457200"/>
          </a:xfrm>
          <a:prstGeom prst="roundRect">
            <a:avLst>
              <a:gd name="adj" fmla="val 10000"/>
            </a:avLst>
          </a:prstGeom>
          <a:solidFill>
            <a:srgbClr val="024879"/>
          </a:solidFill>
          <a:ln/>
        </p:spPr>
        <p:txBody>
          <a:bodyPr/>
          <a:lstStyle/>
          <a:p>
            <a:endParaRPr lang="en-US"/>
          </a:p>
        </p:txBody>
      </p:sp>
      <p:sp>
        <p:nvSpPr>
          <p:cNvPr id="16" name="Text 13"/>
          <p:cNvSpPr/>
          <p:nvPr/>
        </p:nvSpPr>
        <p:spPr>
          <a:xfrm>
            <a:off x="4800600" y="1097280"/>
            <a:ext cx="3794760" cy="457200"/>
          </a:xfrm>
          <a:prstGeom prst="rect">
            <a:avLst/>
          </a:prstGeom>
          <a:noFill/>
          <a:ln/>
        </p:spPr>
        <p:txBody>
          <a:bodyPr wrap="square" rtlCol="0" anchor="ctr"/>
          <a:lstStyle/>
          <a:p>
            <a:pPr marL="0" indent="0" algn="ctr">
              <a:buNone/>
            </a:pPr>
            <a:r>
              <a:rPr lang="en-US" sz="1300" b="1">
                <a:solidFill>
                  <a:srgbClr val="FFFFFF"/>
                </a:solidFill>
                <a:latin typeface="Arial" pitchFamily="34" charset="0"/>
                <a:ea typeface="Arial" pitchFamily="34" charset="-122"/>
                <a:cs typeface="Arial" pitchFamily="34" charset="-120"/>
              </a:rPr>
              <a:t>OPTION 2 — Platform Contribution</a:t>
            </a:r>
            <a:endParaRPr lang="en-US" sz="1300"/>
          </a:p>
        </p:txBody>
      </p:sp>
      <p:sp>
        <p:nvSpPr>
          <p:cNvPr id="17" name="Text 14"/>
          <p:cNvSpPr/>
          <p:nvPr/>
        </p:nvSpPr>
        <p:spPr>
          <a:xfrm>
            <a:off x="4709160" y="1691640"/>
            <a:ext cx="393192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Platform contributed to</a:t>
            </a:r>
            <a:endParaRPr lang="en-US" sz="1200"/>
          </a:p>
        </p:txBody>
      </p:sp>
      <p:sp>
        <p:nvSpPr>
          <p:cNvPr id="18" name="Shape 15"/>
          <p:cNvSpPr/>
          <p:nvPr/>
        </p:nvSpPr>
        <p:spPr>
          <a:xfrm>
            <a:off x="4709160" y="1947672"/>
            <a:ext cx="3977640" cy="45720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19" name="Text 16"/>
          <p:cNvSpPr/>
          <p:nvPr/>
        </p:nvSpPr>
        <p:spPr>
          <a:xfrm>
            <a:off x="4818888" y="1947672"/>
            <a:ext cx="3758184" cy="457200"/>
          </a:xfrm>
          <a:prstGeom prst="rect">
            <a:avLst/>
          </a:prstGeom>
          <a:noFill/>
          <a:ln/>
        </p:spPr>
        <p:txBody>
          <a:bodyPr wrap="square" rtlCol="0" anchor="ctr"/>
          <a:lstStyle/>
          <a:p>
            <a:r>
              <a:rPr lang="en-US" sz="1100" i="1" dirty="0">
                <a:solidFill>
                  <a:srgbClr val="5A6B72"/>
                </a:solidFill>
                <a:latin typeface="Calibri" pitchFamily="34" charset="0"/>
                <a:ea typeface="Calibri" pitchFamily="34" charset="-122"/>
                <a:cs typeface="Calibri" pitchFamily="34" charset="-120"/>
              </a:rPr>
              <a:t>[ … ]</a:t>
            </a:r>
            <a:endParaRPr lang="en-US" sz="1100" dirty="0"/>
          </a:p>
        </p:txBody>
      </p:sp>
      <p:sp>
        <p:nvSpPr>
          <p:cNvPr id="20" name="Text 17"/>
          <p:cNvSpPr/>
          <p:nvPr/>
        </p:nvSpPr>
        <p:spPr>
          <a:xfrm>
            <a:off x="4709160" y="2532888"/>
            <a:ext cx="393192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Feature / innovation contributed</a:t>
            </a:r>
            <a:endParaRPr lang="en-US" sz="1200"/>
          </a:p>
        </p:txBody>
      </p:sp>
      <p:sp>
        <p:nvSpPr>
          <p:cNvPr id="21" name="Shape 18"/>
          <p:cNvSpPr/>
          <p:nvPr/>
        </p:nvSpPr>
        <p:spPr>
          <a:xfrm>
            <a:off x="4709160" y="2788920"/>
            <a:ext cx="3977640" cy="731880"/>
          </a:xfrm>
          <a:prstGeom prst="roundRect">
            <a:avLst>
              <a:gd name="adj" fmla="val 10000"/>
            </a:avLst>
          </a:prstGeom>
          <a:solidFill>
            <a:srgbClr val="DFE7ED"/>
          </a:solidFill>
          <a:ln w="12700">
            <a:solidFill>
              <a:srgbClr val="C5DCEE"/>
            </a:solidFill>
            <a:prstDash val="solid"/>
          </a:ln>
        </p:spPr>
        <p:txBody>
          <a:bodyPr/>
          <a:lstStyle/>
          <a:p>
            <a:r>
              <a:rPr lang="en-US" i="1" dirty="0">
                <a:solidFill>
                  <a:srgbClr val="5A6B72"/>
                </a:solidFill>
                <a:latin typeface="Calibri" pitchFamily="34" charset="0"/>
                <a:ea typeface="Calibri" pitchFamily="34" charset="-122"/>
                <a:cs typeface="Calibri" pitchFamily="34" charset="-120"/>
              </a:rPr>
              <a:t>[ … ]</a:t>
            </a:r>
            <a:endParaRPr lang="en-US" dirty="0"/>
          </a:p>
          <a:p>
            <a:endParaRPr lang="en-US" dirty="0"/>
          </a:p>
        </p:txBody>
      </p:sp>
      <p:sp>
        <p:nvSpPr>
          <p:cNvPr id="22" name="Text 19"/>
          <p:cNvSpPr/>
          <p:nvPr/>
        </p:nvSpPr>
        <p:spPr>
          <a:xfrm>
            <a:off x="4800600" y="2980944"/>
            <a:ext cx="3758184" cy="457200"/>
          </a:xfrm>
          <a:prstGeom prst="rect">
            <a:avLst/>
          </a:prstGeom>
          <a:noFill/>
          <a:ln/>
        </p:spPr>
        <p:txBody>
          <a:bodyPr wrap="square" rtlCol="0" anchor="ctr"/>
          <a:lstStyle/>
          <a:p>
            <a:pPr marL="0" indent="0" algn="l">
              <a:buNone/>
            </a:pPr>
            <a:endParaRPr lang="en-US" sz="1100" dirty="0"/>
          </a:p>
        </p:txBody>
      </p:sp>
      <p:sp>
        <p:nvSpPr>
          <p:cNvPr id="23" name="Text 20"/>
          <p:cNvSpPr/>
          <p:nvPr/>
        </p:nvSpPr>
        <p:spPr>
          <a:xfrm>
            <a:off x="4709160" y="3597336"/>
            <a:ext cx="393192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Org-scale AI capability impact</a:t>
            </a:r>
            <a:endParaRPr lang="en-US" sz="1200"/>
          </a:p>
        </p:txBody>
      </p:sp>
      <p:sp>
        <p:nvSpPr>
          <p:cNvPr id="24" name="Shape 21"/>
          <p:cNvSpPr/>
          <p:nvPr/>
        </p:nvSpPr>
        <p:spPr>
          <a:xfrm>
            <a:off x="4709160" y="3853368"/>
            <a:ext cx="3977640" cy="45720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25" name="Text 22"/>
          <p:cNvSpPr/>
          <p:nvPr/>
        </p:nvSpPr>
        <p:spPr>
          <a:xfrm>
            <a:off x="4818888" y="3853368"/>
            <a:ext cx="3758184" cy="457200"/>
          </a:xfrm>
          <a:prstGeom prst="rect">
            <a:avLst/>
          </a:prstGeom>
          <a:noFill/>
          <a:ln/>
        </p:spPr>
        <p:txBody>
          <a:bodyPr wrap="square" rtlCol="0" anchor="ctr"/>
          <a:lstStyle/>
          <a:p>
            <a:r>
              <a:rPr lang="en-US" sz="1100" i="1" dirty="0">
                <a:solidFill>
                  <a:srgbClr val="5A6B72"/>
                </a:solidFill>
                <a:latin typeface="Calibri" pitchFamily="34" charset="0"/>
                <a:ea typeface="Calibri" pitchFamily="34" charset="-122"/>
                <a:cs typeface="Calibri" pitchFamily="34" charset="-120"/>
              </a:rPr>
              <a:t>[ … ]</a:t>
            </a:r>
            <a:endParaRPr lang="en-US" sz="1100" dirty="0"/>
          </a:p>
        </p:txBody>
      </p:sp>
      <p:sp>
        <p:nvSpPr>
          <p:cNvPr id="26" name="Text 23"/>
          <p:cNvSpPr/>
          <p:nvPr/>
        </p:nvSpPr>
        <p:spPr>
          <a:xfrm>
            <a:off x="457200" y="4709160"/>
            <a:ext cx="8229600" cy="274320"/>
          </a:xfrm>
          <a:prstGeom prst="rect">
            <a:avLst/>
          </a:prstGeom>
          <a:noFill/>
          <a:ln/>
        </p:spPr>
        <p:txBody>
          <a:bodyPr wrap="square" rtlCol="0" anchor="ctr"/>
          <a:lstStyle/>
          <a:p>
            <a:pPr marL="0" indent="0">
              <a:buNone/>
            </a:pPr>
            <a:r>
              <a:rPr lang="en-US" sz="1000" i="1">
                <a:solidFill>
                  <a:srgbClr val="5A6B72"/>
                </a:solidFill>
                <a:latin typeface="Calibri" pitchFamily="34" charset="0"/>
                <a:ea typeface="Calibri" pitchFamily="34" charset="-122"/>
                <a:cs typeface="Calibri" pitchFamily="34" charset="-120"/>
              </a:rPr>
              <a:t>Fill only the column for your option.</a:t>
            </a:r>
            <a:endParaRPr 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My AI Approach</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Text 1"/>
          <p:cNvSpPr/>
          <p:nvPr/>
        </p:nvSpPr>
        <p:spPr>
          <a:xfrm>
            <a:off x="457200" y="1097280"/>
            <a:ext cx="822960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Goal — one sentence: the repeatable outcome you wanted AI to deliver</a:t>
            </a:r>
            <a:endParaRPr lang="en-US" sz="1200"/>
          </a:p>
        </p:txBody>
      </p:sp>
      <p:sp>
        <p:nvSpPr>
          <p:cNvPr id="5" name="Shape 2"/>
          <p:cNvSpPr/>
          <p:nvPr/>
        </p:nvSpPr>
        <p:spPr>
          <a:xfrm>
            <a:off x="457200" y="1371600"/>
            <a:ext cx="8229600" cy="55512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6" name="Text 3"/>
          <p:cNvSpPr/>
          <p:nvPr/>
        </p:nvSpPr>
        <p:spPr>
          <a:xfrm>
            <a:off x="566928" y="1421892"/>
            <a:ext cx="8010144" cy="457200"/>
          </a:xfrm>
          <a:prstGeom prst="rect">
            <a:avLst/>
          </a:prstGeom>
          <a:noFill/>
          <a:ln/>
        </p:spPr>
        <p:txBody>
          <a:bodyPr wrap="square" rtlCol="0" anchor="ctr"/>
          <a:lstStyle/>
          <a:p>
            <a:pPr marL="0" indent="0" algn="l">
              <a:buNone/>
            </a:pPr>
            <a:r>
              <a:rPr lang="en-US" sz="1100" i="1" dirty="0">
                <a:solidFill>
                  <a:srgbClr val="5A6B72"/>
                </a:solidFill>
                <a:latin typeface="Calibri" pitchFamily="34" charset="0"/>
                <a:ea typeface="Calibri" pitchFamily="34" charset="-122"/>
                <a:cs typeface="Calibri" pitchFamily="34" charset="-120"/>
              </a:rPr>
              <a:t>Based on a defined implementation plan, generate functional BDD test suites from requirements documentation. The process began with Cypress/TypeScript and later transitioned to Playwright/Python, leveraging MCP Playwright to validate selectors directly within the live application before generating any test code.</a:t>
            </a:r>
            <a:endParaRPr lang="en-US" sz="1100" dirty="0"/>
          </a:p>
        </p:txBody>
      </p:sp>
      <p:sp>
        <p:nvSpPr>
          <p:cNvPr id="7" name="Shape 4"/>
          <p:cNvSpPr/>
          <p:nvPr/>
        </p:nvSpPr>
        <p:spPr>
          <a:xfrm>
            <a:off x="457200" y="2057400"/>
            <a:ext cx="1572768" cy="2606040"/>
          </a:xfrm>
          <a:prstGeom prst="roundRect">
            <a:avLst>
              <a:gd name="adj" fmla="val 3488"/>
            </a:avLst>
          </a:prstGeom>
          <a:solidFill>
            <a:srgbClr val="DFE7ED"/>
          </a:solidFill>
          <a:ln/>
        </p:spPr>
        <p:txBody>
          <a:bodyPr/>
          <a:lstStyle/>
          <a:p>
            <a:endParaRPr lang="en-US"/>
          </a:p>
        </p:txBody>
      </p:sp>
      <p:sp>
        <p:nvSpPr>
          <p:cNvPr id="8" name="Shape 5"/>
          <p:cNvSpPr/>
          <p:nvPr/>
        </p:nvSpPr>
        <p:spPr>
          <a:xfrm>
            <a:off x="1042416" y="2194560"/>
            <a:ext cx="402336" cy="402336"/>
          </a:xfrm>
          <a:prstGeom prst="ellipse">
            <a:avLst/>
          </a:prstGeom>
          <a:solidFill>
            <a:srgbClr val="075056"/>
          </a:solidFill>
          <a:ln/>
        </p:spPr>
        <p:txBody>
          <a:bodyPr/>
          <a:lstStyle/>
          <a:p>
            <a:endParaRPr lang="en-US"/>
          </a:p>
        </p:txBody>
      </p:sp>
      <p:sp>
        <p:nvSpPr>
          <p:cNvPr id="9" name="Text 6"/>
          <p:cNvSpPr/>
          <p:nvPr/>
        </p:nvSpPr>
        <p:spPr>
          <a:xfrm>
            <a:off x="1042416" y="2194560"/>
            <a:ext cx="402336" cy="402336"/>
          </a:xfrm>
          <a:prstGeom prst="rect">
            <a:avLst/>
          </a:prstGeom>
          <a:noFill/>
          <a:ln/>
        </p:spPr>
        <p:txBody>
          <a:bodyPr wrap="square" rtlCol="0" anchor="ctr"/>
          <a:lstStyle/>
          <a:p>
            <a:pPr marL="0" indent="0" algn="ctr">
              <a:buNone/>
            </a:pPr>
            <a:r>
              <a:rPr lang="en-US" sz="1600" b="1">
                <a:solidFill>
                  <a:srgbClr val="FFFFFF"/>
                </a:solidFill>
                <a:latin typeface="Arial" pitchFamily="34" charset="0"/>
                <a:ea typeface="Arial" pitchFamily="34" charset="-122"/>
                <a:cs typeface="Arial" pitchFamily="34" charset="-120"/>
              </a:rPr>
              <a:t>1</a:t>
            </a:r>
            <a:endParaRPr lang="en-US" sz="1600"/>
          </a:p>
        </p:txBody>
      </p:sp>
      <p:sp>
        <p:nvSpPr>
          <p:cNvPr id="10" name="Text 7"/>
          <p:cNvSpPr/>
          <p:nvPr/>
        </p:nvSpPr>
        <p:spPr>
          <a:xfrm>
            <a:off x="512064" y="2697480"/>
            <a:ext cx="1463040" cy="274320"/>
          </a:xfrm>
          <a:prstGeom prst="rect">
            <a:avLst/>
          </a:prstGeom>
          <a:noFill/>
          <a:ln/>
        </p:spPr>
        <p:txBody>
          <a:bodyPr wrap="square" rtlCol="0" anchor="ctr"/>
          <a:lstStyle/>
          <a:p>
            <a:pPr marL="0" indent="0" algn="ctr">
              <a:buNone/>
            </a:pPr>
            <a:r>
              <a:rPr lang="en-US" sz="1100" b="1">
                <a:solidFill>
                  <a:srgbClr val="024879"/>
                </a:solidFill>
                <a:latin typeface="Arial" pitchFamily="34" charset="0"/>
                <a:ea typeface="Arial" pitchFamily="34" charset="-122"/>
                <a:cs typeface="Arial" pitchFamily="34" charset="-120"/>
              </a:rPr>
              <a:t>Phase 1 - Requirements + Context</a:t>
            </a:r>
            <a:endParaRPr lang="en-US" sz="1100"/>
          </a:p>
        </p:txBody>
      </p:sp>
      <p:sp>
        <p:nvSpPr>
          <p:cNvPr id="11" name="Text 8"/>
          <p:cNvSpPr/>
          <p:nvPr/>
        </p:nvSpPr>
        <p:spPr>
          <a:xfrm>
            <a:off x="530352" y="3298320"/>
            <a:ext cx="1426464" cy="1097280"/>
          </a:xfrm>
          <a:prstGeom prst="rect">
            <a:avLst/>
          </a:prstGeom>
          <a:noFill/>
          <a:ln/>
        </p:spPr>
        <p:txBody>
          <a:bodyPr wrap="square" rtlCol="0" anchor="ctr"/>
          <a:lstStyle/>
          <a:p>
            <a:pPr marL="0" indent="0" algn="ctr">
              <a:buNone/>
            </a:pPr>
            <a:r>
              <a:rPr lang="en-US" sz="950" i="1" dirty="0">
                <a:solidFill>
                  <a:srgbClr val="5A6B72"/>
                </a:solidFill>
                <a:latin typeface="Calibri" pitchFamily="34" charset="0"/>
                <a:ea typeface="Calibri" pitchFamily="34" charset="-122"/>
                <a:cs typeface="Calibri" pitchFamily="34" charset="-120"/>
              </a:rPr>
              <a:t>Define 7 functional requirements in functional_requirements_Cypress.md. Author CLAUDE.md with project conventions: naming, POM structure, credential handling, report paths. Tool: Claude Code.</a:t>
            </a:r>
            <a:endParaRPr lang="en-US" sz="950" dirty="0"/>
          </a:p>
        </p:txBody>
      </p:sp>
      <p:sp>
        <p:nvSpPr>
          <p:cNvPr id="12" name="Shape 9"/>
          <p:cNvSpPr/>
          <p:nvPr/>
        </p:nvSpPr>
        <p:spPr>
          <a:xfrm>
            <a:off x="2148840" y="2057400"/>
            <a:ext cx="1572768" cy="2606040"/>
          </a:xfrm>
          <a:prstGeom prst="roundRect">
            <a:avLst>
              <a:gd name="adj" fmla="val 3488"/>
            </a:avLst>
          </a:prstGeom>
          <a:solidFill>
            <a:srgbClr val="C5DCEE"/>
          </a:solidFill>
          <a:ln/>
        </p:spPr>
        <p:txBody>
          <a:bodyPr/>
          <a:lstStyle/>
          <a:p>
            <a:endParaRPr lang="en-US"/>
          </a:p>
        </p:txBody>
      </p:sp>
      <p:sp>
        <p:nvSpPr>
          <p:cNvPr id="13" name="Shape 10"/>
          <p:cNvSpPr/>
          <p:nvPr/>
        </p:nvSpPr>
        <p:spPr>
          <a:xfrm>
            <a:off x="2734056" y="2194560"/>
            <a:ext cx="402336" cy="402336"/>
          </a:xfrm>
          <a:prstGeom prst="ellipse">
            <a:avLst/>
          </a:prstGeom>
          <a:solidFill>
            <a:srgbClr val="075056"/>
          </a:solidFill>
          <a:ln/>
        </p:spPr>
        <p:txBody>
          <a:bodyPr/>
          <a:lstStyle/>
          <a:p>
            <a:endParaRPr lang="en-US"/>
          </a:p>
        </p:txBody>
      </p:sp>
      <p:sp>
        <p:nvSpPr>
          <p:cNvPr id="14" name="Text 11"/>
          <p:cNvSpPr/>
          <p:nvPr/>
        </p:nvSpPr>
        <p:spPr>
          <a:xfrm>
            <a:off x="2734056" y="2194560"/>
            <a:ext cx="402336" cy="402336"/>
          </a:xfrm>
          <a:prstGeom prst="rect">
            <a:avLst/>
          </a:prstGeom>
          <a:noFill/>
          <a:ln/>
        </p:spPr>
        <p:txBody>
          <a:bodyPr wrap="square" rtlCol="0" anchor="ctr"/>
          <a:lstStyle/>
          <a:p>
            <a:pPr marL="0" indent="0" algn="ctr">
              <a:buNone/>
            </a:pPr>
            <a:r>
              <a:rPr lang="en-US" sz="1600" b="1">
                <a:solidFill>
                  <a:srgbClr val="FFFFFF"/>
                </a:solidFill>
                <a:latin typeface="Arial" pitchFamily="34" charset="0"/>
                <a:ea typeface="Arial" pitchFamily="34" charset="-122"/>
                <a:cs typeface="Arial" pitchFamily="34" charset="-120"/>
              </a:rPr>
              <a:t>2</a:t>
            </a:r>
            <a:endParaRPr lang="en-US" sz="1600"/>
          </a:p>
        </p:txBody>
      </p:sp>
      <p:sp>
        <p:nvSpPr>
          <p:cNvPr id="15" name="Text 12"/>
          <p:cNvSpPr/>
          <p:nvPr/>
        </p:nvSpPr>
        <p:spPr>
          <a:xfrm>
            <a:off x="2203704" y="2697480"/>
            <a:ext cx="1463040" cy="274320"/>
          </a:xfrm>
          <a:prstGeom prst="rect">
            <a:avLst/>
          </a:prstGeom>
          <a:noFill/>
          <a:ln/>
        </p:spPr>
        <p:txBody>
          <a:bodyPr wrap="square" rtlCol="0" anchor="ctr"/>
          <a:lstStyle/>
          <a:p>
            <a:pPr marL="0" indent="0" algn="ctr">
              <a:buNone/>
            </a:pPr>
            <a:r>
              <a:rPr lang="en-US" sz="1100" b="1">
                <a:solidFill>
                  <a:srgbClr val="024879"/>
                </a:solidFill>
                <a:latin typeface="Arial" pitchFamily="34" charset="0"/>
                <a:ea typeface="Arial" pitchFamily="34" charset="-122"/>
                <a:cs typeface="Arial" pitchFamily="34" charset="-120"/>
              </a:rPr>
              <a:t>Phase 2 - Live App Exploration</a:t>
            </a:r>
            <a:endParaRPr lang="en-US" sz="1100"/>
          </a:p>
        </p:txBody>
      </p:sp>
      <p:sp>
        <p:nvSpPr>
          <p:cNvPr id="16" name="Text 13"/>
          <p:cNvSpPr/>
          <p:nvPr/>
        </p:nvSpPr>
        <p:spPr>
          <a:xfrm>
            <a:off x="2221992" y="3298320"/>
            <a:ext cx="1426464" cy="1097280"/>
          </a:xfrm>
          <a:prstGeom prst="rect">
            <a:avLst/>
          </a:prstGeom>
          <a:noFill/>
          <a:ln/>
        </p:spPr>
        <p:txBody>
          <a:bodyPr wrap="square" rtlCol="0" anchor="ctr"/>
          <a:lstStyle/>
          <a:p>
            <a:pPr marL="0" indent="0" algn="ctr">
              <a:buNone/>
            </a:pPr>
            <a:r>
              <a:rPr lang="en-US" sz="950" i="1">
                <a:solidFill>
                  <a:srgbClr val="5A6B72"/>
                </a:solidFill>
                <a:latin typeface="Calibri" pitchFamily="34" charset="0"/>
                <a:ea typeface="Calibri" pitchFamily="34" charset="-122"/>
                <a:cs typeface="Calibri" pitchFamily="34" charset="-120"/>
              </a:rPr>
              <a:t>Agent opens Chrome via MCP Playwright, navigates each requirement flow, captures real selectors and expected values from the live OrangeHRM demo. No guessing, no stale locators.</a:t>
            </a:r>
            <a:endParaRPr lang="en-US" sz="950"/>
          </a:p>
        </p:txBody>
      </p:sp>
      <p:sp>
        <p:nvSpPr>
          <p:cNvPr id="17" name="Shape 14"/>
          <p:cNvSpPr/>
          <p:nvPr/>
        </p:nvSpPr>
        <p:spPr>
          <a:xfrm>
            <a:off x="3840480" y="2057400"/>
            <a:ext cx="1572768" cy="2606040"/>
          </a:xfrm>
          <a:prstGeom prst="roundRect">
            <a:avLst>
              <a:gd name="adj" fmla="val 3488"/>
            </a:avLst>
          </a:prstGeom>
          <a:solidFill>
            <a:srgbClr val="DFE7ED"/>
          </a:solidFill>
          <a:ln/>
        </p:spPr>
        <p:txBody>
          <a:bodyPr/>
          <a:lstStyle/>
          <a:p>
            <a:endParaRPr lang="en-US"/>
          </a:p>
        </p:txBody>
      </p:sp>
      <p:sp>
        <p:nvSpPr>
          <p:cNvPr id="18" name="Shape 15"/>
          <p:cNvSpPr/>
          <p:nvPr/>
        </p:nvSpPr>
        <p:spPr>
          <a:xfrm>
            <a:off x="4425696" y="2194560"/>
            <a:ext cx="402336" cy="402336"/>
          </a:xfrm>
          <a:prstGeom prst="ellipse">
            <a:avLst/>
          </a:prstGeom>
          <a:solidFill>
            <a:srgbClr val="075056"/>
          </a:solidFill>
          <a:ln/>
        </p:spPr>
        <p:txBody>
          <a:bodyPr/>
          <a:lstStyle/>
          <a:p>
            <a:endParaRPr lang="en-US"/>
          </a:p>
        </p:txBody>
      </p:sp>
      <p:sp>
        <p:nvSpPr>
          <p:cNvPr id="19" name="Text 16"/>
          <p:cNvSpPr/>
          <p:nvPr/>
        </p:nvSpPr>
        <p:spPr>
          <a:xfrm>
            <a:off x="4425696" y="2194560"/>
            <a:ext cx="402336" cy="402336"/>
          </a:xfrm>
          <a:prstGeom prst="rect">
            <a:avLst/>
          </a:prstGeom>
          <a:noFill/>
          <a:ln/>
        </p:spPr>
        <p:txBody>
          <a:bodyPr wrap="square" rtlCol="0" anchor="ctr"/>
          <a:lstStyle/>
          <a:p>
            <a:pPr marL="0" indent="0" algn="ctr">
              <a:buNone/>
            </a:pPr>
            <a:r>
              <a:rPr lang="en-US" sz="1600" b="1">
                <a:solidFill>
                  <a:srgbClr val="FFFFFF"/>
                </a:solidFill>
                <a:latin typeface="Arial" pitchFamily="34" charset="0"/>
                <a:ea typeface="Arial" pitchFamily="34" charset="-122"/>
                <a:cs typeface="Arial" pitchFamily="34" charset="-120"/>
              </a:rPr>
              <a:t>3</a:t>
            </a:r>
            <a:endParaRPr lang="en-US" sz="1600"/>
          </a:p>
        </p:txBody>
      </p:sp>
      <p:sp>
        <p:nvSpPr>
          <p:cNvPr id="20" name="Text 17"/>
          <p:cNvSpPr/>
          <p:nvPr/>
        </p:nvSpPr>
        <p:spPr>
          <a:xfrm>
            <a:off x="3895344" y="2697480"/>
            <a:ext cx="1463040" cy="274320"/>
          </a:xfrm>
          <a:prstGeom prst="rect">
            <a:avLst/>
          </a:prstGeom>
          <a:noFill/>
          <a:ln/>
        </p:spPr>
        <p:txBody>
          <a:bodyPr wrap="square" rtlCol="0" anchor="ctr"/>
          <a:lstStyle/>
          <a:p>
            <a:pPr marL="0" indent="0" algn="ctr">
              <a:buNone/>
            </a:pPr>
            <a:r>
              <a:rPr lang="en-US" sz="1100" b="1">
                <a:solidFill>
                  <a:srgbClr val="024879"/>
                </a:solidFill>
                <a:latin typeface="Arial" pitchFamily="34" charset="0"/>
                <a:ea typeface="Arial" pitchFamily="34" charset="-122"/>
                <a:cs typeface="Arial" pitchFamily="34" charset="-120"/>
              </a:rPr>
              <a:t>Phase 3 - Cypress Generation</a:t>
            </a:r>
            <a:endParaRPr lang="en-US" sz="1100"/>
          </a:p>
        </p:txBody>
      </p:sp>
      <p:sp>
        <p:nvSpPr>
          <p:cNvPr id="21" name="Text 18"/>
          <p:cNvSpPr/>
          <p:nvPr/>
        </p:nvSpPr>
        <p:spPr>
          <a:xfrm>
            <a:off x="3913632" y="3298320"/>
            <a:ext cx="1426464" cy="1097280"/>
          </a:xfrm>
          <a:prstGeom prst="rect">
            <a:avLst/>
          </a:prstGeom>
          <a:noFill/>
          <a:ln/>
        </p:spPr>
        <p:txBody>
          <a:bodyPr wrap="square" rtlCol="0" anchor="ctr"/>
          <a:lstStyle/>
          <a:p>
            <a:pPr marL="0" indent="0" algn="ctr">
              <a:buNone/>
            </a:pPr>
            <a:r>
              <a:rPr lang="en-US" sz="950" i="1">
                <a:solidFill>
                  <a:srgbClr val="5A6B72"/>
                </a:solidFill>
                <a:latin typeface="Calibri" pitchFamily="34" charset="0"/>
                <a:ea typeface="Calibri" pitchFamily="34" charset="-122"/>
                <a:cs typeface="Calibri" pitchFamily="34" charset="-120"/>
              </a:rPr>
              <a:t>Agent generates TypeScript Page Objects + spec files following CLAUDE.md conventions. POM pattern, credentials via Cypress.env(), describe blocks labeled with REQ IDs. 7 specs + 6 POMs generated.</a:t>
            </a:r>
            <a:endParaRPr lang="en-US" sz="950"/>
          </a:p>
        </p:txBody>
      </p:sp>
      <p:sp>
        <p:nvSpPr>
          <p:cNvPr id="22" name="Shape 19"/>
          <p:cNvSpPr/>
          <p:nvPr/>
        </p:nvSpPr>
        <p:spPr>
          <a:xfrm>
            <a:off x="5532120" y="2057400"/>
            <a:ext cx="1572768" cy="2606040"/>
          </a:xfrm>
          <a:prstGeom prst="roundRect">
            <a:avLst>
              <a:gd name="adj" fmla="val 3488"/>
            </a:avLst>
          </a:prstGeom>
          <a:solidFill>
            <a:srgbClr val="C5DCEE"/>
          </a:solidFill>
          <a:ln/>
        </p:spPr>
        <p:txBody>
          <a:bodyPr/>
          <a:lstStyle/>
          <a:p>
            <a:endParaRPr lang="en-US"/>
          </a:p>
        </p:txBody>
      </p:sp>
      <p:sp>
        <p:nvSpPr>
          <p:cNvPr id="23" name="Shape 20"/>
          <p:cNvSpPr/>
          <p:nvPr/>
        </p:nvSpPr>
        <p:spPr>
          <a:xfrm>
            <a:off x="6117336" y="2194560"/>
            <a:ext cx="402336" cy="402336"/>
          </a:xfrm>
          <a:prstGeom prst="ellipse">
            <a:avLst/>
          </a:prstGeom>
          <a:solidFill>
            <a:srgbClr val="075056"/>
          </a:solidFill>
          <a:ln/>
        </p:spPr>
        <p:txBody>
          <a:bodyPr/>
          <a:lstStyle/>
          <a:p>
            <a:endParaRPr lang="en-US"/>
          </a:p>
        </p:txBody>
      </p:sp>
      <p:sp>
        <p:nvSpPr>
          <p:cNvPr id="24" name="Text 21"/>
          <p:cNvSpPr/>
          <p:nvPr/>
        </p:nvSpPr>
        <p:spPr>
          <a:xfrm>
            <a:off x="6117336" y="2194560"/>
            <a:ext cx="402336" cy="402336"/>
          </a:xfrm>
          <a:prstGeom prst="rect">
            <a:avLst/>
          </a:prstGeom>
          <a:noFill/>
          <a:ln/>
        </p:spPr>
        <p:txBody>
          <a:bodyPr wrap="square" rtlCol="0" anchor="ctr"/>
          <a:lstStyle/>
          <a:p>
            <a:pPr marL="0" indent="0" algn="ctr">
              <a:buNone/>
            </a:pPr>
            <a:r>
              <a:rPr lang="en-US" sz="1600" b="1">
                <a:solidFill>
                  <a:srgbClr val="FFFFFF"/>
                </a:solidFill>
                <a:latin typeface="Arial" pitchFamily="34" charset="0"/>
                <a:ea typeface="Arial" pitchFamily="34" charset="-122"/>
                <a:cs typeface="Arial" pitchFamily="34" charset="-120"/>
              </a:rPr>
              <a:t>4</a:t>
            </a:r>
            <a:endParaRPr lang="en-US" sz="1600"/>
          </a:p>
        </p:txBody>
      </p:sp>
      <p:sp>
        <p:nvSpPr>
          <p:cNvPr id="25" name="Text 22"/>
          <p:cNvSpPr/>
          <p:nvPr/>
        </p:nvSpPr>
        <p:spPr>
          <a:xfrm>
            <a:off x="5586984" y="2697480"/>
            <a:ext cx="1463040" cy="274320"/>
          </a:xfrm>
          <a:prstGeom prst="rect">
            <a:avLst/>
          </a:prstGeom>
          <a:noFill/>
          <a:ln/>
        </p:spPr>
        <p:txBody>
          <a:bodyPr wrap="square" rtlCol="0" anchor="ctr"/>
          <a:lstStyle/>
          <a:p>
            <a:pPr marL="0" indent="0" algn="ctr">
              <a:buNone/>
            </a:pPr>
            <a:r>
              <a:rPr lang="en-US" sz="1100" b="1">
                <a:solidFill>
                  <a:srgbClr val="024879"/>
                </a:solidFill>
                <a:latin typeface="Arial" pitchFamily="34" charset="0"/>
                <a:ea typeface="Arial" pitchFamily="34" charset="-122"/>
                <a:cs typeface="Arial" pitchFamily="34" charset="-120"/>
              </a:rPr>
              <a:t>Phase 4 - Playwright Migration</a:t>
            </a:r>
            <a:endParaRPr lang="en-US" sz="1100"/>
          </a:p>
        </p:txBody>
      </p:sp>
      <p:sp>
        <p:nvSpPr>
          <p:cNvPr id="26" name="Text 23"/>
          <p:cNvSpPr/>
          <p:nvPr/>
        </p:nvSpPr>
        <p:spPr>
          <a:xfrm>
            <a:off x="5605272" y="3298320"/>
            <a:ext cx="1426464" cy="1097280"/>
          </a:xfrm>
          <a:prstGeom prst="rect">
            <a:avLst/>
          </a:prstGeom>
          <a:noFill/>
          <a:ln/>
        </p:spPr>
        <p:txBody>
          <a:bodyPr wrap="square" rtlCol="0" anchor="ctr"/>
          <a:lstStyle/>
          <a:p>
            <a:pPr marL="0" indent="0" algn="ctr">
              <a:buNone/>
            </a:pPr>
            <a:r>
              <a:rPr lang="en-US" sz="950" i="1">
                <a:solidFill>
                  <a:srgbClr val="5A6B72"/>
                </a:solidFill>
                <a:latin typeface="Calibri" pitchFamily="34" charset="0"/>
                <a:ea typeface="Calibri" pitchFamily="34" charset="-122"/>
                <a:cs typeface="Calibri" pitchFamily="34" charset="-120"/>
              </a:rPr>
              <a:t>Each Cypress spec + POM converted to Playwright Python BDD: Gherkin .feature file, Python Page Object, pytest-bdd step definitions. Same selectors confirmed once, reused in both frameworks.</a:t>
            </a:r>
            <a:endParaRPr lang="en-US" sz="950"/>
          </a:p>
        </p:txBody>
      </p:sp>
      <p:sp>
        <p:nvSpPr>
          <p:cNvPr id="27" name="Shape 24"/>
          <p:cNvSpPr/>
          <p:nvPr/>
        </p:nvSpPr>
        <p:spPr>
          <a:xfrm>
            <a:off x="7223760" y="2057400"/>
            <a:ext cx="1572768" cy="2606040"/>
          </a:xfrm>
          <a:prstGeom prst="roundRect">
            <a:avLst>
              <a:gd name="adj" fmla="val 3488"/>
            </a:avLst>
          </a:prstGeom>
          <a:solidFill>
            <a:srgbClr val="DFE7ED"/>
          </a:solidFill>
          <a:ln/>
        </p:spPr>
        <p:txBody>
          <a:bodyPr/>
          <a:lstStyle/>
          <a:p>
            <a:endParaRPr lang="en-US"/>
          </a:p>
        </p:txBody>
      </p:sp>
      <p:sp>
        <p:nvSpPr>
          <p:cNvPr id="28" name="Shape 25"/>
          <p:cNvSpPr/>
          <p:nvPr/>
        </p:nvSpPr>
        <p:spPr>
          <a:xfrm>
            <a:off x="7808976" y="2194560"/>
            <a:ext cx="402336" cy="402336"/>
          </a:xfrm>
          <a:prstGeom prst="ellipse">
            <a:avLst/>
          </a:prstGeom>
          <a:solidFill>
            <a:srgbClr val="075056"/>
          </a:solidFill>
          <a:ln/>
        </p:spPr>
        <p:txBody>
          <a:bodyPr/>
          <a:lstStyle/>
          <a:p>
            <a:endParaRPr lang="en-US"/>
          </a:p>
        </p:txBody>
      </p:sp>
      <p:sp>
        <p:nvSpPr>
          <p:cNvPr id="29" name="Text 26"/>
          <p:cNvSpPr/>
          <p:nvPr/>
        </p:nvSpPr>
        <p:spPr>
          <a:xfrm>
            <a:off x="7808976" y="2194560"/>
            <a:ext cx="402336" cy="402336"/>
          </a:xfrm>
          <a:prstGeom prst="rect">
            <a:avLst/>
          </a:prstGeom>
          <a:noFill/>
          <a:ln/>
        </p:spPr>
        <p:txBody>
          <a:bodyPr wrap="square" rtlCol="0" anchor="ctr"/>
          <a:lstStyle/>
          <a:p>
            <a:pPr marL="0" indent="0" algn="ctr">
              <a:buNone/>
            </a:pPr>
            <a:r>
              <a:rPr lang="en-US" sz="1600" b="1">
                <a:solidFill>
                  <a:srgbClr val="FFFFFF"/>
                </a:solidFill>
                <a:latin typeface="Arial" pitchFamily="34" charset="0"/>
                <a:ea typeface="Arial" pitchFamily="34" charset="-122"/>
                <a:cs typeface="Arial" pitchFamily="34" charset="-120"/>
              </a:rPr>
              <a:t>5</a:t>
            </a:r>
            <a:endParaRPr lang="en-US" sz="1600"/>
          </a:p>
        </p:txBody>
      </p:sp>
      <p:sp>
        <p:nvSpPr>
          <p:cNvPr id="30" name="Text 27"/>
          <p:cNvSpPr/>
          <p:nvPr/>
        </p:nvSpPr>
        <p:spPr>
          <a:xfrm>
            <a:off x="7278624" y="2697480"/>
            <a:ext cx="1463040" cy="274320"/>
          </a:xfrm>
          <a:prstGeom prst="rect">
            <a:avLst/>
          </a:prstGeom>
          <a:noFill/>
          <a:ln/>
        </p:spPr>
        <p:txBody>
          <a:bodyPr wrap="square" rtlCol="0" anchor="ctr"/>
          <a:lstStyle/>
          <a:p>
            <a:pPr marL="0" indent="0" algn="ctr">
              <a:buNone/>
            </a:pPr>
            <a:r>
              <a:rPr lang="en-US" sz="1100" b="1" dirty="0">
                <a:solidFill>
                  <a:srgbClr val="024879"/>
                </a:solidFill>
                <a:latin typeface="Arial" pitchFamily="34" charset="0"/>
                <a:ea typeface="Arial" pitchFamily="34" charset="-122"/>
                <a:cs typeface="Arial" pitchFamily="34" charset="-120"/>
              </a:rPr>
              <a:t>Phase 5 - Execution + Tester Review</a:t>
            </a:r>
            <a:endParaRPr lang="en-US" sz="1100" dirty="0"/>
          </a:p>
        </p:txBody>
      </p:sp>
      <p:sp>
        <p:nvSpPr>
          <p:cNvPr id="31" name="Text 28"/>
          <p:cNvSpPr/>
          <p:nvPr/>
        </p:nvSpPr>
        <p:spPr>
          <a:xfrm>
            <a:off x="7296912" y="3298320"/>
            <a:ext cx="1426464" cy="1097280"/>
          </a:xfrm>
          <a:prstGeom prst="rect">
            <a:avLst/>
          </a:prstGeom>
          <a:noFill/>
          <a:ln/>
        </p:spPr>
        <p:txBody>
          <a:bodyPr wrap="square" rtlCol="0" anchor="ctr"/>
          <a:lstStyle/>
          <a:p>
            <a:pPr marL="0" indent="0" algn="ctr">
              <a:buNone/>
            </a:pPr>
            <a:r>
              <a:rPr lang="en-US" sz="950" i="1">
                <a:solidFill>
                  <a:srgbClr val="5A6B72"/>
                </a:solidFill>
                <a:latin typeface="Calibri" pitchFamily="34" charset="0"/>
                <a:ea typeface="Calibri" pitchFamily="34" charset="-122"/>
                <a:cs typeface="Calibri" pitchFamily="34" charset="-120"/>
              </a:rPr>
              <a:t>Full suites run headless. Human review caught 3 code bugs. All fixed. 8/8 passing in both frameworks. Bugs documented in docs/ai_review.md and docs/measured_improvement.md.</a:t>
            </a:r>
            <a:endParaRPr lang="en-US" sz="950"/>
          </a:p>
        </p:txBody>
      </p:sp>
      <p:sp>
        <p:nvSpPr>
          <p:cNvPr id="32" name="Text 29"/>
          <p:cNvSpPr/>
          <p:nvPr/>
        </p:nvSpPr>
        <p:spPr>
          <a:xfrm>
            <a:off x="457200" y="4732020"/>
            <a:ext cx="8229600" cy="274320"/>
          </a:xfrm>
          <a:prstGeom prst="rect">
            <a:avLst/>
          </a:prstGeom>
          <a:noFill/>
          <a:ln/>
        </p:spPr>
        <p:txBody>
          <a:bodyPr wrap="square" rtlCol="0" anchor="ctr"/>
          <a:lstStyle/>
          <a:p>
            <a:pPr marL="0" indent="0">
              <a:buNone/>
            </a:pPr>
            <a:r>
              <a:rPr lang="en-US" sz="1000" i="1" dirty="0">
                <a:solidFill>
                  <a:srgbClr val="5A6B72"/>
                </a:solidFill>
                <a:latin typeface="Calibri" pitchFamily="34" charset="0"/>
                <a:ea typeface="Calibri" pitchFamily="34" charset="-122"/>
                <a:cs typeface="Calibri" pitchFamily="34" charset="-120"/>
              </a:rPr>
              <a:t>Add or remove steps to match your actual workflow.</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Before → After</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Shape 1"/>
          <p:cNvSpPr/>
          <p:nvPr/>
        </p:nvSpPr>
        <p:spPr>
          <a:xfrm>
            <a:off x="457200" y="1097280"/>
            <a:ext cx="3977640" cy="457200"/>
          </a:xfrm>
          <a:prstGeom prst="roundRect">
            <a:avLst>
              <a:gd name="adj" fmla="val 10000"/>
            </a:avLst>
          </a:prstGeom>
          <a:solidFill>
            <a:srgbClr val="5A6B72"/>
          </a:solidFill>
          <a:ln/>
        </p:spPr>
        <p:txBody>
          <a:bodyPr/>
          <a:lstStyle/>
          <a:p>
            <a:endParaRPr lang="en-US"/>
          </a:p>
        </p:txBody>
      </p:sp>
      <p:sp>
        <p:nvSpPr>
          <p:cNvPr id="5" name="Text 2"/>
          <p:cNvSpPr/>
          <p:nvPr/>
        </p:nvSpPr>
        <p:spPr>
          <a:xfrm>
            <a:off x="457200" y="1097280"/>
            <a:ext cx="3977640" cy="45720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BEFORE - Manual Cypress-to-Playwright Migration</a:t>
            </a:r>
            <a:endParaRPr lang="en-US" sz="1400" dirty="0"/>
          </a:p>
        </p:txBody>
      </p:sp>
      <p:sp>
        <p:nvSpPr>
          <p:cNvPr id="6" name="Text 3"/>
          <p:cNvSpPr/>
          <p:nvPr/>
        </p:nvSpPr>
        <p:spPr>
          <a:xfrm>
            <a:off x="548640" y="1691640"/>
            <a:ext cx="3794760" cy="2926080"/>
          </a:xfrm>
          <a:prstGeom prst="rect">
            <a:avLst/>
          </a:prstGeom>
          <a:noFill/>
          <a:ln/>
        </p:spPr>
        <p:txBody>
          <a:bodyPr wrap="square" rtlCol="0" anchor="t"/>
          <a:lstStyle/>
          <a:p>
            <a:pPr marL="152400" indent="-152400">
              <a:spcAft>
                <a:spcPts val="600"/>
              </a:spcAft>
              <a:buSzPct val="100000"/>
              <a:buChar char="•"/>
            </a:pPr>
            <a:r>
              <a:rPr lang="en-US" sz="1200" dirty="0">
                <a:solidFill>
                  <a:srgbClr val="1B2227"/>
                </a:solidFill>
                <a:latin typeface="Calibri" pitchFamily="34" charset="0"/>
                <a:ea typeface="Calibri" pitchFamily="34" charset="-122"/>
                <a:cs typeface="Calibri" pitchFamily="34" charset="-120"/>
              </a:rPr>
              <a:t>Re-verify every selector in Playwright manually</a:t>
            </a:r>
          </a:p>
          <a:p>
            <a:pPr marL="152400" indent="-152400">
              <a:spcAft>
                <a:spcPts val="600"/>
              </a:spcAft>
              <a:buSzPct val="100000"/>
              <a:buChar char="•"/>
            </a:pPr>
            <a:r>
              <a:rPr lang="en-US" sz="1200" dirty="0">
                <a:solidFill>
                  <a:srgbClr val="1B2227"/>
                </a:solidFill>
                <a:latin typeface="Calibri" pitchFamily="34" charset="0"/>
                <a:ea typeface="Calibri" pitchFamily="34" charset="-122"/>
                <a:cs typeface="Calibri" pitchFamily="34" charset="-120"/>
              </a:rPr>
              <a:t>Rewrite each POM class from TypeScript to Python</a:t>
            </a:r>
          </a:p>
          <a:p>
            <a:pPr marL="152400" indent="-152400">
              <a:spcAft>
                <a:spcPts val="600"/>
              </a:spcAft>
              <a:buSzPct val="100000"/>
              <a:buChar char="•"/>
            </a:pPr>
            <a:r>
              <a:rPr lang="en-US" sz="1200" dirty="0">
                <a:solidFill>
                  <a:srgbClr val="1B2227"/>
                </a:solidFill>
                <a:latin typeface="Calibri" pitchFamily="34" charset="0"/>
                <a:ea typeface="Calibri" pitchFamily="34" charset="-122"/>
                <a:cs typeface="Calibri" pitchFamily="34" charset="-120"/>
              </a:rPr>
              <a:t>Author Gherkin .feature files from scratch </a:t>
            </a:r>
          </a:p>
          <a:p>
            <a:pPr marL="152400" indent="-152400">
              <a:spcAft>
                <a:spcPts val="600"/>
              </a:spcAft>
              <a:buSzPct val="100000"/>
              <a:buChar char="•"/>
            </a:pPr>
            <a:r>
              <a:rPr lang="en-US" sz="1200" dirty="0">
                <a:solidFill>
                  <a:srgbClr val="1B2227"/>
                </a:solidFill>
                <a:latin typeface="Calibri" pitchFamily="34" charset="0"/>
                <a:ea typeface="Calibri" pitchFamily="34" charset="-122"/>
                <a:cs typeface="Calibri" pitchFamily="34" charset="-120"/>
              </a:rPr>
              <a:t>Write </a:t>
            </a:r>
            <a:r>
              <a:rPr lang="en-US" sz="1200" dirty="0" err="1">
                <a:solidFill>
                  <a:srgbClr val="1B2227"/>
                </a:solidFill>
                <a:latin typeface="Calibri" pitchFamily="34" charset="0"/>
                <a:ea typeface="Calibri" pitchFamily="34" charset="-122"/>
                <a:cs typeface="Calibri" pitchFamily="34" charset="-120"/>
              </a:rPr>
              <a:t>pytest-bdd</a:t>
            </a:r>
            <a:r>
              <a:rPr lang="en-US" sz="1200" dirty="0">
                <a:solidFill>
                  <a:srgbClr val="1B2227"/>
                </a:solidFill>
                <a:latin typeface="Calibri" pitchFamily="34" charset="0"/>
                <a:ea typeface="Calibri" pitchFamily="34" charset="-122"/>
                <a:cs typeface="Calibri" pitchFamily="34" charset="-120"/>
              </a:rPr>
              <a:t> step definitions </a:t>
            </a:r>
          </a:p>
          <a:p>
            <a:pPr marL="152400" indent="-152400">
              <a:spcAft>
                <a:spcPts val="600"/>
              </a:spcAft>
              <a:buSzPct val="100000"/>
              <a:buChar char="•"/>
            </a:pPr>
            <a:r>
              <a:rPr lang="en-US" sz="1200" dirty="0">
                <a:solidFill>
                  <a:srgbClr val="1B2227"/>
                </a:solidFill>
                <a:latin typeface="Calibri" pitchFamily="34" charset="0"/>
                <a:ea typeface="Calibri" pitchFamily="34" charset="-122"/>
                <a:cs typeface="Calibri" pitchFamily="34" charset="-120"/>
              </a:rPr>
              <a:t>Write scenarios test fixtures </a:t>
            </a:r>
          </a:p>
          <a:p>
            <a:pPr marL="152400" indent="-152400">
              <a:spcAft>
                <a:spcPts val="600"/>
              </a:spcAft>
              <a:buSzPct val="100000"/>
              <a:buChar char="•"/>
            </a:pPr>
            <a:r>
              <a:rPr lang="en-US" sz="1200" dirty="0">
                <a:solidFill>
                  <a:srgbClr val="1B2227"/>
                </a:solidFill>
                <a:latin typeface="Calibri" pitchFamily="34" charset="0"/>
                <a:ea typeface="Calibri" pitchFamily="34" charset="-122"/>
                <a:cs typeface="Calibri" pitchFamily="34" charset="-120"/>
              </a:rPr>
              <a:t>Estimated time: 4-5 days per suite </a:t>
            </a:r>
          </a:p>
          <a:p>
            <a:pPr marL="152400" indent="-152400">
              <a:spcAft>
                <a:spcPts val="600"/>
              </a:spcAft>
              <a:buSzPct val="100000"/>
              <a:buChar char="•"/>
            </a:pPr>
            <a:r>
              <a:rPr lang="en-US" sz="1200" dirty="0">
                <a:solidFill>
                  <a:srgbClr val="1B2227"/>
                </a:solidFill>
                <a:latin typeface="Calibri" pitchFamily="34" charset="0"/>
                <a:ea typeface="Calibri" pitchFamily="34" charset="-122"/>
                <a:cs typeface="Calibri" pitchFamily="34" charset="-120"/>
              </a:rPr>
              <a:t>Risk: stale selectors, missed steps, credential leaks in code</a:t>
            </a:r>
          </a:p>
          <a:p>
            <a:pPr marL="152400" indent="-152400">
              <a:spcAft>
                <a:spcPts val="600"/>
              </a:spcAft>
              <a:buSzPct val="100000"/>
              <a:buChar char="•"/>
            </a:pPr>
            <a:r>
              <a:rPr lang="en-US" sz="1200" dirty="0"/>
              <a:t>Quality issues: The initial user-defined order conflicted with the system's operation; the execution order had to be reorganized.</a:t>
            </a:r>
          </a:p>
        </p:txBody>
      </p:sp>
      <p:sp>
        <p:nvSpPr>
          <p:cNvPr id="7" name="Shape 4"/>
          <p:cNvSpPr/>
          <p:nvPr/>
        </p:nvSpPr>
        <p:spPr>
          <a:xfrm>
            <a:off x="4709160" y="1097280"/>
            <a:ext cx="3977640" cy="457200"/>
          </a:xfrm>
          <a:prstGeom prst="roundRect">
            <a:avLst>
              <a:gd name="adj" fmla="val 10000"/>
            </a:avLst>
          </a:prstGeom>
          <a:solidFill>
            <a:srgbClr val="075056"/>
          </a:solidFill>
          <a:ln/>
        </p:spPr>
        <p:txBody>
          <a:bodyPr/>
          <a:lstStyle/>
          <a:p>
            <a:endParaRPr lang="en-US"/>
          </a:p>
        </p:txBody>
      </p:sp>
      <p:sp>
        <p:nvSpPr>
          <p:cNvPr id="8" name="Text 5"/>
          <p:cNvSpPr/>
          <p:nvPr/>
        </p:nvSpPr>
        <p:spPr>
          <a:xfrm>
            <a:off x="4709160" y="1097280"/>
            <a:ext cx="3977640" cy="457200"/>
          </a:xfrm>
          <a:prstGeom prst="rect">
            <a:avLst/>
          </a:prstGeom>
          <a:noFill/>
          <a:ln/>
        </p:spPr>
        <p:txBody>
          <a:bodyPr wrap="square" rtlCol="0" anchor="ctr"/>
          <a:lstStyle/>
          <a:p>
            <a:pPr marL="0" indent="0" algn="ctr">
              <a:buNone/>
            </a:pPr>
            <a:r>
              <a:rPr lang="en-US" sz="1400" b="1">
                <a:solidFill>
                  <a:srgbClr val="FFFFFF"/>
                </a:solidFill>
                <a:latin typeface="Arial" pitchFamily="34" charset="0"/>
                <a:ea typeface="Arial" pitchFamily="34" charset="-122"/>
                <a:cs typeface="Arial" pitchFamily="34" charset="-120"/>
              </a:rPr>
              <a:t>AFTER - Agent-Driven Migration</a:t>
            </a:r>
            <a:endParaRPr lang="en-US" sz="1400"/>
          </a:p>
        </p:txBody>
      </p:sp>
      <p:sp>
        <p:nvSpPr>
          <p:cNvPr id="9" name="Text 6"/>
          <p:cNvSpPr/>
          <p:nvPr/>
        </p:nvSpPr>
        <p:spPr>
          <a:xfrm>
            <a:off x="4800600" y="1691640"/>
            <a:ext cx="3794760" cy="2926080"/>
          </a:xfrm>
          <a:prstGeom prst="rect">
            <a:avLst/>
          </a:prstGeom>
          <a:noFill/>
          <a:ln/>
        </p:spPr>
        <p:txBody>
          <a:bodyPr wrap="square" rtlCol="0" anchor="t"/>
          <a:lstStyle/>
          <a:p>
            <a:pPr marL="152400" indent="-152400">
              <a:spcAft>
                <a:spcPts val="600"/>
              </a:spcAft>
              <a:buSzPct val="100000"/>
              <a:buChar char="•"/>
            </a:pPr>
            <a:r>
              <a:rPr lang="en-US" sz="1200" dirty="0">
                <a:solidFill>
                  <a:srgbClr val="1B2227"/>
                </a:solidFill>
                <a:latin typeface="Calibri" pitchFamily="34" charset="0"/>
                <a:ea typeface="Calibri" pitchFamily="34" charset="-122"/>
                <a:cs typeface="Calibri" pitchFamily="34" charset="-120"/>
              </a:rPr>
              <a:t>Agent explores live app via MCP Playwright - real selectors, one pass </a:t>
            </a:r>
          </a:p>
          <a:p>
            <a:pPr marL="152400" indent="-152400">
              <a:spcAft>
                <a:spcPts val="600"/>
              </a:spcAft>
              <a:buSzPct val="100000"/>
              <a:buChar char="•"/>
            </a:pPr>
            <a:r>
              <a:rPr lang="en-US" sz="1200" dirty="0">
                <a:solidFill>
                  <a:srgbClr val="1B2227"/>
                </a:solidFill>
                <a:latin typeface="Calibri" pitchFamily="34" charset="0"/>
                <a:ea typeface="Calibri" pitchFamily="34" charset="-122"/>
                <a:cs typeface="Calibri" pitchFamily="34" charset="-120"/>
              </a:rPr>
              <a:t>Generates Cypress TS suite from requirements doc </a:t>
            </a:r>
          </a:p>
          <a:p>
            <a:pPr marL="152400" indent="-152400">
              <a:spcAft>
                <a:spcPts val="600"/>
              </a:spcAft>
              <a:buSzPct val="100000"/>
              <a:buChar char="•"/>
            </a:pPr>
            <a:r>
              <a:rPr lang="en-US" sz="1200" dirty="0">
                <a:solidFill>
                  <a:srgbClr val="1B2227"/>
                </a:solidFill>
                <a:latin typeface="Calibri" pitchFamily="34" charset="0"/>
                <a:ea typeface="Calibri" pitchFamily="34" charset="-122"/>
                <a:cs typeface="Calibri" pitchFamily="34" charset="-120"/>
              </a:rPr>
              <a:t>Migrates to Playwright Python BDD automatically </a:t>
            </a:r>
          </a:p>
          <a:p>
            <a:pPr marL="152400" indent="-152400">
              <a:spcAft>
                <a:spcPts val="600"/>
              </a:spcAft>
              <a:buSzPct val="100000"/>
              <a:buChar char="•"/>
            </a:pPr>
            <a:r>
              <a:rPr lang="en-US" sz="1200" dirty="0">
                <a:solidFill>
                  <a:srgbClr val="1B2227"/>
                </a:solidFill>
                <a:latin typeface="Calibri" pitchFamily="34" charset="0"/>
                <a:ea typeface="Calibri" pitchFamily="34" charset="-122"/>
                <a:cs typeface="Calibri" pitchFamily="34" charset="-120"/>
              </a:rPr>
              <a:t>Tester reviews output, catches 3 bugs, runs suite </a:t>
            </a:r>
          </a:p>
          <a:p>
            <a:pPr marL="152400" indent="-152400">
              <a:spcAft>
                <a:spcPts val="600"/>
              </a:spcAft>
              <a:buSzPct val="100000"/>
              <a:buChar char="•"/>
            </a:pPr>
            <a:r>
              <a:rPr lang="en-US" sz="1200" dirty="0">
                <a:solidFill>
                  <a:srgbClr val="1B2227"/>
                </a:solidFill>
                <a:latin typeface="Calibri" pitchFamily="34" charset="0"/>
                <a:ea typeface="Calibri" pitchFamily="34" charset="-122"/>
                <a:cs typeface="Calibri" pitchFamily="34" charset="-120"/>
              </a:rPr>
              <a:t>Total time: ~7h end-to-end </a:t>
            </a:r>
          </a:p>
          <a:p>
            <a:pPr marL="152400" indent="-152400">
              <a:spcAft>
                <a:spcPts val="600"/>
              </a:spcAft>
              <a:buSzPct val="100000"/>
              <a:buChar char="•"/>
            </a:pPr>
            <a:r>
              <a:rPr lang="en-US" sz="1200" dirty="0">
                <a:solidFill>
                  <a:srgbClr val="1B2227"/>
                </a:solidFill>
                <a:latin typeface="Calibri" pitchFamily="34" charset="0"/>
                <a:ea typeface="Calibri" pitchFamily="34" charset="-122"/>
                <a:cs typeface="Calibri" pitchFamily="34" charset="-120"/>
              </a:rPr>
              <a:t>First-pass: 6/8 tests passing before any manual fix </a:t>
            </a:r>
          </a:p>
          <a:p>
            <a:pPr marL="152400" indent="-152400">
              <a:spcAft>
                <a:spcPts val="600"/>
              </a:spcAft>
              <a:buSzPct val="100000"/>
              <a:buChar char="•"/>
            </a:pPr>
            <a:r>
              <a:rPr lang="en-US" sz="1200" dirty="0">
                <a:solidFill>
                  <a:srgbClr val="1B2227"/>
                </a:solidFill>
                <a:latin typeface="Calibri" pitchFamily="34" charset="0"/>
                <a:ea typeface="Calibri" pitchFamily="34" charset="-122"/>
                <a:cs typeface="Calibri" pitchFamily="34" charset="-120"/>
              </a:rPr>
              <a:t>Final: 8/8 passing after 3 targeted fixes.</a:t>
            </a:r>
          </a:p>
          <a:p>
            <a:pPr marL="152400" indent="-152400">
              <a:spcAft>
                <a:spcPts val="600"/>
              </a:spcAft>
              <a:buSzPct val="100000"/>
              <a:buChar char="•"/>
            </a:pPr>
            <a:r>
              <a:rPr lang="en-US" sz="1200" dirty="0">
                <a:solidFill>
                  <a:srgbClr val="1B2227"/>
                </a:solidFill>
                <a:latin typeface="Calibri" pitchFamily="34" charset="0"/>
                <a:ea typeface="Calibri" pitchFamily="34" charset="-122"/>
                <a:cs typeface="Calibri" pitchFamily="34" charset="-120"/>
              </a:rPr>
              <a:t>Time estimated manual migration: 5 days</a:t>
            </a:r>
            <a:br>
              <a:rPr lang="en-US" sz="1200" dirty="0">
                <a:solidFill>
                  <a:srgbClr val="1B2227"/>
                </a:solidFill>
                <a:latin typeface="Calibri" pitchFamily="34" charset="0"/>
                <a:ea typeface="Calibri" pitchFamily="34" charset="-122"/>
                <a:cs typeface="Calibri" pitchFamily="34" charset="-120"/>
              </a:rPr>
            </a:br>
            <a:r>
              <a:rPr lang="en-US" sz="1200" dirty="0">
                <a:solidFill>
                  <a:srgbClr val="1B2227"/>
                </a:solidFill>
                <a:latin typeface="Calibri" pitchFamily="34" charset="0"/>
                <a:ea typeface="Calibri" pitchFamily="34" charset="-122"/>
                <a:cs typeface="Calibri" pitchFamily="34" charset="-120"/>
              </a:rPr>
              <a:t>Time real with AI migration: 2 days </a:t>
            </a:r>
            <a:endParaRPr lang="en-US" sz="1200" dirty="0"/>
          </a:p>
        </p:txBody>
      </p:sp>
      <p:sp>
        <p:nvSpPr>
          <p:cNvPr id="10" name="Text 7"/>
          <p:cNvSpPr/>
          <p:nvPr/>
        </p:nvSpPr>
        <p:spPr>
          <a:xfrm>
            <a:off x="457200" y="4709160"/>
            <a:ext cx="8229600" cy="274320"/>
          </a:xfrm>
          <a:prstGeom prst="rect">
            <a:avLst/>
          </a:prstGeom>
          <a:noFill/>
          <a:ln/>
        </p:spPr>
        <p:txBody>
          <a:bodyPr wrap="square" rtlCol="0" anchor="ctr"/>
          <a:lstStyle/>
          <a:p>
            <a:pPr marL="0" indent="0">
              <a:buNone/>
            </a:pPr>
            <a:r>
              <a:rPr lang="en-US" sz="1000" i="1">
                <a:solidFill>
                  <a:srgbClr val="5A6B72"/>
                </a:solidFill>
                <a:latin typeface="Calibri" pitchFamily="34" charset="0"/>
                <a:ea typeface="Calibri" pitchFamily="34" charset="-122"/>
                <a:cs typeface="Calibri" pitchFamily="34" charset="-120"/>
              </a:rPr>
              <a:t>Paste a screenshot of your AI output on this slide.</a:t>
            </a:r>
            <a:endParaRPr 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AI Impact Scorecard</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165945302"/>
              </p:ext>
            </p:extLst>
          </p:nvPr>
        </p:nvGraphicFramePr>
        <p:xfrm>
          <a:off x="457200" y="1143000"/>
          <a:ext cx="8229600" cy="2240280"/>
        </p:xfrm>
        <a:graphic>
          <a:graphicData uri="http://schemas.openxmlformats.org/drawingml/2006/table">
            <a:tbl>
              <a:tblPr/>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11480">
                <a:tc>
                  <a:txBody>
                    <a:bodyPr/>
                    <a:lstStyle/>
                    <a:p>
                      <a:pPr marL="0" indent="0">
                        <a:buNone/>
                      </a:pPr>
                      <a:r>
                        <a:rPr lang="en-US" sz="1200" b="1">
                          <a:solidFill>
                            <a:srgbClr val="FFFFFF"/>
                          </a:solidFill>
                          <a:latin typeface="Calibri" pitchFamily="34" charset="0"/>
                          <a:ea typeface="Calibri" pitchFamily="34" charset="-122"/>
                          <a:cs typeface="Calibri" pitchFamily="34" charset="-120"/>
                        </a:rPr>
                        <a:t>Metric</a:t>
                      </a:r>
                      <a:endParaRPr lang="en-US" sz="12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075056"/>
                    </a:solidFill>
                  </a:tcPr>
                </a:tc>
                <a:tc>
                  <a:txBody>
                    <a:bodyPr/>
                    <a:lstStyle/>
                    <a:p>
                      <a:pPr marL="0" indent="0">
                        <a:buNone/>
                      </a:pPr>
                      <a:r>
                        <a:rPr lang="en-US" sz="1200" b="1">
                          <a:solidFill>
                            <a:srgbClr val="FFFFFF"/>
                          </a:solidFill>
                          <a:latin typeface="Calibri" pitchFamily="34" charset="0"/>
                          <a:ea typeface="Calibri" pitchFamily="34" charset="-122"/>
                          <a:cs typeface="Calibri" pitchFamily="34" charset="-120"/>
                        </a:rPr>
                        <a:t>Before AI</a:t>
                      </a:r>
                      <a:endParaRPr lang="en-US" sz="12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075056"/>
                    </a:solidFill>
                  </a:tcPr>
                </a:tc>
                <a:tc>
                  <a:txBody>
                    <a:bodyPr/>
                    <a:lstStyle/>
                    <a:p>
                      <a:pPr marL="0" indent="0">
                        <a:buNone/>
                      </a:pPr>
                      <a:r>
                        <a:rPr lang="en-US" sz="1200" b="1">
                          <a:solidFill>
                            <a:srgbClr val="FFFFFF"/>
                          </a:solidFill>
                          <a:latin typeface="Calibri" pitchFamily="34" charset="0"/>
                          <a:ea typeface="Calibri" pitchFamily="34" charset="-122"/>
                          <a:cs typeface="Calibri" pitchFamily="34" charset="-120"/>
                        </a:rPr>
                        <a:t>After AI</a:t>
                      </a:r>
                      <a:endParaRPr lang="en-US" sz="12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075056"/>
                    </a:solidFill>
                  </a:tcPr>
                </a:tc>
                <a:tc>
                  <a:txBody>
                    <a:bodyPr/>
                    <a:lstStyle/>
                    <a:p>
                      <a:pPr marL="0" indent="0">
                        <a:buNone/>
                      </a:pPr>
                      <a:r>
                        <a:rPr lang="en-US" sz="1200" b="1">
                          <a:solidFill>
                            <a:srgbClr val="FFFFFF"/>
                          </a:solidFill>
                          <a:latin typeface="Calibri" pitchFamily="34" charset="0"/>
                          <a:ea typeface="Calibri" pitchFamily="34" charset="-122"/>
                          <a:cs typeface="Calibri" pitchFamily="34" charset="-120"/>
                        </a:rPr>
                        <a:t>Impact</a:t>
                      </a:r>
                      <a:endParaRPr lang="en-US" sz="12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075056"/>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1B2227"/>
                          </a:solidFill>
                          <a:latin typeface="Calibri" pitchFamily="34" charset="0"/>
                          <a:ea typeface="Calibri" pitchFamily="34" charset="-122"/>
                          <a:cs typeface="Calibri" pitchFamily="34" charset="-120"/>
                        </a:rPr>
                        <a:t>Scenarios in Cypress framework - Typescript</a:t>
                      </a:r>
                      <a:endParaRPr lang="en-US" sz="1200" dirty="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r>
                        <a:rPr lang="en-US" sz="1200" dirty="0">
                          <a:solidFill>
                            <a:srgbClr val="1B2227"/>
                          </a:solidFill>
                          <a:latin typeface="Calibri" pitchFamily="34" charset="0"/>
                          <a:ea typeface="Calibri" pitchFamily="34" charset="-122"/>
                          <a:cs typeface="Calibri" pitchFamily="34" charset="-120"/>
                        </a:rPr>
                        <a:t>8 Hours</a:t>
                      </a:r>
                      <a:endParaRPr lang="en-US" sz="1200" dirty="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r>
                        <a:rPr lang="en-US" sz="1200" dirty="0">
                          <a:solidFill>
                            <a:srgbClr val="1B2227"/>
                          </a:solidFill>
                          <a:latin typeface="Calibri" pitchFamily="34" charset="0"/>
                          <a:ea typeface="Calibri" pitchFamily="34" charset="-122"/>
                          <a:cs typeface="Calibri" pitchFamily="34" charset="-120"/>
                        </a:rPr>
                        <a:t>1 Hour</a:t>
                      </a:r>
                      <a:endParaRPr lang="en-US" sz="1200" dirty="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r>
                        <a:rPr lang="en-US" sz="1200" dirty="0">
                          <a:solidFill>
                            <a:srgbClr val="1B2227"/>
                          </a:solidFill>
                          <a:latin typeface="Calibri" pitchFamily="34" charset="0"/>
                          <a:ea typeface="Calibri" pitchFamily="34" charset="-122"/>
                          <a:cs typeface="Calibri" pitchFamily="34" charset="-120"/>
                        </a:rPr>
                        <a:t>87,5 % Time saved</a:t>
                      </a:r>
                      <a:endParaRPr lang="en-US" sz="1200" dirty="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dirty="0">
                          <a:solidFill>
                            <a:srgbClr val="1B2227"/>
                          </a:solidFill>
                          <a:latin typeface="Calibri" pitchFamily="34" charset="0"/>
                          <a:ea typeface="Calibri" pitchFamily="34" charset="-122"/>
                          <a:cs typeface="Calibri" pitchFamily="34" charset="-120"/>
                        </a:rPr>
                        <a:t>Scenarios in Playwright framework – BDD and Python</a:t>
                      </a:r>
                      <a:endParaRPr lang="en-US" sz="1200" dirty="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r>
                        <a:rPr lang="en-US" sz="1200" dirty="0">
                          <a:solidFill>
                            <a:srgbClr val="1B2227"/>
                          </a:solidFill>
                          <a:latin typeface="Calibri" pitchFamily="34" charset="0"/>
                          <a:ea typeface="Calibri" pitchFamily="34" charset="-122"/>
                          <a:cs typeface="Calibri" pitchFamily="34" charset="-120"/>
                        </a:rPr>
                        <a:t>12 Hours</a:t>
                      </a:r>
                      <a:endParaRPr lang="en-US" sz="1200" dirty="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r>
                        <a:rPr lang="en-US" sz="1200" dirty="0">
                          <a:solidFill>
                            <a:srgbClr val="1B2227"/>
                          </a:solidFill>
                          <a:latin typeface="Calibri" pitchFamily="34" charset="0"/>
                          <a:ea typeface="Calibri" pitchFamily="34" charset="-122"/>
                          <a:cs typeface="Calibri" pitchFamily="34" charset="-120"/>
                        </a:rPr>
                        <a:t>1 Hour</a:t>
                      </a:r>
                      <a:endParaRPr lang="en-US" sz="1200" dirty="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r>
                        <a:rPr lang="en-US" sz="1200" dirty="0">
                          <a:solidFill>
                            <a:srgbClr val="1B2227"/>
                          </a:solidFill>
                          <a:latin typeface="Calibri" pitchFamily="34" charset="0"/>
                          <a:ea typeface="Calibri" pitchFamily="34" charset="-122"/>
                          <a:cs typeface="Calibri" pitchFamily="34" charset="-120"/>
                        </a:rPr>
                        <a:t>91,6 % Time saved</a:t>
                      </a:r>
                      <a:endParaRPr lang="en-US" sz="1200" dirty="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00" dirty="0">
                          <a:solidFill>
                            <a:srgbClr val="1B2227"/>
                          </a:solidFill>
                          <a:latin typeface="Calibri" pitchFamily="34" charset="0"/>
                          <a:ea typeface="Calibri" pitchFamily="34" charset="-122"/>
                          <a:cs typeface="Calibri" pitchFamily="34" charset="-120"/>
                        </a:rPr>
                        <a:t>Quality / error rate</a:t>
                      </a:r>
                      <a:endParaRPr lang="en-US" sz="1200" dirty="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r>
                        <a:rPr lang="en-US" sz="1200" dirty="0">
                          <a:solidFill>
                            <a:srgbClr val="1B2227"/>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r>
                        <a:rPr lang="en-US" sz="1200" dirty="0">
                          <a:solidFill>
                            <a:srgbClr val="1B2227"/>
                          </a:solidFill>
                          <a:latin typeface="Calibri" pitchFamily="34" charset="0"/>
                          <a:ea typeface="Calibri" pitchFamily="34" charset="-122"/>
                          <a:cs typeface="Calibri" pitchFamily="34" charset="-120"/>
                        </a:rPr>
                        <a:t>Hight</a:t>
                      </a:r>
                      <a:endParaRPr lang="en-US" sz="1200" dirty="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r>
                        <a:rPr lang="en-US" sz="1200" dirty="0">
                          <a:solidFill>
                            <a:srgbClr val="1B2227"/>
                          </a:solidFill>
                          <a:latin typeface="Calibri" pitchFamily="34" charset="0"/>
                          <a:ea typeface="Calibri" pitchFamily="34" charset="-122"/>
                          <a:cs typeface="Calibri" pitchFamily="34" charset="-120"/>
                        </a:rPr>
                        <a:t>Coverage and speed in test scenarios</a:t>
                      </a:r>
                      <a:endParaRPr lang="en-US" sz="1200" dirty="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dirty="0">
                          <a:solidFill>
                            <a:srgbClr val="1B2227"/>
                          </a:solidFill>
                          <a:latin typeface="Calibri" pitchFamily="34" charset="0"/>
                          <a:ea typeface="Calibri" pitchFamily="34" charset="-122"/>
                          <a:cs typeface="Calibri" pitchFamily="34" charset="-120"/>
                        </a:rPr>
                        <a:t>Team benefit</a:t>
                      </a:r>
                      <a:endParaRPr lang="en-US" sz="1200" dirty="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r>
                        <a:rPr lang="en-US" sz="1200">
                          <a:solidFill>
                            <a:srgbClr val="1B2227"/>
                          </a:solidFill>
                          <a:latin typeface="Calibri" pitchFamily="34" charset="0"/>
                          <a:ea typeface="Calibri" pitchFamily="34" charset="-122"/>
                          <a:cs typeface="Calibri" pitchFamily="34" charset="-120"/>
                        </a:rPr>
                        <a:t>N/A</a:t>
                      </a:r>
                      <a:endParaRPr lang="en-US" sz="12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r>
                        <a:rPr lang="en-US" sz="1200" dirty="0">
                          <a:solidFill>
                            <a:srgbClr val="1B2227"/>
                          </a:solidFill>
                          <a:latin typeface="Calibri" pitchFamily="34" charset="0"/>
                          <a:ea typeface="Calibri" pitchFamily="34" charset="-122"/>
                          <a:cs typeface="Calibri" pitchFamily="34" charset="-120"/>
                        </a:rPr>
                        <a:t>3 hours</a:t>
                      </a:r>
                      <a:endParaRPr lang="en-US" sz="1200" dirty="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r>
                        <a:rPr lang="en-US" sz="1200" dirty="0">
                          <a:solidFill>
                            <a:srgbClr val="1B2227"/>
                          </a:solidFill>
                          <a:latin typeface="Calibri" pitchFamily="34" charset="0"/>
                          <a:ea typeface="Calibri" pitchFamily="34" charset="-122"/>
                          <a:cs typeface="Calibri" pitchFamily="34" charset="-120"/>
                        </a:rPr>
                        <a:t>Benefit about test regression</a:t>
                      </a:r>
                      <a:endParaRPr lang="en-US" sz="1200" dirty="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1"/>
          <p:cNvSpPr/>
          <p:nvPr/>
        </p:nvSpPr>
        <p:spPr>
          <a:xfrm>
            <a:off x="457200" y="3977640"/>
            <a:ext cx="8229600" cy="685800"/>
          </a:xfrm>
          <a:prstGeom prst="roundRect">
            <a:avLst>
              <a:gd name="adj" fmla="val 6667"/>
            </a:avLst>
          </a:prstGeom>
          <a:solidFill>
            <a:srgbClr val="DFE7ED"/>
          </a:solidFill>
          <a:ln w="12700">
            <a:solidFill>
              <a:srgbClr val="C5DCEE"/>
            </a:solidFill>
            <a:prstDash val="solid"/>
          </a:ln>
        </p:spPr>
        <p:txBody>
          <a:bodyPr/>
          <a:lstStyle/>
          <a:p>
            <a:endParaRPr lang="en-US"/>
          </a:p>
        </p:txBody>
      </p:sp>
      <p:sp>
        <p:nvSpPr>
          <p:cNvPr id="6" name="Text 2"/>
          <p:cNvSpPr/>
          <p:nvPr/>
        </p:nvSpPr>
        <p:spPr>
          <a:xfrm>
            <a:off x="566928" y="3977640"/>
            <a:ext cx="8010144" cy="685800"/>
          </a:xfrm>
          <a:prstGeom prst="rect">
            <a:avLst/>
          </a:prstGeom>
          <a:noFill/>
          <a:ln/>
        </p:spPr>
        <p:txBody>
          <a:bodyPr wrap="square" rtlCol="0" anchor="ctr"/>
          <a:lstStyle/>
          <a:p>
            <a:pPr marL="0" indent="0" algn="l">
              <a:buNone/>
            </a:pPr>
            <a:r>
              <a:rPr lang="en-US" sz="1100" i="1" dirty="0">
                <a:solidFill>
                  <a:srgbClr val="5A6B72"/>
                </a:solidFill>
                <a:latin typeface="Calibri" pitchFamily="34" charset="0"/>
                <a:ea typeface="Calibri" pitchFamily="34" charset="-122"/>
                <a:cs typeface="Calibri" pitchFamily="34" charset="-120"/>
              </a:rPr>
              <a:t>4-5 days of manual migration compressed to a 7-hour agent session. 8/8 tests passing in both Cypress (TypeScript) and Playwright (Python BDD). 3 code bugs caught and fixed during tester review - none introduced regressions. Workflow fully documented and reusable: point the agent at a new requirements doc and repeat. Estimated reuse value: 15-20 hours saved per future migration engagement.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Reusability &amp; Scale</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Shape 1"/>
          <p:cNvSpPr/>
          <p:nvPr/>
        </p:nvSpPr>
        <p:spPr>
          <a:xfrm>
            <a:off x="457200" y="1143000"/>
            <a:ext cx="3977640" cy="1754280"/>
          </a:xfrm>
          <a:prstGeom prst="roundRect">
            <a:avLst>
              <a:gd name="adj" fmla="val 3871"/>
            </a:avLst>
          </a:prstGeom>
          <a:solidFill>
            <a:srgbClr val="DFE7ED"/>
          </a:solidFill>
          <a:ln/>
        </p:spPr>
        <p:txBody>
          <a:bodyPr/>
          <a:lstStyle/>
          <a:p>
            <a:endParaRPr lang="en-US"/>
          </a:p>
        </p:txBody>
      </p:sp>
      <p:sp>
        <p:nvSpPr>
          <p:cNvPr id="5" name="Shape 2"/>
          <p:cNvSpPr/>
          <p:nvPr/>
        </p:nvSpPr>
        <p:spPr>
          <a:xfrm>
            <a:off x="594360" y="1280160"/>
            <a:ext cx="365760" cy="365760"/>
          </a:xfrm>
          <a:prstGeom prst="ellipse">
            <a:avLst/>
          </a:prstGeom>
          <a:solidFill>
            <a:srgbClr val="075056"/>
          </a:solidFill>
          <a:ln/>
        </p:spPr>
        <p:txBody>
          <a:bodyPr/>
          <a:lstStyle/>
          <a:p>
            <a:endParaRPr lang="en-US"/>
          </a:p>
        </p:txBody>
      </p:sp>
      <p:sp>
        <p:nvSpPr>
          <p:cNvPr id="6" name="Text 3"/>
          <p:cNvSpPr/>
          <p:nvPr/>
        </p:nvSpPr>
        <p:spPr>
          <a:xfrm>
            <a:off x="594360" y="1280160"/>
            <a:ext cx="365760" cy="365760"/>
          </a:xfrm>
          <a:prstGeom prst="rect">
            <a:avLst/>
          </a:prstGeom>
          <a:noFill/>
          <a:ln/>
        </p:spPr>
        <p:txBody>
          <a:bodyPr wrap="square" rtlCol="0" anchor="ctr"/>
          <a:lstStyle/>
          <a:p>
            <a:pPr marL="0" indent="0" algn="ctr">
              <a:buNone/>
            </a:pPr>
            <a:r>
              <a:rPr lang="en-US" sz="1600" b="1">
                <a:solidFill>
                  <a:srgbClr val="FFFFFF"/>
                </a:solidFill>
                <a:latin typeface="Arial" pitchFamily="34" charset="0"/>
                <a:ea typeface="Arial" pitchFamily="34" charset="-122"/>
                <a:cs typeface="Arial" pitchFamily="34" charset="-120"/>
              </a:rPr>
              <a:t>R</a:t>
            </a:r>
            <a:endParaRPr lang="en-US" sz="1600"/>
          </a:p>
        </p:txBody>
      </p:sp>
      <p:sp>
        <p:nvSpPr>
          <p:cNvPr id="7" name="Text 4"/>
          <p:cNvSpPr/>
          <p:nvPr/>
        </p:nvSpPr>
        <p:spPr>
          <a:xfrm>
            <a:off x="1097280" y="1280160"/>
            <a:ext cx="3200400" cy="365760"/>
          </a:xfrm>
          <a:prstGeom prst="rect">
            <a:avLst/>
          </a:prstGeom>
          <a:noFill/>
          <a:ln/>
        </p:spPr>
        <p:txBody>
          <a:bodyPr wrap="square" rtlCol="0" anchor="ctr"/>
          <a:lstStyle/>
          <a:p>
            <a:pPr marL="0" indent="0">
              <a:buNone/>
            </a:pPr>
            <a:r>
              <a:rPr lang="en-US" sz="1400" b="1">
                <a:solidFill>
                  <a:srgbClr val="024879"/>
                </a:solidFill>
                <a:latin typeface="Arial" pitchFamily="34" charset="0"/>
                <a:ea typeface="Arial" pitchFamily="34" charset="-122"/>
                <a:cs typeface="Arial" pitchFamily="34" charset="-120"/>
              </a:rPr>
              <a:t>What is reusable?</a:t>
            </a:r>
            <a:endParaRPr lang="en-US" sz="1400"/>
          </a:p>
        </p:txBody>
      </p:sp>
      <p:sp>
        <p:nvSpPr>
          <p:cNvPr id="8" name="Text 5"/>
          <p:cNvSpPr/>
          <p:nvPr/>
        </p:nvSpPr>
        <p:spPr>
          <a:xfrm>
            <a:off x="640080" y="1709928"/>
            <a:ext cx="3611880" cy="777240"/>
          </a:xfrm>
          <a:prstGeom prst="rect">
            <a:avLst/>
          </a:prstGeom>
          <a:noFill/>
          <a:ln/>
        </p:spPr>
        <p:txBody>
          <a:bodyPr wrap="square" rtlCol="0" anchor="t"/>
          <a:lstStyle/>
          <a:p>
            <a:pPr marL="0" indent="0">
              <a:buNone/>
            </a:pPr>
            <a:r>
              <a:rPr lang="en-US" sz="1150">
                <a:solidFill>
                  <a:srgbClr val="1B2227"/>
                </a:solidFill>
                <a:latin typeface="Calibri" pitchFamily="34" charset="0"/>
                <a:ea typeface="Calibri" pitchFamily="34" charset="-122"/>
                <a:cs typeface="Calibri" pitchFamily="34" charset="-120"/>
              </a:rPr>
              <a:t>.claude/skills/cypress-test-gen.md (Phase 1 skill) and .claude/agents/playwright-migration.md (Phase 2 agent). CLAUDE.md encodes all project conventions. migration_workflow.md documents the full conversion pattern library.</a:t>
            </a:r>
            <a:endParaRPr lang="en-US" sz="1150"/>
          </a:p>
        </p:txBody>
      </p:sp>
      <p:sp>
        <p:nvSpPr>
          <p:cNvPr id="9" name="Shape 6"/>
          <p:cNvSpPr/>
          <p:nvPr/>
        </p:nvSpPr>
        <p:spPr>
          <a:xfrm>
            <a:off x="4709160" y="1143000"/>
            <a:ext cx="3977640" cy="1754280"/>
          </a:xfrm>
          <a:prstGeom prst="roundRect">
            <a:avLst>
              <a:gd name="adj" fmla="val 3871"/>
            </a:avLst>
          </a:prstGeom>
          <a:solidFill>
            <a:srgbClr val="C5DCEE"/>
          </a:solidFill>
          <a:ln/>
        </p:spPr>
        <p:txBody>
          <a:bodyPr/>
          <a:lstStyle/>
          <a:p>
            <a:endParaRPr lang="en-US"/>
          </a:p>
        </p:txBody>
      </p:sp>
      <p:sp>
        <p:nvSpPr>
          <p:cNvPr id="10" name="Shape 7"/>
          <p:cNvSpPr/>
          <p:nvPr/>
        </p:nvSpPr>
        <p:spPr>
          <a:xfrm>
            <a:off x="4846320" y="1280160"/>
            <a:ext cx="365760" cy="365760"/>
          </a:xfrm>
          <a:prstGeom prst="ellipse">
            <a:avLst/>
          </a:prstGeom>
          <a:solidFill>
            <a:srgbClr val="075056"/>
          </a:solidFill>
          <a:ln/>
        </p:spPr>
        <p:txBody>
          <a:bodyPr/>
          <a:lstStyle/>
          <a:p>
            <a:endParaRPr lang="en-US"/>
          </a:p>
        </p:txBody>
      </p:sp>
      <p:sp>
        <p:nvSpPr>
          <p:cNvPr id="11" name="Text 8"/>
          <p:cNvSpPr/>
          <p:nvPr/>
        </p:nvSpPr>
        <p:spPr>
          <a:xfrm>
            <a:off x="4846320" y="1280160"/>
            <a:ext cx="365760" cy="365760"/>
          </a:xfrm>
          <a:prstGeom prst="rect">
            <a:avLst/>
          </a:prstGeom>
          <a:noFill/>
          <a:ln/>
        </p:spPr>
        <p:txBody>
          <a:bodyPr wrap="square" rtlCol="0" anchor="ctr"/>
          <a:lstStyle/>
          <a:p>
            <a:pPr marL="0" indent="0" algn="ctr">
              <a:buNone/>
            </a:pPr>
            <a:r>
              <a:rPr lang="en-US" sz="1600" b="1">
                <a:solidFill>
                  <a:srgbClr val="FFFFFF"/>
                </a:solidFill>
                <a:latin typeface="Arial" pitchFamily="34" charset="0"/>
                <a:ea typeface="Arial" pitchFamily="34" charset="-122"/>
                <a:cs typeface="Arial" pitchFamily="34" charset="-120"/>
              </a:rPr>
              <a:t>A</a:t>
            </a:r>
            <a:endParaRPr lang="en-US" sz="1600"/>
          </a:p>
        </p:txBody>
      </p:sp>
      <p:sp>
        <p:nvSpPr>
          <p:cNvPr id="12" name="Text 9"/>
          <p:cNvSpPr/>
          <p:nvPr/>
        </p:nvSpPr>
        <p:spPr>
          <a:xfrm>
            <a:off x="5349240" y="1280160"/>
            <a:ext cx="3200400" cy="365760"/>
          </a:xfrm>
          <a:prstGeom prst="rect">
            <a:avLst/>
          </a:prstGeom>
          <a:noFill/>
          <a:ln/>
        </p:spPr>
        <p:txBody>
          <a:bodyPr wrap="square" rtlCol="0" anchor="ctr"/>
          <a:lstStyle/>
          <a:p>
            <a:pPr marL="0" indent="0">
              <a:buNone/>
            </a:pPr>
            <a:r>
              <a:rPr lang="en-US" sz="1400" b="1">
                <a:solidFill>
                  <a:srgbClr val="024879"/>
                </a:solidFill>
                <a:latin typeface="Arial" pitchFamily="34" charset="0"/>
                <a:ea typeface="Arial" pitchFamily="34" charset="-122"/>
                <a:cs typeface="Arial" pitchFamily="34" charset="-120"/>
              </a:rPr>
              <a:t>Who can adopt it?</a:t>
            </a:r>
            <a:endParaRPr lang="en-US" sz="1400"/>
          </a:p>
        </p:txBody>
      </p:sp>
      <p:sp>
        <p:nvSpPr>
          <p:cNvPr id="13" name="Text 10"/>
          <p:cNvSpPr/>
          <p:nvPr/>
        </p:nvSpPr>
        <p:spPr>
          <a:xfrm>
            <a:off x="4892040" y="1709928"/>
            <a:ext cx="3611880" cy="777240"/>
          </a:xfrm>
          <a:prstGeom prst="rect">
            <a:avLst/>
          </a:prstGeom>
          <a:noFill/>
          <a:ln/>
        </p:spPr>
        <p:txBody>
          <a:bodyPr wrap="square" rtlCol="0" anchor="t"/>
          <a:lstStyle/>
          <a:p>
            <a:pPr marL="0" indent="0">
              <a:buNone/>
            </a:pPr>
            <a:r>
              <a:rPr lang="en-US" sz="1150">
                <a:solidFill>
                  <a:srgbClr val="1B2227"/>
                </a:solidFill>
                <a:latin typeface="Calibri" pitchFamily="34" charset="0"/>
                <a:ea typeface="Calibri" pitchFamily="34" charset="-122"/>
                <a:cs typeface="Calibri" pitchFamily="34" charset="-120"/>
              </a:rPr>
              <a:t>Any QA engineer on a Cypress-to-Playwright migration engagement. Works for any web app with a requirements document - point the agent at a new target app and repeat the same workflow.</a:t>
            </a:r>
            <a:endParaRPr lang="en-US" sz="1150"/>
          </a:p>
        </p:txBody>
      </p:sp>
      <p:sp>
        <p:nvSpPr>
          <p:cNvPr id="14" name="Shape 11"/>
          <p:cNvSpPr/>
          <p:nvPr/>
        </p:nvSpPr>
        <p:spPr>
          <a:xfrm>
            <a:off x="457200" y="3242520"/>
            <a:ext cx="3977640" cy="1754280"/>
          </a:xfrm>
          <a:prstGeom prst="roundRect">
            <a:avLst>
              <a:gd name="adj" fmla="val 3871"/>
            </a:avLst>
          </a:prstGeom>
          <a:solidFill>
            <a:srgbClr val="DFE7ED"/>
          </a:solidFill>
          <a:ln/>
        </p:spPr>
        <p:txBody>
          <a:bodyPr/>
          <a:lstStyle/>
          <a:p>
            <a:endParaRPr lang="en-US"/>
          </a:p>
        </p:txBody>
      </p:sp>
      <p:sp>
        <p:nvSpPr>
          <p:cNvPr id="15" name="Shape 12"/>
          <p:cNvSpPr/>
          <p:nvPr/>
        </p:nvSpPr>
        <p:spPr>
          <a:xfrm>
            <a:off x="594360" y="3458880"/>
            <a:ext cx="365760" cy="365760"/>
          </a:xfrm>
          <a:prstGeom prst="ellipse">
            <a:avLst/>
          </a:prstGeom>
          <a:solidFill>
            <a:srgbClr val="075056"/>
          </a:solidFill>
          <a:ln/>
        </p:spPr>
        <p:txBody>
          <a:bodyPr/>
          <a:lstStyle/>
          <a:p>
            <a:endParaRPr lang="en-US"/>
          </a:p>
        </p:txBody>
      </p:sp>
      <p:sp>
        <p:nvSpPr>
          <p:cNvPr id="16" name="Text 13"/>
          <p:cNvSpPr/>
          <p:nvPr/>
        </p:nvSpPr>
        <p:spPr>
          <a:xfrm>
            <a:off x="594360" y="3441456"/>
            <a:ext cx="365760" cy="365760"/>
          </a:xfrm>
          <a:prstGeom prst="rect">
            <a:avLst/>
          </a:prstGeom>
          <a:noFill/>
          <a:ln/>
        </p:spPr>
        <p:txBody>
          <a:bodyPr wrap="square" rtlCol="0" anchor="ctr"/>
          <a:lstStyle/>
          <a:p>
            <a:pPr marL="0" indent="0" algn="ctr">
              <a:buNone/>
            </a:pPr>
            <a:r>
              <a:rPr lang="en-US" sz="1600" b="1">
                <a:solidFill>
                  <a:srgbClr val="FFFFFF"/>
                </a:solidFill>
                <a:latin typeface="Arial" pitchFamily="34" charset="0"/>
                <a:ea typeface="Arial" pitchFamily="34" charset="-122"/>
                <a:cs typeface="Arial" pitchFamily="34" charset="-120"/>
              </a:rPr>
              <a:t>P</a:t>
            </a:r>
            <a:endParaRPr lang="en-US" sz="1600"/>
          </a:p>
        </p:txBody>
      </p:sp>
      <p:sp>
        <p:nvSpPr>
          <p:cNvPr id="17" name="Text 14"/>
          <p:cNvSpPr/>
          <p:nvPr/>
        </p:nvSpPr>
        <p:spPr>
          <a:xfrm>
            <a:off x="1097280" y="3458880"/>
            <a:ext cx="3200400" cy="365760"/>
          </a:xfrm>
          <a:prstGeom prst="rect">
            <a:avLst/>
          </a:prstGeom>
          <a:noFill/>
          <a:ln/>
        </p:spPr>
        <p:txBody>
          <a:bodyPr wrap="square" rtlCol="0" anchor="ctr"/>
          <a:lstStyle/>
          <a:p>
            <a:pPr marL="0" indent="0">
              <a:buNone/>
            </a:pPr>
            <a:r>
              <a:rPr lang="en-US" sz="1400" b="1" dirty="0">
                <a:solidFill>
                  <a:srgbClr val="024879"/>
                </a:solidFill>
                <a:latin typeface="Arial" pitchFamily="34" charset="0"/>
                <a:ea typeface="Arial" pitchFamily="34" charset="-122"/>
                <a:cs typeface="Arial" pitchFamily="34" charset="-120"/>
              </a:rPr>
              <a:t>What did you package?</a:t>
            </a:r>
            <a:endParaRPr lang="en-US" sz="1400" dirty="0"/>
          </a:p>
        </p:txBody>
      </p:sp>
      <p:sp>
        <p:nvSpPr>
          <p:cNvPr id="18" name="Text 15"/>
          <p:cNvSpPr/>
          <p:nvPr/>
        </p:nvSpPr>
        <p:spPr>
          <a:xfrm>
            <a:off x="640080" y="3888648"/>
            <a:ext cx="3611880" cy="777240"/>
          </a:xfrm>
          <a:prstGeom prst="rect">
            <a:avLst/>
          </a:prstGeom>
          <a:noFill/>
          <a:ln/>
        </p:spPr>
        <p:txBody>
          <a:bodyPr wrap="square" rtlCol="0" anchor="t"/>
          <a:lstStyle/>
          <a:p>
            <a:pPr marL="0" indent="0">
              <a:buNone/>
            </a:pPr>
            <a:r>
              <a:rPr lang="en-US" sz="1150" dirty="0">
                <a:solidFill>
                  <a:srgbClr val="1B2227"/>
                </a:solidFill>
                <a:latin typeface="Calibri" pitchFamily="34" charset="0"/>
                <a:ea typeface="Calibri" pitchFamily="34" charset="-122"/>
                <a:cs typeface="Calibri" pitchFamily="34" charset="-120"/>
              </a:rPr>
              <a:t>GitHub repo (feature/migration-progress) with requirements/, cypress/, playwright/, reports/, docs/. README documents the full workflow. All prompts versioned in .</a:t>
            </a:r>
            <a:r>
              <a:rPr lang="en-US" sz="1150" dirty="0" err="1">
                <a:solidFill>
                  <a:srgbClr val="1B2227"/>
                </a:solidFill>
                <a:latin typeface="Calibri" pitchFamily="34" charset="0"/>
                <a:ea typeface="Calibri" pitchFamily="34" charset="-122"/>
                <a:cs typeface="Calibri" pitchFamily="34" charset="-120"/>
              </a:rPr>
              <a:t>claude</a:t>
            </a:r>
            <a:r>
              <a:rPr lang="en-US" sz="1150" dirty="0">
                <a:solidFill>
                  <a:srgbClr val="1B2227"/>
                </a:solidFill>
                <a:latin typeface="Calibri" pitchFamily="34" charset="0"/>
                <a:ea typeface="Calibri" pitchFamily="34" charset="-122"/>
                <a:cs typeface="Calibri" pitchFamily="34" charset="-120"/>
              </a:rPr>
              <a:t>/.</a:t>
            </a:r>
            <a:endParaRPr lang="en-US" sz="1150" dirty="0"/>
          </a:p>
        </p:txBody>
      </p:sp>
      <p:sp>
        <p:nvSpPr>
          <p:cNvPr id="19" name="Shape 16"/>
          <p:cNvSpPr/>
          <p:nvPr/>
        </p:nvSpPr>
        <p:spPr>
          <a:xfrm>
            <a:off x="4709160" y="3242520"/>
            <a:ext cx="3977640" cy="1754280"/>
          </a:xfrm>
          <a:prstGeom prst="roundRect">
            <a:avLst>
              <a:gd name="adj" fmla="val 3871"/>
            </a:avLst>
          </a:prstGeom>
          <a:solidFill>
            <a:srgbClr val="C5DCEE"/>
          </a:solidFill>
          <a:ln/>
        </p:spPr>
        <p:txBody>
          <a:bodyPr/>
          <a:lstStyle/>
          <a:p>
            <a:endParaRPr lang="en-US"/>
          </a:p>
        </p:txBody>
      </p:sp>
      <p:sp>
        <p:nvSpPr>
          <p:cNvPr id="20" name="Shape 17"/>
          <p:cNvSpPr/>
          <p:nvPr/>
        </p:nvSpPr>
        <p:spPr>
          <a:xfrm>
            <a:off x="4846320" y="3458880"/>
            <a:ext cx="365760" cy="365760"/>
          </a:xfrm>
          <a:prstGeom prst="ellipse">
            <a:avLst/>
          </a:prstGeom>
          <a:solidFill>
            <a:srgbClr val="075056"/>
          </a:solidFill>
          <a:ln/>
        </p:spPr>
        <p:txBody>
          <a:bodyPr/>
          <a:lstStyle/>
          <a:p>
            <a:endParaRPr lang="en-US"/>
          </a:p>
        </p:txBody>
      </p:sp>
      <p:sp>
        <p:nvSpPr>
          <p:cNvPr id="21" name="Text 18"/>
          <p:cNvSpPr/>
          <p:nvPr/>
        </p:nvSpPr>
        <p:spPr>
          <a:xfrm>
            <a:off x="4846320" y="3458880"/>
            <a:ext cx="365760" cy="36576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S</a:t>
            </a:r>
            <a:endParaRPr lang="en-US" sz="1600" dirty="0"/>
          </a:p>
        </p:txBody>
      </p:sp>
      <p:sp>
        <p:nvSpPr>
          <p:cNvPr id="22" name="Text 19"/>
          <p:cNvSpPr/>
          <p:nvPr/>
        </p:nvSpPr>
        <p:spPr>
          <a:xfrm>
            <a:off x="5349240" y="3458880"/>
            <a:ext cx="3200400" cy="365760"/>
          </a:xfrm>
          <a:prstGeom prst="rect">
            <a:avLst/>
          </a:prstGeom>
          <a:noFill/>
          <a:ln/>
        </p:spPr>
        <p:txBody>
          <a:bodyPr wrap="square" rtlCol="0" anchor="ctr"/>
          <a:lstStyle/>
          <a:p>
            <a:pPr marL="0" indent="0">
              <a:buNone/>
            </a:pPr>
            <a:r>
              <a:rPr lang="en-US" sz="1400" b="1" dirty="0">
                <a:solidFill>
                  <a:srgbClr val="024879"/>
                </a:solidFill>
                <a:latin typeface="Arial" pitchFamily="34" charset="0"/>
                <a:ea typeface="Arial" pitchFamily="34" charset="-122"/>
                <a:cs typeface="Arial" pitchFamily="34" charset="-120"/>
              </a:rPr>
              <a:t>Org-scale potential</a:t>
            </a:r>
            <a:endParaRPr lang="en-US" sz="1400" dirty="0"/>
          </a:p>
        </p:txBody>
      </p:sp>
      <p:sp>
        <p:nvSpPr>
          <p:cNvPr id="23" name="Text 20"/>
          <p:cNvSpPr/>
          <p:nvPr/>
        </p:nvSpPr>
        <p:spPr>
          <a:xfrm>
            <a:off x="4892040" y="3888648"/>
            <a:ext cx="3611880" cy="777240"/>
          </a:xfrm>
          <a:prstGeom prst="rect">
            <a:avLst/>
          </a:prstGeom>
          <a:noFill/>
          <a:ln/>
        </p:spPr>
        <p:txBody>
          <a:bodyPr wrap="square" rtlCol="0" anchor="t"/>
          <a:lstStyle/>
          <a:p>
            <a:pPr marL="0" indent="0">
              <a:buNone/>
            </a:pPr>
            <a:r>
              <a:rPr lang="en-US" sz="1150">
                <a:solidFill>
                  <a:srgbClr val="1B2227"/>
                </a:solidFill>
                <a:latin typeface="Calibri" pitchFamily="34" charset="0"/>
                <a:ea typeface="Calibri" pitchFamily="34" charset="-122"/>
                <a:cs typeface="Calibri" pitchFamily="34" charset="-120"/>
              </a:rPr>
              <a:t>One reusable workflow eliminates 2-3 days of manual work per migration. Applied across 5 engagements per year = 100-150 hours of engineering time redirected to exploratory QA and new coverage.</a:t>
            </a:r>
            <a:endParaRPr lang="en-US" sz="11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What AI Got Right &amp; What It Got Wrong</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Shape 1"/>
          <p:cNvSpPr/>
          <p:nvPr/>
        </p:nvSpPr>
        <p:spPr>
          <a:xfrm>
            <a:off x="457200" y="1143000"/>
            <a:ext cx="8229600" cy="1051560"/>
          </a:xfrm>
          <a:prstGeom prst="roundRect">
            <a:avLst>
              <a:gd name="adj" fmla="val 4348"/>
            </a:avLst>
          </a:prstGeom>
          <a:solidFill>
            <a:srgbClr val="DFE7ED"/>
          </a:solidFill>
          <a:ln/>
        </p:spPr>
        <p:txBody>
          <a:bodyPr/>
          <a:lstStyle/>
          <a:p>
            <a:endParaRPr lang="en-US"/>
          </a:p>
        </p:txBody>
      </p:sp>
      <p:sp>
        <p:nvSpPr>
          <p:cNvPr id="5" name="Shape 2"/>
          <p:cNvSpPr/>
          <p:nvPr/>
        </p:nvSpPr>
        <p:spPr>
          <a:xfrm>
            <a:off x="621792" y="1463040"/>
            <a:ext cx="411480" cy="411480"/>
          </a:xfrm>
          <a:prstGeom prst="ellipse">
            <a:avLst/>
          </a:prstGeom>
          <a:solidFill>
            <a:srgbClr val="075056"/>
          </a:solidFill>
          <a:ln/>
        </p:spPr>
        <p:txBody>
          <a:bodyPr/>
          <a:lstStyle/>
          <a:p>
            <a:endParaRPr lang="en-US"/>
          </a:p>
        </p:txBody>
      </p:sp>
      <p:sp>
        <p:nvSpPr>
          <p:cNvPr id="6" name="Text 3"/>
          <p:cNvSpPr/>
          <p:nvPr/>
        </p:nvSpPr>
        <p:spPr>
          <a:xfrm>
            <a:off x="1188720" y="1161288"/>
            <a:ext cx="7315200" cy="365760"/>
          </a:xfrm>
          <a:prstGeom prst="rect">
            <a:avLst/>
          </a:prstGeom>
          <a:noFill/>
          <a:ln/>
        </p:spPr>
        <p:txBody>
          <a:bodyPr wrap="square" rtlCol="0" anchor="ctr"/>
          <a:lstStyle/>
          <a:p>
            <a:pPr marL="0" indent="0">
              <a:buNone/>
            </a:pPr>
            <a:r>
              <a:rPr lang="en-US" sz="1400" b="1" dirty="0">
                <a:solidFill>
                  <a:srgbClr val="075056"/>
                </a:solidFill>
                <a:latin typeface="Arial" pitchFamily="34" charset="0"/>
                <a:ea typeface="Arial" pitchFamily="34" charset="-122"/>
                <a:cs typeface="Arial" pitchFamily="34" charset="-120"/>
              </a:rPr>
              <a:t>What AI got RIGHT</a:t>
            </a:r>
            <a:endParaRPr lang="en-US" sz="1400" dirty="0"/>
          </a:p>
        </p:txBody>
      </p:sp>
      <p:sp>
        <p:nvSpPr>
          <p:cNvPr id="7" name="Text 4"/>
          <p:cNvSpPr/>
          <p:nvPr/>
        </p:nvSpPr>
        <p:spPr>
          <a:xfrm>
            <a:off x="1188720" y="1572768"/>
            <a:ext cx="7223760" cy="548640"/>
          </a:xfrm>
          <a:prstGeom prst="rect">
            <a:avLst/>
          </a:prstGeom>
          <a:noFill/>
          <a:ln/>
        </p:spPr>
        <p:txBody>
          <a:bodyPr wrap="square" rtlCol="0" anchor="ctr"/>
          <a:lstStyle/>
          <a:p>
            <a:pPr marL="152400" indent="-152400">
              <a:buSzPct val="100000"/>
              <a:buChar char="•"/>
            </a:pPr>
            <a:r>
              <a:rPr lang="en-US" sz="1150" dirty="0">
                <a:solidFill>
                  <a:srgbClr val="1B2227"/>
                </a:solidFill>
                <a:latin typeface="Calibri" pitchFamily="34" charset="0"/>
                <a:ea typeface="Calibri" pitchFamily="34" charset="-122"/>
                <a:cs typeface="Calibri" pitchFamily="34" charset="-120"/>
              </a:rPr>
              <a:t>Selector mapping via MCP Playwright: captured real, working selectors for all 7 requirements in one exploration pass - zero stale locators in generated output. Full POM + BDD structure: generated TypeScript and Python Page Objects, Gherkin .feature files, and </a:t>
            </a:r>
            <a:r>
              <a:rPr lang="en-US" sz="1150" dirty="0" err="1">
                <a:solidFill>
                  <a:srgbClr val="1B2227"/>
                </a:solidFill>
                <a:latin typeface="Calibri" pitchFamily="34" charset="0"/>
                <a:ea typeface="Calibri" pitchFamily="34" charset="-122"/>
                <a:cs typeface="Calibri" pitchFamily="34" charset="-120"/>
              </a:rPr>
              <a:t>pytest-bdd</a:t>
            </a:r>
            <a:r>
              <a:rPr lang="en-US" sz="1150" dirty="0">
                <a:solidFill>
                  <a:srgbClr val="1B2227"/>
                </a:solidFill>
                <a:latin typeface="Calibri" pitchFamily="34" charset="0"/>
                <a:ea typeface="Calibri" pitchFamily="34" charset="-122"/>
                <a:cs typeface="Calibri" pitchFamily="34" charset="-120"/>
              </a:rPr>
              <a:t> step definitions following all CLAUDE.md conventions without deviation.</a:t>
            </a:r>
            <a:endParaRPr lang="en-US" sz="1150" dirty="0"/>
          </a:p>
        </p:txBody>
      </p:sp>
      <p:sp>
        <p:nvSpPr>
          <p:cNvPr id="8" name="Shape 5"/>
          <p:cNvSpPr/>
          <p:nvPr/>
        </p:nvSpPr>
        <p:spPr>
          <a:xfrm>
            <a:off x="457200" y="2350008"/>
            <a:ext cx="8229600" cy="1051560"/>
          </a:xfrm>
          <a:prstGeom prst="roundRect">
            <a:avLst>
              <a:gd name="adj" fmla="val 4348"/>
            </a:avLst>
          </a:prstGeom>
          <a:solidFill>
            <a:srgbClr val="DFE7ED"/>
          </a:solidFill>
          <a:ln/>
        </p:spPr>
        <p:txBody>
          <a:bodyPr/>
          <a:lstStyle/>
          <a:p>
            <a:endParaRPr lang="en-US"/>
          </a:p>
        </p:txBody>
      </p:sp>
      <p:sp>
        <p:nvSpPr>
          <p:cNvPr id="9" name="Shape 6"/>
          <p:cNvSpPr/>
          <p:nvPr/>
        </p:nvSpPr>
        <p:spPr>
          <a:xfrm>
            <a:off x="621792" y="2670048"/>
            <a:ext cx="411480" cy="411480"/>
          </a:xfrm>
          <a:prstGeom prst="ellipse">
            <a:avLst/>
          </a:prstGeom>
          <a:solidFill>
            <a:srgbClr val="FE3A39"/>
          </a:solidFill>
          <a:ln/>
        </p:spPr>
        <p:txBody>
          <a:bodyPr/>
          <a:lstStyle/>
          <a:p>
            <a:endParaRPr lang="en-US"/>
          </a:p>
        </p:txBody>
      </p:sp>
      <p:sp>
        <p:nvSpPr>
          <p:cNvPr id="10" name="Text 7"/>
          <p:cNvSpPr/>
          <p:nvPr/>
        </p:nvSpPr>
        <p:spPr>
          <a:xfrm>
            <a:off x="1143000" y="2304288"/>
            <a:ext cx="7315200" cy="365760"/>
          </a:xfrm>
          <a:prstGeom prst="rect">
            <a:avLst/>
          </a:prstGeom>
          <a:noFill/>
          <a:ln/>
        </p:spPr>
        <p:txBody>
          <a:bodyPr wrap="square" rtlCol="0" anchor="ctr"/>
          <a:lstStyle/>
          <a:p>
            <a:pPr marL="0" indent="0">
              <a:buNone/>
            </a:pPr>
            <a:r>
              <a:rPr lang="en-US" sz="1400" b="1" dirty="0">
                <a:solidFill>
                  <a:srgbClr val="FE3A39"/>
                </a:solidFill>
                <a:latin typeface="Arial" pitchFamily="34" charset="0"/>
                <a:ea typeface="Arial" pitchFamily="34" charset="-122"/>
                <a:cs typeface="Arial" pitchFamily="34" charset="-120"/>
              </a:rPr>
              <a:t>What AI got WRONG</a:t>
            </a:r>
            <a:endParaRPr lang="en-US" sz="1400" dirty="0"/>
          </a:p>
        </p:txBody>
      </p:sp>
      <p:sp>
        <p:nvSpPr>
          <p:cNvPr id="11" name="Text 8"/>
          <p:cNvSpPr/>
          <p:nvPr/>
        </p:nvSpPr>
        <p:spPr>
          <a:xfrm>
            <a:off x="1143000" y="2715768"/>
            <a:ext cx="7223760" cy="548640"/>
          </a:xfrm>
          <a:prstGeom prst="rect">
            <a:avLst/>
          </a:prstGeom>
          <a:noFill/>
          <a:ln/>
        </p:spPr>
        <p:txBody>
          <a:bodyPr wrap="square" rtlCol="0" anchor="ctr"/>
          <a:lstStyle/>
          <a:p>
            <a:pPr marL="152400" indent="-152400">
              <a:buSzPct val="100000"/>
              <a:buChar char="•"/>
            </a:pPr>
            <a:r>
              <a:rPr lang="en-US" sz="1150" dirty="0">
                <a:solidFill>
                  <a:srgbClr val="1B2227"/>
                </a:solidFill>
                <a:latin typeface="Calibri" pitchFamily="34" charset="0"/>
                <a:ea typeface="Calibri" pitchFamily="34" charset="-122"/>
                <a:cs typeface="Calibri" pitchFamily="34" charset="-120"/>
              </a:rPr>
              <a:t>Fixed sleep in autocomplete: </a:t>
            </a:r>
            <a:r>
              <a:rPr lang="en-US" sz="1150" dirty="0" err="1">
                <a:solidFill>
                  <a:srgbClr val="1B2227"/>
                </a:solidFill>
                <a:latin typeface="Calibri" pitchFamily="34" charset="0"/>
                <a:ea typeface="Calibri" pitchFamily="34" charset="-122"/>
                <a:cs typeface="Calibri" pitchFamily="34" charset="-120"/>
              </a:rPr>
              <a:t>wait_for_timeout</a:t>
            </a:r>
            <a:r>
              <a:rPr lang="en-US" sz="1150" dirty="0">
                <a:solidFill>
                  <a:srgbClr val="1B2227"/>
                </a:solidFill>
                <a:latin typeface="Calibri" pitchFamily="34" charset="0"/>
                <a:ea typeface="Calibri" pitchFamily="34" charset="-122"/>
                <a:cs typeface="Calibri" pitchFamily="34" charset="-120"/>
              </a:rPr>
              <a:t> worked during exploration but failed silently on slow networks - test passed for the wrong reason and elements with error</a:t>
            </a:r>
          </a:p>
          <a:p>
            <a:pPr marL="152400" indent="-152400">
              <a:buSzPct val="100000"/>
              <a:buChar char="•"/>
            </a:pPr>
            <a:r>
              <a:rPr lang="en-US" sz="1150" dirty="0">
                <a:solidFill>
                  <a:srgbClr val="1B2227"/>
                </a:solidFill>
                <a:latin typeface="Calibri" pitchFamily="34" charset="0"/>
                <a:ea typeface="Calibri" pitchFamily="34" charset="-122"/>
                <a:cs typeface="Calibri" pitchFamily="34" charset="-120"/>
              </a:rPr>
              <a:t>Agent did not anticipate nested dialog structure. Wrong assertion for disabled input does not match input value attribute.</a:t>
            </a:r>
            <a:endParaRPr lang="en-US" sz="1150" dirty="0"/>
          </a:p>
        </p:txBody>
      </p:sp>
      <p:sp>
        <p:nvSpPr>
          <p:cNvPr id="12" name="Shape 9"/>
          <p:cNvSpPr/>
          <p:nvPr/>
        </p:nvSpPr>
        <p:spPr>
          <a:xfrm>
            <a:off x="457200" y="3557016"/>
            <a:ext cx="8229600" cy="1187784"/>
          </a:xfrm>
          <a:prstGeom prst="roundRect">
            <a:avLst>
              <a:gd name="adj" fmla="val 4348"/>
            </a:avLst>
          </a:prstGeom>
          <a:solidFill>
            <a:srgbClr val="DFE7ED"/>
          </a:solidFill>
          <a:ln/>
        </p:spPr>
        <p:txBody>
          <a:bodyPr/>
          <a:lstStyle/>
          <a:p>
            <a:endParaRPr lang="en-US"/>
          </a:p>
        </p:txBody>
      </p:sp>
      <p:sp>
        <p:nvSpPr>
          <p:cNvPr id="13" name="Shape 10"/>
          <p:cNvSpPr/>
          <p:nvPr/>
        </p:nvSpPr>
        <p:spPr>
          <a:xfrm>
            <a:off x="621792" y="3877056"/>
            <a:ext cx="411480" cy="411480"/>
          </a:xfrm>
          <a:prstGeom prst="ellipse">
            <a:avLst/>
          </a:prstGeom>
          <a:solidFill>
            <a:srgbClr val="024879"/>
          </a:solidFill>
          <a:ln/>
        </p:spPr>
        <p:txBody>
          <a:bodyPr/>
          <a:lstStyle/>
          <a:p>
            <a:endParaRPr lang="en-US"/>
          </a:p>
        </p:txBody>
      </p:sp>
      <p:sp>
        <p:nvSpPr>
          <p:cNvPr id="14" name="Text 11"/>
          <p:cNvSpPr/>
          <p:nvPr/>
        </p:nvSpPr>
        <p:spPr>
          <a:xfrm>
            <a:off x="1143000" y="3570732"/>
            <a:ext cx="7315200" cy="365760"/>
          </a:xfrm>
          <a:prstGeom prst="rect">
            <a:avLst/>
          </a:prstGeom>
          <a:noFill/>
          <a:ln/>
        </p:spPr>
        <p:txBody>
          <a:bodyPr wrap="square" rtlCol="0" anchor="ctr"/>
          <a:lstStyle/>
          <a:p>
            <a:pPr marL="0" indent="0">
              <a:buNone/>
            </a:pPr>
            <a:r>
              <a:rPr lang="en-US" sz="1400" b="1" dirty="0">
                <a:solidFill>
                  <a:srgbClr val="024879"/>
                </a:solidFill>
                <a:latin typeface="Arial" pitchFamily="34" charset="0"/>
                <a:ea typeface="Arial" pitchFamily="34" charset="-122"/>
                <a:cs typeface="Arial" pitchFamily="34" charset="-120"/>
              </a:rPr>
              <a:t>What I corrected manually</a:t>
            </a:r>
            <a:endParaRPr lang="en-US" sz="1400" dirty="0"/>
          </a:p>
        </p:txBody>
      </p:sp>
      <p:sp>
        <p:nvSpPr>
          <p:cNvPr id="15" name="Text 12"/>
          <p:cNvSpPr/>
          <p:nvPr/>
        </p:nvSpPr>
        <p:spPr>
          <a:xfrm>
            <a:off x="1188720" y="4014216"/>
            <a:ext cx="7223760" cy="548640"/>
          </a:xfrm>
          <a:prstGeom prst="rect">
            <a:avLst/>
          </a:prstGeom>
          <a:noFill/>
          <a:ln/>
        </p:spPr>
        <p:txBody>
          <a:bodyPr wrap="square" rtlCol="0" anchor="ctr"/>
          <a:lstStyle/>
          <a:p>
            <a:pPr marL="152400" indent="-152400">
              <a:buSzPct val="100000"/>
              <a:buFontTx/>
              <a:buChar char="•"/>
            </a:pPr>
            <a:r>
              <a:rPr lang="en-US" sz="1150" dirty="0">
                <a:solidFill>
                  <a:srgbClr val="1B2227"/>
                </a:solidFill>
                <a:latin typeface="Calibri" pitchFamily="34" charset="0"/>
                <a:ea typeface="Calibri" pitchFamily="34" charset="-122"/>
                <a:cs typeface="Calibri" pitchFamily="34" charset="-120"/>
              </a:rPr>
              <a:t>Execution strategy</a:t>
            </a:r>
            <a:endParaRPr lang="en-US" sz="1150" dirty="0"/>
          </a:p>
          <a:p>
            <a:pPr marL="152400" indent="-152400">
              <a:buSzPct val="100000"/>
              <a:buChar char="•"/>
            </a:pPr>
            <a:r>
              <a:rPr lang="en-US" sz="1150" dirty="0">
                <a:solidFill>
                  <a:srgbClr val="1B2227"/>
                </a:solidFill>
                <a:latin typeface="Calibri" pitchFamily="34" charset="0"/>
                <a:ea typeface="Calibri" pitchFamily="34" charset="-122"/>
                <a:cs typeface="Calibri" pitchFamily="34" charset="-120"/>
              </a:rPr>
              <a:t>Some selectors</a:t>
            </a:r>
          </a:p>
          <a:p>
            <a:pPr marL="152400" indent="-152400">
              <a:buSzPct val="100000"/>
              <a:buChar char="•"/>
            </a:pPr>
            <a:r>
              <a:rPr lang="en-US" sz="1150" dirty="0">
                <a:solidFill>
                  <a:srgbClr val="1B2227"/>
                </a:solidFill>
                <a:latin typeface="Calibri" pitchFamily="34" charset="0"/>
                <a:ea typeface="Calibri" pitchFamily="34" charset="-122"/>
                <a:cs typeface="Calibri" pitchFamily="34" charset="-120"/>
              </a:rPr>
              <a:t>The fixed pause was replaced. </a:t>
            </a:r>
          </a:p>
          <a:p>
            <a:pPr marL="152400" indent="-152400">
              <a:buSzPct val="100000"/>
              <a:buChar char="•"/>
            </a:pPr>
            <a:r>
              <a:rPr lang="en-US" sz="1150" dirty="0">
                <a:solidFill>
                  <a:srgbClr val="1B2227"/>
                </a:solidFill>
                <a:latin typeface="Calibri" pitchFamily="34" charset="0"/>
                <a:ea typeface="Calibri" pitchFamily="34" charset="-122"/>
                <a:cs typeface="Calibri" pitchFamily="34" charset="-120"/>
              </a:rPr>
              <a:t>Strategy shift: from prompts to Agent/skill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Evidence &amp; Artifacts</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Text 1"/>
          <p:cNvSpPr/>
          <p:nvPr/>
        </p:nvSpPr>
        <p:spPr>
          <a:xfrm>
            <a:off x="457200" y="1097280"/>
            <a:ext cx="822960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Links &amp; attachments — the proof behind every claim</a:t>
            </a:r>
            <a:endParaRPr lang="en-US" sz="1200"/>
          </a:p>
        </p:txBody>
      </p:sp>
      <p:sp>
        <p:nvSpPr>
          <p:cNvPr id="5" name="Text 2"/>
          <p:cNvSpPr/>
          <p:nvPr/>
        </p:nvSpPr>
        <p:spPr>
          <a:xfrm>
            <a:off x="457200" y="1417320"/>
            <a:ext cx="1920240" cy="365760"/>
          </a:xfrm>
          <a:prstGeom prst="rect">
            <a:avLst/>
          </a:prstGeom>
          <a:noFill/>
          <a:ln/>
        </p:spPr>
        <p:txBody>
          <a:bodyPr wrap="square" rtlCol="0" anchor="ctr"/>
          <a:lstStyle/>
          <a:p>
            <a:pPr marL="0" indent="0">
              <a:buNone/>
            </a:pPr>
            <a:r>
              <a:rPr lang="en-US" sz="1150" b="1">
                <a:solidFill>
                  <a:srgbClr val="024879"/>
                </a:solidFill>
                <a:latin typeface="Calibri" pitchFamily="34" charset="0"/>
                <a:ea typeface="Calibri" pitchFamily="34" charset="-122"/>
                <a:cs typeface="Calibri" pitchFamily="34" charset="-120"/>
              </a:rPr>
              <a:t>•  PR link(s) / merged commits</a:t>
            </a:r>
            <a:endParaRPr lang="en-US" sz="1150"/>
          </a:p>
        </p:txBody>
      </p:sp>
      <p:sp>
        <p:nvSpPr>
          <p:cNvPr id="6" name="Shape 3"/>
          <p:cNvSpPr/>
          <p:nvPr/>
        </p:nvSpPr>
        <p:spPr>
          <a:xfrm>
            <a:off x="2423160" y="1417320"/>
            <a:ext cx="2103120" cy="817560"/>
          </a:xfrm>
          <a:prstGeom prst="roundRect">
            <a:avLst>
              <a:gd name="adj" fmla="val 11111"/>
            </a:avLst>
          </a:prstGeom>
          <a:solidFill>
            <a:srgbClr val="DFE7ED"/>
          </a:solidFill>
          <a:ln w="12700">
            <a:solidFill>
              <a:srgbClr val="C5DCEE"/>
            </a:solidFill>
            <a:prstDash val="solid"/>
          </a:ln>
        </p:spPr>
        <p:txBody>
          <a:bodyPr/>
          <a:lstStyle/>
          <a:p>
            <a:endParaRPr lang="en-US"/>
          </a:p>
        </p:txBody>
      </p:sp>
      <p:sp>
        <p:nvSpPr>
          <p:cNvPr id="7" name="Text 4"/>
          <p:cNvSpPr/>
          <p:nvPr/>
        </p:nvSpPr>
        <p:spPr>
          <a:xfrm>
            <a:off x="2487168" y="1577340"/>
            <a:ext cx="1883664" cy="411480"/>
          </a:xfrm>
          <a:prstGeom prst="rect">
            <a:avLst/>
          </a:prstGeom>
          <a:noFill/>
          <a:ln/>
        </p:spPr>
        <p:txBody>
          <a:bodyPr wrap="square" rtlCol="0" anchor="ctr"/>
          <a:lstStyle/>
          <a:p>
            <a:pPr marL="0" indent="0" algn="l">
              <a:buNone/>
            </a:pPr>
            <a:r>
              <a:rPr lang="en-US" sz="1100" i="1" dirty="0">
                <a:solidFill>
                  <a:srgbClr val="5A6B72"/>
                </a:solidFill>
                <a:latin typeface="Calibri" pitchFamily="34" charset="0"/>
                <a:ea typeface="Calibri" pitchFamily="34" charset="-122"/>
                <a:cs typeface="Calibri" pitchFamily="34" charset="-120"/>
              </a:rPr>
              <a:t>github.com/ajulian35/migration-cypress-to-playwright  branch: feature/migration-progress</a:t>
            </a:r>
            <a:endParaRPr lang="en-US" sz="1100" dirty="0"/>
          </a:p>
        </p:txBody>
      </p:sp>
      <p:sp>
        <p:nvSpPr>
          <p:cNvPr id="8" name="Text 5"/>
          <p:cNvSpPr/>
          <p:nvPr/>
        </p:nvSpPr>
        <p:spPr>
          <a:xfrm>
            <a:off x="4709160" y="1417320"/>
            <a:ext cx="1920240" cy="365760"/>
          </a:xfrm>
          <a:prstGeom prst="rect">
            <a:avLst/>
          </a:prstGeom>
          <a:noFill/>
          <a:ln/>
        </p:spPr>
        <p:txBody>
          <a:bodyPr wrap="square" rtlCol="0" anchor="ctr"/>
          <a:lstStyle/>
          <a:p>
            <a:pPr marL="0" indent="0">
              <a:buNone/>
            </a:pPr>
            <a:r>
              <a:rPr lang="en-US" sz="1150" b="1">
                <a:solidFill>
                  <a:srgbClr val="024879"/>
                </a:solidFill>
                <a:latin typeface="Calibri" pitchFamily="34" charset="0"/>
                <a:ea typeface="Calibri" pitchFamily="34" charset="-122"/>
                <a:cs typeface="Calibri" pitchFamily="34" charset="-120"/>
              </a:rPr>
              <a:t>•  Design docs / demo recording</a:t>
            </a:r>
            <a:endParaRPr lang="en-US" sz="1150"/>
          </a:p>
        </p:txBody>
      </p:sp>
      <p:sp>
        <p:nvSpPr>
          <p:cNvPr id="9" name="Shape 6"/>
          <p:cNvSpPr/>
          <p:nvPr/>
        </p:nvSpPr>
        <p:spPr>
          <a:xfrm>
            <a:off x="6675120" y="1417320"/>
            <a:ext cx="2300760" cy="817560"/>
          </a:xfrm>
          <a:prstGeom prst="roundRect">
            <a:avLst>
              <a:gd name="adj" fmla="val 11111"/>
            </a:avLst>
          </a:prstGeom>
          <a:solidFill>
            <a:srgbClr val="DFE7ED"/>
          </a:solidFill>
          <a:ln w="12700">
            <a:solidFill>
              <a:srgbClr val="C5DCEE"/>
            </a:solidFill>
            <a:prstDash val="solid"/>
          </a:ln>
        </p:spPr>
        <p:txBody>
          <a:bodyPr/>
          <a:lstStyle/>
          <a:p>
            <a:endParaRPr lang="en-US"/>
          </a:p>
        </p:txBody>
      </p:sp>
      <p:sp>
        <p:nvSpPr>
          <p:cNvPr id="10" name="Text 7"/>
          <p:cNvSpPr/>
          <p:nvPr/>
        </p:nvSpPr>
        <p:spPr>
          <a:xfrm>
            <a:off x="6784848" y="1509998"/>
            <a:ext cx="1883664" cy="411480"/>
          </a:xfrm>
          <a:prstGeom prst="rect">
            <a:avLst/>
          </a:prstGeom>
          <a:noFill/>
          <a:ln/>
        </p:spPr>
        <p:txBody>
          <a:bodyPr wrap="square" rtlCol="0" anchor="ctr"/>
          <a:lstStyle/>
          <a:p>
            <a:pPr marL="171450" indent="-171450">
              <a:buFont typeface="Arial" panose="020B0604020202020204" pitchFamily="34" charset="0"/>
              <a:buChar char="•"/>
            </a:pPr>
            <a:r>
              <a:rPr lang="en-US" sz="1100" i="1" dirty="0">
                <a:solidFill>
                  <a:srgbClr val="5A6B72"/>
                </a:solidFill>
                <a:latin typeface="Calibri" pitchFamily="34" charset="0"/>
                <a:ea typeface="Calibri" pitchFamily="34" charset="-122"/>
                <a:cs typeface="Calibri" pitchFamily="34" charset="-120"/>
              </a:rPr>
              <a:t>docs/</a:t>
            </a:r>
            <a:r>
              <a:rPr lang="it-IT" sz="1100" i="1" dirty="0">
                <a:solidFill>
                  <a:srgbClr val="5A6B72"/>
                </a:solidFill>
                <a:latin typeface="Calibri" pitchFamily="34" charset="0"/>
                <a:ea typeface="Calibri" pitchFamily="34" charset="-122"/>
                <a:cs typeface="Calibri" pitchFamily="34" charset="-120"/>
              </a:rPr>
              <a:t>AI_Capstone_L1_L2 Julian Largo.pptx</a:t>
            </a:r>
          </a:p>
          <a:p>
            <a:pPr marL="171450" indent="-171450">
              <a:buFont typeface="Arial" panose="020B0604020202020204" pitchFamily="34" charset="0"/>
              <a:buChar char="•"/>
            </a:pPr>
            <a:r>
              <a:rPr lang="en-US" sz="1100" i="1" dirty="0">
                <a:solidFill>
                  <a:srgbClr val="5A6B72"/>
                </a:solidFill>
                <a:latin typeface="Calibri" pitchFamily="34" charset="0"/>
                <a:ea typeface="Calibri" pitchFamily="34" charset="-122"/>
                <a:cs typeface="Calibri" pitchFamily="34" charset="-120"/>
              </a:rPr>
              <a:t>reports/cypress/</a:t>
            </a:r>
            <a:endParaRPr lang="en-US" sz="1100" dirty="0"/>
          </a:p>
        </p:txBody>
      </p:sp>
      <p:sp>
        <p:nvSpPr>
          <p:cNvPr id="11" name="Text 8"/>
          <p:cNvSpPr/>
          <p:nvPr/>
        </p:nvSpPr>
        <p:spPr>
          <a:xfrm>
            <a:off x="457200" y="2509200"/>
            <a:ext cx="1920240" cy="365760"/>
          </a:xfrm>
          <a:prstGeom prst="rect">
            <a:avLst/>
          </a:prstGeom>
          <a:noFill/>
          <a:ln/>
        </p:spPr>
        <p:txBody>
          <a:bodyPr wrap="square" rtlCol="0" anchor="ctr"/>
          <a:lstStyle/>
          <a:p>
            <a:pPr marL="0" indent="0">
              <a:buNone/>
            </a:pPr>
            <a:r>
              <a:rPr lang="en-US" sz="1150" b="1">
                <a:solidFill>
                  <a:srgbClr val="024879"/>
                </a:solidFill>
                <a:latin typeface="Calibri" pitchFamily="34" charset="0"/>
                <a:ea typeface="Calibri" pitchFamily="34" charset="-122"/>
                <a:cs typeface="Calibri" pitchFamily="34" charset="-120"/>
              </a:rPr>
              <a:t>•  Prompt log / agent transcript</a:t>
            </a:r>
            <a:endParaRPr lang="en-US" sz="1150"/>
          </a:p>
        </p:txBody>
      </p:sp>
      <p:sp>
        <p:nvSpPr>
          <p:cNvPr id="12" name="Shape 9"/>
          <p:cNvSpPr/>
          <p:nvPr/>
        </p:nvSpPr>
        <p:spPr>
          <a:xfrm>
            <a:off x="2423160" y="2471400"/>
            <a:ext cx="2103120" cy="855360"/>
          </a:xfrm>
          <a:prstGeom prst="roundRect">
            <a:avLst>
              <a:gd name="adj" fmla="val 11111"/>
            </a:avLst>
          </a:prstGeom>
          <a:solidFill>
            <a:srgbClr val="DFE7ED"/>
          </a:solidFill>
          <a:ln w="12700">
            <a:solidFill>
              <a:srgbClr val="C5DCEE"/>
            </a:solidFill>
            <a:prstDash val="solid"/>
          </a:ln>
        </p:spPr>
        <p:txBody>
          <a:bodyPr/>
          <a:lstStyle/>
          <a:p>
            <a:endParaRPr lang="en-US"/>
          </a:p>
        </p:txBody>
      </p:sp>
      <p:sp>
        <p:nvSpPr>
          <p:cNvPr id="13" name="Text 10"/>
          <p:cNvSpPr/>
          <p:nvPr/>
        </p:nvSpPr>
        <p:spPr>
          <a:xfrm>
            <a:off x="2423160" y="2692080"/>
            <a:ext cx="2176272" cy="411480"/>
          </a:xfrm>
          <a:prstGeom prst="rect">
            <a:avLst/>
          </a:prstGeom>
          <a:noFill/>
          <a:ln/>
        </p:spPr>
        <p:txBody>
          <a:bodyPr wrap="square" rtlCol="0" anchor="ctr"/>
          <a:lstStyle/>
          <a:p>
            <a:pPr marL="171450" indent="-171450" algn="l">
              <a:buFont typeface="Arial" panose="020B0604020202020204" pitchFamily="34" charset="0"/>
              <a:buChar char="•"/>
            </a:pPr>
            <a:r>
              <a:rPr lang="en-US" sz="1100" i="1" dirty="0">
                <a:solidFill>
                  <a:srgbClr val="5A6B72"/>
                </a:solidFill>
                <a:latin typeface="Calibri" pitchFamily="34" charset="0"/>
                <a:ea typeface="Calibri" pitchFamily="34" charset="-122"/>
                <a:cs typeface="Calibri" pitchFamily="34" charset="-120"/>
              </a:rPr>
              <a:t>.</a:t>
            </a:r>
            <a:r>
              <a:rPr lang="en-US" sz="1100" i="1" dirty="0" err="1">
                <a:solidFill>
                  <a:srgbClr val="5A6B72"/>
                </a:solidFill>
                <a:latin typeface="Calibri" pitchFamily="34" charset="0"/>
                <a:ea typeface="Calibri" pitchFamily="34" charset="-122"/>
                <a:cs typeface="Calibri" pitchFamily="34" charset="-120"/>
              </a:rPr>
              <a:t>claude</a:t>
            </a:r>
            <a:r>
              <a:rPr lang="en-US" sz="1100" i="1" dirty="0">
                <a:solidFill>
                  <a:srgbClr val="5A6B72"/>
                </a:solidFill>
                <a:latin typeface="Calibri" pitchFamily="34" charset="0"/>
                <a:ea typeface="Calibri" pitchFamily="34" charset="-122"/>
                <a:cs typeface="Calibri" pitchFamily="34" charset="-120"/>
              </a:rPr>
              <a:t>/skills/cypress-test-gen.md</a:t>
            </a:r>
          </a:p>
          <a:p>
            <a:pPr marL="171450" indent="-171450" algn="l">
              <a:buFont typeface="Arial" panose="020B0604020202020204" pitchFamily="34" charset="0"/>
              <a:buChar char="•"/>
            </a:pPr>
            <a:r>
              <a:rPr lang="en-US" sz="1100" i="1" dirty="0">
                <a:solidFill>
                  <a:srgbClr val="5A6B72"/>
                </a:solidFill>
                <a:latin typeface="Calibri" pitchFamily="34" charset="0"/>
                <a:ea typeface="Calibri" pitchFamily="34" charset="-122"/>
                <a:cs typeface="Calibri" pitchFamily="34" charset="-120"/>
              </a:rPr>
              <a:t>.</a:t>
            </a:r>
            <a:r>
              <a:rPr lang="en-US" sz="1100" i="1" dirty="0" err="1">
                <a:solidFill>
                  <a:srgbClr val="5A6B72"/>
                </a:solidFill>
                <a:latin typeface="Calibri" pitchFamily="34" charset="0"/>
                <a:ea typeface="Calibri" pitchFamily="34" charset="-122"/>
                <a:cs typeface="Calibri" pitchFamily="34" charset="-120"/>
              </a:rPr>
              <a:t>claude</a:t>
            </a:r>
            <a:r>
              <a:rPr lang="en-US" sz="1100" i="1" dirty="0">
                <a:solidFill>
                  <a:srgbClr val="5A6B72"/>
                </a:solidFill>
                <a:latin typeface="Calibri" pitchFamily="34" charset="0"/>
                <a:ea typeface="Calibri" pitchFamily="34" charset="-122"/>
                <a:cs typeface="Calibri" pitchFamily="34" charset="-120"/>
              </a:rPr>
              <a:t>/agents/playwright-migration.md</a:t>
            </a:r>
          </a:p>
          <a:p>
            <a:pPr marL="171450" indent="-171450" algn="l">
              <a:buFont typeface="Arial" panose="020B0604020202020204" pitchFamily="34" charset="0"/>
              <a:buChar char="•"/>
            </a:pPr>
            <a:r>
              <a:rPr lang="en-US" sz="1100" i="1" dirty="0">
                <a:solidFill>
                  <a:srgbClr val="5A6B72"/>
                </a:solidFill>
                <a:latin typeface="Calibri" pitchFamily="34" charset="0"/>
                <a:ea typeface="Calibri" pitchFamily="34" charset="-122"/>
                <a:cs typeface="Calibri" pitchFamily="34" charset="-120"/>
              </a:rPr>
              <a:t>migration_workflow.md</a:t>
            </a:r>
            <a:endParaRPr lang="en-US" sz="1100" dirty="0"/>
          </a:p>
        </p:txBody>
      </p:sp>
      <p:sp>
        <p:nvSpPr>
          <p:cNvPr id="14" name="Text 11"/>
          <p:cNvSpPr/>
          <p:nvPr/>
        </p:nvSpPr>
        <p:spPr>
          <a:xfrm>
            <a:off x="4709160" y="2509200"/>
            <a:ext cx="1920240" cy="365760"/>
          </a:xfrm>
          <a:prstGeom prst="rect">
            <a:avLst/>
          </a:prstGeom>
          <a:noFill/>
          <a:ln/>
        </p:spPr>
        <p:txBody>
          <a:bodyPr wrap="square" rtlCol="0" anchor="ctr"/>
          <a:lstStyle/>
          <a:p>
            <a:pPr marL="0" indent="0">
              <a:buNone/>
            </a:pPr>
            <a:r>
              <a:rPr lang="en-US" sz="1150" b="1">
                <a:solidFill>
                  <a:srgbClr val="024879"/>
                </a:solidFill>
                <a:latin typeface="Calibri" pitchFamily="34" charset="0"/>
                <a:ea typeface="Calibri" pitchFamily="34" charset="-122"/>
                <a:cs typeface="Calibri" pitchFamily="34" charset="-120"/>
              </a:rPr>
              <a:t>•  Screenshots on the slides above</a:t>
            </a:r>
            <a:endParaRPr lang="en-US" sz="1150"/>
          </a:p>
        </p:txBody>
      </p:sp>
      <p:sp>
        <p:nvSpPr>
          <p:cNvPr id="15" name="Shape 12"/>
          <p:cNvSpPr/>
          <p:nvPr/>
        </p:nvSpPr>
        <p:spPr>
          <a:xfrm>
            <a:off x="6675120" y="2509200"/>
            <a:ext cx="2300760" cy="817560"/>
          </a:xfrm>
          <a:prstGeom prst="roundRect">
            <a:avLst>
              <a:gd name="adj" fmla="val 11111"/>
            </a:avLst>
          </a:prstGeom>
          <a:solidFill>
            <a:srgbClr val="DFE7ED"/>
          </a:solidFill>
          <a:ln w="12700">
            <a:solidFill>
              <a:srgbClr val="C5DCEE"/>
            </a:solidFill>
            <a:prstDash val="solid"/>
          </a:ln>
        </p:spPr>
        <p:txBody>
          <a:bodyPr/>
          <a:lstStyle/>
          <a:p>
            <a:endParaRPr lang="en-US"/>
          </a:p>
        </p:txBody>
      </p:sp>
      <p:sp>
        <p:nvSpPr>
          <p:cNvPr id="16" name="Text 13"/>
          <p:cNvSpPr/>
          <p:nvPr/>
        </p:nvSpPr>
        <p:spPr>
          <a:xfrm>
            <a:off x="6629400" y="2679030"/>
            <a:ext cx="2346480" cy="411480"/>
          </a:xfrm>
          <a:prstGeom prst="rect">
            <a:avLst/>
          </a:prstGeom>
          <a:noFill/>
          <a:ln/>
        </p:spPr>
        <p:txBody>
          <a:bodyPr wrap="square" rtlCol="0" anchor="ctr"/>
          <a:lstStyle/>
          <a:p>
            <a:pPr marL="228600" indent="-228600">
              <a:buFont typeface="Arial" panose="020B0604020202020204" pitchFamily="34" charset="0"/>
              <a:buChar char="•"/>
            </a:pPr>
            <a:r>
              <a:rPr lang="en-US" sz="1100" i="1" dirty="0">
                <a:solidFill>
                  <a:srgbClr val="5A6B72"/>
                </a:solidFill>
                <a:latin typeface="Calibri" pitchFamily="34" charset="0"/>
                <a:ea typeface="Calibri" pitchFamily="34" charset="-122"/>
                <a:cs typeface="Calibri" pitchFamily="34" charset="-120"/>
              </a:rPr>
              <a:t>docs/ai_review.md</a:t>
            </a:r>
          </a:p>
          <a:p>
            <a:pPr marL="228600" indent="-228600">
              <a:buFont typeface="Arial" panose="020B0604020202020204" pitchFamily="34" charset="0"/>
              <a:buChar char="•"/>
            </a:pPr>
            <a:r>
              <a:rPr lang="en-US" sz="1100" i="1" dirty="0">
                <a:solidFill>
                  <a:srgbClr val="5A6B72"/>
                </a:solidFill>
                <a:latin typeface="Calibri" pitchFamily="34" charset="0"/>
                <a:ea typeface="Calibri" pitchFamily="34" charset="-122"/>
                <a:cs typeface="Calibri" pitchFamily="34" charset="-120"/>
              </a:rPr>
              <a:t>docs/failure_analysis.md </a:t>
            </a:r>
          </a:p>
          <a:p>
            <a:pPr marL="228600" indent="-228600">
              <a:buFont typeface="Arial" panose="020B0604020202020204" pitchFamily="34" charset="0"/>
              <a:buChar char="•"/>
            </a:pPr>
            <a:r>
              <a:rPr lang="en-US" sz="1100" i="1" dirty="0">
                <a:solidFill>
                  <a:srgbClr val="5A6B72"/>
                </a:solidFill>
                <a:latin typeface="Calibri" pitchFamily="34" charset="0"/>
                <a:ea typeface="Calibri" pitchFamily="34" charset="-122"/>
                <a:cs typeface="Calibri" pitchFamily="34" charset="-120"/>
              </a:rPr>
              <a:t>docs/measured_improvement.md</a:t>
            </a:r>
          </a:p>
          <a:p>
            <a:pPr marL="228600" indent="-228600">
              <a:buFont typeface="Arial" panose="020B0604020202020204" pitchFamily="34" charset="0"/>
              <a:buChar char="•"/>
            </a:pPr>
            <a:r>
              <a:rPr lang="en-US" sz="1100" i="1" dirty="0">
                <a:solidFill>
                  <a:srgbClr val="5A6B72"/>
                </a:solidFill>
                <a:latin typeface="Calibri" pitchFamily="34" charset="0"/>
                <a:ea typeface="Calibri" pitchFamily="34" charset="-122"/>
                <a:cs typeface="Calibri" pitchFamily="34" charset="-120"/>
              </a:rPr>
              <a:t>docs/claude_md_evidence.md</a:t>
            </a:r>
            <a:endParaRPr lang="en-US" sz="1100" dirty="0"/>
          </a:p>
        </p:txBody>
      </p:sp>
      <p:sp>
        <p:nvSpPr>
          <p:cNvPr id="17" name="Shape 14"/>
          <p:cNvSpPr/>
          <p:nvPr/>
        </p:nvSpPr>
        <p:spPr>
          <a:xfrm>
            <a:off x="457200" y="3635280"/>
            <a:ext cx="8229600" cy="1234440"/>
          </a:xfrm>
          <a:prstGeom prst="roundRect">
            <a:avLst>
              <a:gd name="adj" fmla="val 4444"/>
            </a:avLst>
          </a:prstGeom>
          <a:solidFill>
            <a:srgbClr val="C5DCEE"/>
          </a:solidFill>
          <a:ln/>
        </p:spPr>
        <p:txBody>
          <a:bodyPr/>
          <a:lstStyle/>
          <a:p>
            <a:endParaRPr lang="en-US"/>
          </a:p>
        </p:txBody>
      </p:sp>
      <p:sp>
        <p:nvSpPr>
          <p:cNvPr id="18" name="Text 15"/>
          <p:cNvSpPr/>
          <p:nvPr/>
        </p:nvSpPr>
        <p:spPr>
          <a:xfrm>
            <a:off x="640080" y="3726720"/>
            <a:ext cx="7863840" cy="320040"/>
          </a:xfrm>
          <a:prstGeom prst="rect">
            <a:avLst/>
          </a:prstGeom>
          <a:noFill/>
          <a:ln/>
        </p:spPr>
        <p:txBody>
          <a:bodyPr wrap="square" rtlCol="0" anchor="ctr"/>
          <a:lstStyle/>
          <a:p>
            <a:pPr marL="0" indent="0">
              <a:buNone/>
            </a:pPr>
            <a:r>
              <a:rPr lang="en-US" sz="1400" b="1">
                <a:solidFill>
                  <a:srgbClr val="075056"/>
                </a:solidFill>
                <a:latin typeface="Arial" pitchFamily="34" charset="0"/>
                <a:ea typeface="Arial" pitchFamily="34" charset="-122"/>
                <a:cs typeface="Arial" pitchFamily="34" charset="-120"/>
              </a:rPr>
              <a:t>Your Validator</a:t>
            </a:r>
            <a:endParaRPr lang="en-US" sz="1400"/>
          </a:p>
        </p:txBody>
      </p:sp>
      <p:sp>
        <p:nvSpPr>
          <p:cNvPr id="19" name="Text 16"/>
          <p:cNvSpPr/>
          <p:nvPr/>
        </p:nvSpPr>
        <p:spPr>
          <a:xfrm>
            <a:off x="640080" y="4046760"/>
            <a:ext cx="7863840" cy="274320"/>
          </a:xfrm>
          <a:prstGeom prst="rect">
            <a:avLst/>
          </a:prstGeom>
          <a:noFill/>
          <a:ln/>
        </p:spPr>
        <p:txBody>
          <a:bodyPr wrap="square" rtlCol="0" anchor="ctr"/>
          <a:lstStyle/>
          <a:p>
            <a:pPr marL="0" indent="0">
              <a:buNone/>
            </a:pPr>
            <a:r>
              <a:rPr lang="en-US" sz="1100" i="1">
                <a:solidFill>
                  <a:srgbClr val="024879"/>
                </a:solidFill>
                <a:latin typeface="Calibri" pitchFamily="34" charset="0"/>
                <a:ea typeface="Calibri" pitchFamily="34" charset="-122"/>
                <a:cs typeface="Calibri" pitchFamily="34" charset="-120"/>
              </a:rPr>
              <a:t>Option 1 → client PM / Account Lead   ·   Option 2 → Platform Leader / Owner</a:t>
            </a:r>
            <a:endParaRPr lang="en-US" sz="1100"/>
          </a:p>
        </p:txBody>
      </p:sp>
      <p:sp>
        <p:nvSpPr>
          <p:cNvPr id="20" name="Text 17"/>
          <p:cNvSpPr/>
          <p:nvPr/>
        </p:nvSpPr>
        <p:spPr>
          <a:xfrm>
            <a:off x="640080" y="4412520"/>
            <a:ext cx="7863840" cy="365760"/>
          </a:xfrm>
          <a:prstGeom prst="rect">
            <a:avLst/>
          </a:prstGeom>
          <a:noFill/>
          <a:ln/>
        </p:spPr>
        <p:txBody>
          <a:bodyPr wrap="square" rtlCol="0" anchor="ctr"/>
          <a:lstStyle/>
          <a:p>
            <a:pPr marL="0" indent="0">
              <a:buNone/>
            </a:pPr>
            <a:r>
              <a:rPr lang="en-US" sz="1200" b="1">
                <a:solidFill>
                  <a:srgbClr val="1B2227"/>
                </a:solidFill>
                <a:latin typeface="Calibri" pitchFamily="34" charset="0"/>
                <a:ea typeface="Calibri" pitchFamily="34" charset="-122"/>
                <a:cs typeface="Calibri" pitchFamily="34" charset="-120"/>
              </a:rPr>
              <a:t>Name: </a:t>
            </a:r>
            <a:r>
              <a:rPr lang="en-US" sz="1200">
                <a:solidFill>
                  <a:srgbClr val="1B2227"/>
                </a:solidFill>
                <a:latin typeface="Calibri" pitchFamily="34" charset="0"/>
                <a:ea typeface="Calibri" pitchFamily="34" charset="-122"/>
                <a:cs typeface="Calibri" pitchFamily="34" charset="-120"/>
              </a:rPr>
              <a:t>____________________      </a:t>
            </a:r>
            <a:r>
              <a:rPr lang="en-US" sz="1200" b="1">
                <a:solidFill>
                  <a:srgbClr val="1B2227"/>
                </a:solidFill>
                <a:latin typeface="Calibri" pitchFamily="34" charset="0"/>
                <a:ea typeface="Calibri" pitchFamily="34" charset="-122"/>
                <a:cs typeface="Calibri" pitchFamily="34" charset="-120"/>
              </a:rPr>
              <a:t>Role: </a:t>
            </a:r>
            <a:r>
              <a:rPr lang="en-US" sz="1200">
                <a:solidFill>
                  <a:srgbClr val="1B2227"/>
                </a:solidFill>
                <a:latin typeface="Calibri" pitchFamily="34" charset="0"/>
                <a:ea typeface="Calibri" pitchFamily="34" charset="-122"/>
                <a:cs typeface="Calibri" pitchFamily="34" charset="-120"/>
              </a:rPr>
              <a:t>____________________      </a:t>
            </a:r>
            <a:r>
              <a:rPr lang="en-US" sz="1200" b="1">
                <a:solidFill>
                  <a:srgbClr val="1B2227"/>
                </a:solidFill>
                <a:latin typeface="Calibri" pitchFamily="34" charset="0"/>
                <a:ea typeface="Calibri" pitchFamily="34" charset="-122"/>
                <a:cs typeface="Calibri" pitchFamily="34" charset="-120"/>
              </a:rPr>
              <a:t>Email: </a:t>
            </a:r>
            <a:r>
              <a:rPr lang="en-US" sz="1200">
                <a:solidFill>
                  <a:srgbClr val="1B2227"/>
                </a:solidFill>
                <a:latin typeface="Calibri" pitchFamily="34" charset="0"/>
                <a:ea typeface="Calibri" pitchFamily="34" charset="-122"/>
                <a:cs typeface="Calibri" pitchFamily="34" charset="-120"/>
              </a:rPr>
              <a:t>____________________</a:t>
            </a:r>
            <a:endParaRPr lang="en-US" sz="1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The Rubric — 5 Topics</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Text 1"/>
          <p:cNvSpPr/>
          <p:nvPr/>
        </p:nvSpPr>
        <p:spPr>
          <a:xfrm>
            <a:off x="457200" y="896112"/>
            <a:ext cx="8229600" cy="274320"/>
          </a:xfrm>
          <a:prstGeom prst="rect">
            <a:avLst/>
          </a:prstGeom>
          <a:noFill/>
          <a:ln/>
        </p:spPr>
        <p:txBody>
          <a:bodyPr wrap="square" rtlCol="0" anchor="ctr"/>
          <a:lstStyle/>
          <a:p>
            <a:pPr marL="0" indent="0">
              <a:buNone/>
            </a:pPr>
            <a:r>
              <a:rPr lang="en-US" sz="1200" i="1">
                <a:solidFill>
                  <a:srgbClr val="5A6B72"/>
                </a:solidFill>
                <a:latin typeface="Calibri" pitchFamily="34" charset="0"/>
                <a:ea typeface="Calibri" pitchFamily="34" charset="-122"/>
                <a:cs typeface="Calibri" pitchFamily="34" charset="-120"/>
              </a:rPr>
              <a:t>Each topic scored 0–30. Demonstrate at least 3. Clear at 70 / 150.</a:t>
            </a:r>
            <a:endParaRPr lang="en-US" sz="120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3200400"/>
        </p:xfrm>
        <a:graphic>
          <a:graphicData uri="http://schemas.openxmlformats.org/drawingml/2006/table">
            <a:tbl>
              <a:tblPr/>
              <a:tblGrid>
                <a:gridCol w="246888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365760">
                <a:tc>
                  <a:txBody>
                    <a:bodyPr/>
                    <a:lstStyle/>
                    <a:p>
                      <a:pPr marL="0" indent="0">
                        <a:buNone/>
                      </a:pPr>
                      <a:r>
                        <a:rPr lang="en-US" sz="1100" b="1">
                          <a:solidFill>
                            <a:srgbClr val="FFFFFF"/>
                          </a:solidFill>
                          <a:latin typeface="Calibri" pitchFamily="34" charset="0"/>
                          <a:ea typeface="Calibri" pitchFamily="34" charset="-122"/>
                          <a:cs typeface="Calibri" pitchFamily="34" charset="-120"/>
                        </a:rPr>
                        <a:t>Competency topic</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075056"/>
                    </a:solidFill>
                  </a:tcPr>
                </a:tc>
                <a:tc>
                  <a:txBody>
                    <a:bodyPr/>
                    <a:lstStyle/>
                    <a:p>
                      <a:pPr marL="0" indent="0">
                        <a:buNone/>
                      </a:pPr>
                      <a:r>
                        <a:rPr lang="en-US" sz="1100" b="1">
                          <a:solidFill>
                            <a:srgbClr val="FFFFFF"/>
                          </a:solidFill>
                          <a:latin typeface="Calibri" pitchFamily="34" charset="0"/>
                          <a:ea typeface="Calibri" pitchFamily="34" charset="-122"/>
                          <a:cs typeface="Calibri" pitchFamily="34" charset="-120"/>
                        </a:rPr>
                        <a:t>What earns top marks (25–30)</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075056"/>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Max</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075056"/>
                    </a:solidFill>
                  </a:tcPr>
                </a:tc>
                <a:extLst>
                  <a:ext uri="{0D108BD9-81ED-4DB2-BD59-A6C34878D82A}">
                    <a16:rowId xmlns:a16="http://schemas.microsoft.com/office/drawing/2014/main" val="10000"/>
                  </a:ext>
                </a:extLst>
              </a:tr>
              <a:tr h="566928">
                <a:tc>
                  <a:txBody>
                    <a:bodyPr/>
                    <a:lstStyle/>
                    <a:p>
                      <a:pPr marL="0" indent="0">
                        <a:buNone/>
                      </a:pPr>
                      <a:r>
                        <a:rPr lang="en-US" sz="1100" b="1">
                          <a:solidFill>
                            <a:srgbClr val="024879"/>
                          </a:solidFill>
                          <a:latin typeface="Calibri" pitchFamily="34" charset="0"/>
                          <a:ea typeface="Calibri" pitchFamily="34" charset="-122"/>
                          <a:cs typeface="Calibri" pitchFamily="34" charset="-120"/>
                        </a:rPr>
                        <a:t>Spec-Driven Development</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tc>
                  <a:txBody>
                    <a:bodyPr/>
                    <a:lstStyle/>
                    <a:p>
                      <a:pPr marL="0" indent="0">
                        <a:buNone/>
                      </a:pPr>
                      <a:r>
                        <a:rPr lang="en-US" sz="1100">
                          <a:solidFill>
                            <a:srgbClr val="1B2227"/>
                          </a:solidFill>
                          <a:latin typeface="Calibri" pitchFamily="34" charset="0"/>
                          <a:ea typeface="Calibri" pitchFamily="34" charset="-122"/>
                          <a:cs typeface="Calibri" pitchFamily="34" charset="-120"/>
                        </a:rPr>
                        <a:t>Spec → Plan → Tasks → Implement drove the work; specs written before code.</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tc>
                  <a:txBody>
                    <a:bodyPr/>
                    <a:lstStyle/>
                    <a:p>
                      <a:pPr marL="0" indent="0" algn="ctr">
                        <a:buNone/>
                      </a:pPr>
                      <a:r>
                        <a:rPr lang="en-US" sz="1100" b="1">
                          <a:solidFill>
                            <a:srgbClr val="1B2227"/>
                          </a:solidFill>
                          <a:latin typeface="Calibri" pitchFamily="34" charset="0"/>
                          <a:ea typeface="Calibri" pitchFamily="34" charset="-122"/>
                          <a:cs typeface="Calibri" pitchFamily="34" charset="-120"/>
                        </a:rPr>
                        <a:t>30</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extLst>
                  <a:ext uri="{0D108BD9-81ED-4DB2-BD59-A6C34878D82A}">
                    <a16:rowId xmlns:a16="http://schemas.microsoft.com/office/drawing/2014/main" val="10001"/>
                  </a:ext>
                </a:extLst>
              </a:tr>
              <a:tr h="566928">
                <a:tc>
                  <a:txBody>
                    <a:bodyPr/>
                    <a:lstStyle/>
                    <a:p>
                      <a:pPr marL="0" indent="0">
                        <a:buNone/>
                      </a:pPr>
                      <a:r>
                        <a:rPr lang="en-US" sz="1100" b="1">
                          <a:solidFill>
                            <a:srgbClr val="024879"/>
                          </a:solidFill>
                          <a:latin typeface="Calibri" pitchFamily="34" charset="0"/>
                          <a:ea typeface="Calibri" pitchFamily="34" charset="-122"/>
                          <a:cs typeface="Calibri" pitchFamily="34" charset="-120"/>
                        </a:rPr>
                        <a:t>Context Engineering</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r>
                        <a:rPr lang="en-US" sz="1100">
                          <a:solidFill>
                            <a:srgbClr val="1B2227"/>
                          </a:solidFill>
                          <a:latin typeface="Calibri" pitchFamily="34" charset="0"/>
                          <a:ea typeface="Calibri" pitchFamily="34" charset="-122"/>
                          <a:cs typeface="Calibri" pitchFamily="34" charset="-120"/>
                        </a:rPr>
                        <a:t>Instruction files, skills, and curated references deliberately shaped AI output.</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lgn="ctr">
                        <a:buNone/>
                      </a:pPr>
                      <a:r>
                        <a:rPr lang="en-US" sz="1100" b="1">
                          <a:solidFill>
                            <a:srgbClr val="1B2227"/>
                          </a:solidFill>
                          <a:latin typeface="Calibri" pitchFamily="34" charset="0"/>
                          <a:ea typeface="Calibri" pitchFamily="34" charset="-122"/>
                          <a:cs typeface="Calibri" pitchFamily="34" charset="-120"/>
                        </a:rPr>
                        <a:t>30</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100" b="1">
                          <a:solidFill>
                            <a:srgbClr val="024879"/>
                          </a:solidFill>
                          <a:latin typeface="Calibri" pitchFamily="34" charset="0"/>
                          <a:ea typeface="Calibri" pitchFamily="34" charset="-122"/>
                          <a:cs typeface="Calibri" pitchFamily="34" charset="-120"/>
                        </a:rPr>
                        <a:t>AI Output Review</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tc>
                  <a:txBody>
                    <a:bodyPr/>
                    <a:lstStyle/>
                    <a:p>
                      <a:pPr marL="0" indent="0">
                        <a:buNone/>
                      </a:pPr>
                      <a:r>
                        <a:rPr lang="en-US" sz="1100">
                          <a:solidFill>
                            <a:srgbClr val="1B2227"/>
                          </a:solidFill>
                          <a:latin typeface="Calibri" pitchFamily="34" charset="0"/>
                          <a:ea typeface="Calibri" pitchFamily="34" charset="-122"/>
                          <a:cs typeface="Calibri" pitchFamily="34" charset="-120"/>
                        </a:rPr>
                        <a:t>Reviewed AI output for intent, tests, security, performance, maintainability; caught &amp; fixed errors.</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tc>
                  <a:txBody>
                    <a:bodyPr/>
                    <a:lstStyle/>
                    <a:p>
                      <a:pPr marL="0" indent="0" algn="ctr">
                        <a:buNone/>
                      </a:pPr>
                      <a:r>
                        <a:rPr lang="en-US" sz="1100" b="1">
                          <a:solidFill>
                            <a:srgbClr val="1B2227"/>
                          </a:solidFill>
                          <a:latin typeface="Calibri" pitchFamily="34" charset="0"/>
                          <a:ea typeface="Calibri" pitchFamily="34" charset="-122"/>
                          <a:cs typeface="Calibri" pitchFamily="34" charset="-120"/>
                        </a:rPr>
                        <a:t>30</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extLst>
                  <a:ext uri="{0D108BD9-81ED-4DB2-BD59-A6C34878D82A}">
                    <a16:rowId xmlns:a16="http://schemas.microsoft.com/office/drawing/2014/main" val="10003"/>
                  </a:ext>
                </a:extLst>
              </a:tr>
              <a:tr h="566928">
                <a:tc>
                  <a:txBody>
                    <a:bodyPr/>
                    <a:lstStyle/>
                    <a:p>
                      <a:pPr marL="0" indent="0">
                        <a:buNone/>
                      </a:pPr>
                      <a:r>
                        <a:rPr lang="en-US" sz="1100" b="1">
                          <a:solidFill>
                            <a:srgbClr val="024879"/>
                          </a:solidFill>
                          <a:latin typeface="Calibri" pitchFamily="34" charset="0"/>
                          <a:ea typeface="Calibri" pitchFamily="34" charset="-122"/>
                          <a:cs typeface="Calibri" pitchFamily="34" charset="-120"/>
                        </a:rPr>
                        <a:t>RAG Pipeline</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buNone/>
                      </a:pPr>
                      <a:r>
                        <a:rPr lang="en-US" sz="1100">
                          <a:solidFill>
                            <a:srgbClr val="1B2227"/>
                          </a:solidFill>
                          <a:latin typeface="Calibri" pitchFamily="34" charset="0"/>
                          <a:ea typeface="Calibri" pitchFamily="34" charset="-122"/>
                          <a:cs typeface="Calibri" pitchFamily="34" charset="-120"/>
                        </a:rPr>
                        <a:t>Built load → chunk → embed → store → query over your own docs or codebase.</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tc>
                  <a:txBody>
                    <a:bodyPr/>
                    <a:lstStyle/>
                    <a:p>
                      <a:pPr marL="0" indent="0" algn="ctr">
                        <a:buNone/>
                      </a:pPr>
                      <a:r>
                        <a:rPr lang="en-US" sz="1100" b="1">
                          <a:solidFill>
                            <a:srgbClr val="1B2227"/>
                          </a:solidFill>
                          <a:latin typeface="Calibri" pitchFamily="34" charset="0"/>
                          <a:ea typeface="Calibri" pitchFamily="34" charset="-122"/>
                          <a:cs typeface="Calibri" pitchFamily="34" charset="-120"/>
                        </a:rPr>
                        <a:t>30</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100" b="1">
                          <a:solidFill>
                            <a:srgbClr val="024879"/>
                          </a:solidFill>
                          <a:latin typeface="Calibri" pitchFamily="34" charset="0"/>
                          <a:ea typeface="Calibri" pitchFamily="34" charset="-122"/>
                          <a:cs typeface="Calibri" pitchFamily="34" charset="-120"/>
                        </a:rPr>
                        <a:t>n8n + AI Automation</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tc>
                  <a:txBody>
                    <a:bodyPr/>
                    <a:lstStyle/>
                    <a:p>
                      <a:pPr marL="0" indent="0">
                        <a:buNone/>
                      </a:pPr>
                      <a:r>
                        <a:rPr lang="en-US" sz="1100">
                          <a:solidFill>
                            <a:srgbClr val="1B2227"/>
                          </a:solidFill>
                          <a:latin typeface="Calibri" pitchFamily="34" charset="0"/>
                          <a:ea typeface="Calibri" pitchFamily="34" charset="-122"/>
                          <a:cs typeface="Calibri" pitchFamily="34" charset="-120"/>
                        </a:rPr>
                        <a:t>Built a working AI-in-the-loop n8n workflow that automates a real recurring task.</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tc>
                  <a:txBody>
                    <a:bodyPr/>
                    <a:lstStyle/>
                    <a:p>
                      <a:pPr marL="0" indent="0" algn="ctr">
                        <a:buNone/>
                      </a:pPr>
                      <a:r>
                        <a:rPr lang="en-US" sz="1100" b="1">
                          <a:solidFill>
                            <a:srgbClr val="1B2227"/>
                          </a:solidFill>
                          <a:latin typeface="Calibri" pitchFamily="34" charset="0"/>
                          <a:ea typeface="Calibri" pitchFamily="34" charset="-122"/>
                          <a:cs typeface="Calibri" pitchFamily="34" charset="-120"/>
                        </a:rPr>
                        <a:t>30</a:t>
                      </a:r>
                      <a:endParaRPr lang="en-US" sz="1100">
                        <a:latin typeface="Calibri" charset="0"/>
                        <a:ea typeface="Calibri" charset="0"/>
                        <a:cs typeface="Calibri" charset="0"/>
                      </a:endParaRPr>
                    </a:p>
                  </a:txBody>
                  <a:tcPr anchor="ctr">
                    <a:lnL w="6350" cap="flat" cmpd="sng" algn="ctr">
                      <a:solidFill>
                        <a:srgbClr val="B7C4CC"/>
                      </a:solidFill>
                      <a:prstDash val="solid"/>
                      <a:round/>
                      <a:headEnd type="none" w="med" len="med"/>
                      <a:tailEnd type="none" w="med" len="med"/>
                    </a:lnL>
                    <a:lnR w="6350" cap="flat" cmpd="sng" algn="ctr">
                      <a:solidFill>
                        <a:srgbClr val="B7C4CC"/>
                      </a:solidFill>
                      <a:prstDash val="solid"/>
                      <a:round/>
                      <a:headEnd type="none" w="med" len="med"/>
                      <a:tailEnd type="none" w="med" len="med"/>
                    </a:lnR>
                    <a:lnT w="6350" cap="flat" cmpd="sng" algn="ctr">
                      <a:solidFill>
                        <a:srgbClr val="B7C4CC"/>
                      </a:solidFill>
                      <a:prstDash val="solid"/>
                      <a:round/>
                      <a:headEnd type="none" w="med" len="med"/>
                      <a:tailEnd type="none" w="med" len="med"/>
                    </a:lnT>
                    <a:lnB w="6350" cap="flat" cmpd="sng" algn="ctr">
                      <a:solidFill>
                        <a:srgbClr val="B7C4CC"/>
                      </a:solidFill>
                      <a:prstDash val="solid"/>
                      <a:round/>
                      <a:headEnd type="none" w="med" len="med"/>
                      <a:tailEnd type="none" w="med" len="med"/>
                    </a:lnB>
                    <a:solidFill>
                      <a:srgbClr val="DFE7ED"/>
                    </a:solidFill>
                  </a:tcPr>
                </a:tc>
                <a:extLst>
                  <a:ext uri="{0D108BD9-81ED-4DB2-BD59-A6C34878D82A}">
                    <a16:rowId xmlns:a16="http://schemas.microsoft.com/office/drawing/2014/main" val="10005"/>
                  </a:ext>
                </a:extLst>
              </a:tr>
            </a:tbl>
          </a:graphicData>
        </a:graphic>
      </p:graphicFrame>
      <p:sp>
        <p:nvSpPr>
          <p:cNvPr id="6" name="Shape 2"/>
          <p:cNvSpPr/>
          <p:nvPr/>
        </p:nvSpPr>
        <p:spPr>
          <a:xfrm>
            <a:off x="457200" y="4526280"/>
            <a:ext cx="1965960" cy="411480"/>
          </a:xfrm>
          <a:prstGeom prst="roundRect">
            <a:avLst>
              <a:gd name="adj" fmla="val 8889"/>
            </a:avLst>
          </a:prstGeom>
          <a:solidFill>
            <a:srgbClr val="71D8C5"/>
          </a:solidFill>
          <a:ln w="9525">
            <a:solidFill>
              <a:srgbClr val="B7C4CC"/>
            </a:solidFill>
            <a:prstDash val="solid"/>
          </a:ln>
        </p:spPr>
        <p:txBody>
          <a:bodyPr/>
          <a:lstStyle/>
          <a:p>
            <a:endParaRPr lang="en-US"/>
          </a:p>
        </p:txBody>
      </p:sp>
      <p:sp>
        <p:nvSpPr>
          <p:cNvPr id="7" name="Text 3"/>
          <p:cNvSpPr/>
          <p:nvPr/>
        </p:nvSpPr>
        <p:spPr>
          <a:xfrm>
            <a:off x="457200" y="4526280"/>
            <a:ext cx="1965960" cy="411480"/>
          </a:xfrm>
          <a:prstGeom prst="rect">
            <a:avLst/>
          </a:prstGeom>
          <a:noFill/>
          <a:ln/>
        </p:spPr>
        <p:txBody>
          <a:bodyPr wrap="square" rtlCol="0" anchor="ctr"/>
          <a:lstStyle/>
          <a:p>
            <a:pPr marL="0" indent="0" algn="ctr">
              <a:buNone/>
            </a:pPr>
            <a:r>
              <a:rPr lang="en-US" sz="1000" b="1">
                <a:solidFill>
                  <a:srgbClr val="1B2227"/>
                </a:solidFill>
                <a:latin typeface="Arial" pitchFamily="34" charset="0"/>
                <a:ea typeface="Arial" pitchFamily="34" charset="-122"/>
                <a:cs typeface="Arial" pitchFamily="34" charset="-120"/>
              </a:rPr>
              <a:t>Distinction  25–30</a:t>
            </a:r>
            <a:endParaRPr lang="en-US" sz="1000"/>
          </a:p>
        </p:txBody>
      </p:sp>
      <p:sp>
        <p:nvSpPr>
          <p:cNvPr id="8" name="Shape 4"/>
          <p:cNvSpPr/>
          <p:nvPr/>
        </p:nvSpPr>
        <p:spPr>
          <a:xfrm>
            <a:off x="2532888" y="4526280"/>
            <a:ext cx="1965960" cy="411480"/>
          </a:xfrm>
          <a:prstGeom prst="roundRect">
            <a:avLst>
              <a:gd name="adj" fmla="val 8889"/>
            </a:avLst>
          </a:prstGeom>
          <a:solidFill>
            <a:srgbClr val="C5DCEE"/>
          </a:solidFill>
          <a:ln w="9525">
            <a:solidFill>
              <a:srgbClr val="B7C4CC"/>
            </a:solidFill>
            <a:prstDash val="solid"/>
          </a:ln>
        </p:spPr>
        <p:txBody>
          <a:bodyPr/>
          <a:lstStyle/>
          <a:p>
            <a:endParaRPr lang="en-US"/>
          </a:p>
        </p:txBody>
      </p:sp>
      <p:sp>
        <p:nvSpPr>
          <p:cNvPr id="9" name="Text 5"/>
          <p:cNvSpPr/>
          <p:nvPr/>
        </p:nvSpPr>
        <p:spPr>
          <a:xfrm>
            <a:off x="2532888" y="4526280"/>
            <a:ext cx="1965960" cy="411480"/>
          </a:xfrm>
          <a:prstGeom prst="rect">
            <a:avLst/>
          </a:prstGeom>
          <a:noFill/>
          <a:ln/>
        </p:spPr>
        <p:txBody>
          <a:bodyPr wrap="square" rtlCol="0" anchor="ctr"/>
          <a:lstStyle/>
          <a:p>
            <a:pPr marL="0" indent="0" algn="ctr">
              <a:buNone/>
            </a:pPr>
            <a:r>
              <a:rPr lang="en-US" sz="1000" b="1">
                <a:solidFill>
                  <a:srgbClr val="1B2227"/>
                </a:solidFill>
                <a:latin typeface="Arial" pitchFamily="34" charset="0"/>
                <a:ea typeface="Arial" pitchFamily="34" charset="-122"/>
                <a:cs typeface="Arial" pitchFamily="34" charset="-120"/>
              </a:rPr>
              <a:t>Proficient  18–24</a:t>
            </a:r>
            <a:endParaRPr lang="en-US" sz="1000"/>
          </a:p>
        </p:txBody>
      </p:sp>
      <p:sp>
        <p:nvSpPr>
          <p:cNvPr id="10" name="Shape 6"/>
          <p:cNvSpPr/>
          <p:nvPr/>
        </p:nvSpPr>
        <p:spPr>
          <a:xfrm>
            <a:off x="4608576" y="4526280"/>
            <a:ext cx="1965960" cy="411480"/>
          </a:xfrm>
          <a:prstGeom prst="roundRect">
            <a:avLst>
              <a:gd name="adj" fmla="val 8889"/>
            </a:avLst>
          </a:prstGeom>
          <a:solidFill>
            <a:srgbClr val="DFE7ED"/>
          </a:solidFill>
          <a:ln w="9525">
            <a:solidFill>
              <a:srgbClr val="B7C4CC"/>
            </a:solidFill>
            <a:prstDash val="solid"/>
          </a:ln>
        </p:spPr>
        <p:txBody>
          <a:bodyPr/>
          <a:lstStyle/>
          <a:p>
            <a:endParaRPr lang="en-US"/>
          </a:p>
        </p:txBody>
      </p:sp>
      <p:sp>
        <p:nvSpPr>
          <p:cNvPr id="5" name="Text 7"/>
          <p:cNvSpPr/>
          <p:nvPr/>
        </p:nvSpPr>
        <p:spPr>
          <a:xfrm>
            <a:off x="4608576" y="4526280"/>
            <a:ext cx="1965960" cy="411480"/>
          </a:xfrm>
          <a:prstGeom prst="rect">
            <a:avLst/>
          </a:prstGeom>
          <a:noFill/>
          <a:ln/>
        </p:spPr>
        <p:txBody>
          <a:bodyPr wrap="square" rtlCol="0" anchor="ctr"/>
          <a:lstStyle/>
          <a:p>
            <a:pPr marL="0" indent="0" algn="ctr">
              <a:buNone/>
            </a:pPr>
            <a:r>
              <a:rPr lang="en-US" sz="1000" b="1">
                <a:solidFill>
                  <a:srgbClr val="1B2227"/>
                </a:solidFill>
                <a:latin typeface="Arial" pitchFamily="34" charset="0"/>
                <a:ea typeface="Arial" pitchFamily="34" charset="-122"/>
                <a:cs typeface="Arial" pitchFamily="34" charset="-120"/>
              </a:rPr>
              <a:t>Developing  10–17</a:t>
            </a:r>
            <a:endParaRPr lang="en-US" sz="1000"/>
          </a:p>
        </p:txBody>
      </p:sp>
      <p:sp>
        <p:nvSpPr>
          <p:cNvPr id="12" name="Shape 8"/>
          <p:cNvSpPr/>
          <p:nvPr/>
        </p:nvSpPr>
        <p:spPr>
          <a:xfrm>
            <a:off x="6684264" y="4526280"/>
            <a:ext cx="1965960" cy="411480"/>
          </a:xfrm>
          <a:prstGeom prst="roundRect">
            <a:avLst>
              <a:gd name="adj" fmla="val 8889"/>
            </a:avLst>
          </a:prstGeom>
          <a:solidFill>
            <a:srgbClr val="FFFFFF"/>
          </a:solidFill>
          <a:ln w="9525">
            <a:solidFill>
              <a:srgbClr val="B7C4CC"/>
            </a:solidFill>
            <a:prstDash val="solid"/>
          </a:ln>
        </p:spPr>
        <p:txBody>
          <a:bodyPr/>
          <a:lstStyle/>
          <a:p>
            <a:endParaRPr lang="en-US"/>
          </a:p>
        </p:txBody>
      </p:sp>
      <p:sp>
        <p:nvSpPr>
          <p:cNvPr id="13" name="Text 9"/>
          <p:cNvSpPr/>
          <p:nvPr/>
        </p:nvSpPr>
        <p:spPr>
          <a:xfrm>
            <a:off x="6684264" y="4526280"/>
            <a:ext cx="1965960" cy="411480"/>
          </a:xfrm>
          <a:prstGeom prst="rect">
            <a:avLst/>
          </a:prstGeom>
          <a:noFill/>
          <a:ln/>
        </p:spPr>
        <p:txBody>
          <a:bodyPr wrap="square" rtlCol="0" anchor="ctr"/>
          <a:lstStyle/>
          <a:p>
            <a:pPr marL="0" indent="0" algn="ctr">
              <a:buNone/>
            </a:pPr>
            <a:r>
              <a:rPr lang="en-US" sz="1000" b="1">
                <a:solidFill>
                  <a:srgbClr val="1B2227"/>
                </a:solidFill>
                <a:latin typeface="Arial" pitchFamily="34" charset="0"/>
                <a:ea typeface="Arial" pitchFamily="34" charset="-122"/>
                <a:cs typeface="Arial" pitchFamily="34" charset="-120"/>
              </a:rPr>
              <a:t>Emerging  0–9</a:t>
            </a:r>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dirty="0">
                <a:solidFill>
                  <a:srgbClr val="024879"/>
                </a:solidFill>
                <a:latin typeface="Arial" pitchFamily="34" charset="0"/>
                <a:ea typeface="Arial" pitchFamily="34" charset="-122"/>
                <a:cs typeface="Arial" pitchFamily="34" charset="-120"/>
              </a:rPr>
              <a:t>My Self-Rating</a:t>
            </a:r>
            <a:endParaRPr lang="en-US" sz="2600" dirty="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Text 1"/>
          <p:cNvSpPr/>
          <p:nvPr/>
        </p:nvSpPr>
        <p:spPr>
          <a:xfrm>
            <a:off x="457200" y="896112"/>
            <a:ext cx="8229600" cy="274320"/>
          </a:xfrm>
          <a:prstGeom prst="rect">
            <a:avLst/>
          </a:prstGeom>
          <a:noFill/>
          <a:ln/>
        </p:spPr>
        <p:txBody>
          <a:bodyPr wrap="square" rtlCol="0" anchor="ctr"/>
          <a:lstStyle/>
          <a:p>
            <a:pPr marL="0" indent="0">
              <a:buNone/>
            </a:pPr>
            <a:r>
              <a:rPr lang="en-US" sz="1200" i="1" dirty="0">
                <a:solidFill>
                  <a:srgbClr val="5A6B72"/>
                </a:solidFill>
                <a:latin typeface="Calibri" pitchFamily="34" charset="0"/>
                <a:ea typeface="Calibri" pitchFamily="34" charset="-122"/>
                <a:cs typeface="Calibri" pitchFamily="34" charset="-120"/>
              </a:rPr>
              <a:t>Score each topic you demonstrated (0–30). Leave blank if not used (min 3 required).</a:t>
            </a:r>
            <a:endParaRPr lang="en-US" sz="1200" dirty="0"/>
          </a:p>
        </p:txBody>
      </p:sp>
      <p:sp>
        <p:nvSpPr>
          <p:cNvPr id="5" name="Shape 2"/>
          <p:cNvSpPr/>
          <p:nvPr/>
        </p:nvSpPr>
        <p:spPr>
          <a:xfrm>
            <a:off x="457200" y="1280160"/>
            <a:ext cx="6949440" cy="457200"/>
          </a:xfrm>
          <a:prstGeom prst="roundRect">
            <a:avLst>
              <a:gd name="adj" fmla="val 8000"/>
            </a:avLst>
          </a:prstGeom>
          <a:solidFill>
            <a:srgbClr val="DFE7ED"/>
          </a:solidFill>
          <a:ln w="6350">
            <a:solidFill>
              <a:srgbClr val="B7C4CC"/>
            </a:solidFill>
            <a:prstDash val="solid"/>
          </a:ln>
        </p:spPr>
        <p:txBody>
          <a:bodyPr/>
          <a:lstStyle/>
          <a:p>
            <a:endParaRPr lang="en-US"/>
          </a:p>
        </p:txBody>
      </p:sp>
      <p:sp>
        <p:nvSpPr>
          <p:cNvPr id="6" name="Text 3"/>
          <p:cNvSpPr/>
          <p:nvPr/>
        </p:nvSpPr>
        <p:spPr>
          <a:xfrm>
            <a:off x="594360" y="1280160"/>
            <a:ext cx="6675120" cy="457200"/>
          </a:xfrm>
          <a:prstGeom prst="rect">
            <a:avLst/>
          </a:prstGeom>
          <a:noFill/>
          <a:ln/>
        </p:spPr>
        <p:txBody>
          <a:bodyPr wrap="square" rtlCol="0" anchor="ctr"/>
          <a:lstStyle/>
          <a:p>
            <a:pPr marL="0" indent="0">
              <a:buNone/>
            </a:pPr>
            <a:r>
              <a:rPr lang="en-US" sz="1250" b="1">
                <a:solidFill>
                  <a:srgbClr val="024879"/>
                </a:solidFill>
                <a:latin typeface="Calibri" pitchFamily="34" charset="0"/>
                <a:ea typeface="Calibri" pitchFamily="34" charset="-122"/>
                <a:cs typeface="Calibri" pitchFamily="34" charset="-120"/>
              </a:rPr>
              <a:t>1.  Spec-Driven Development</a:t>
            </a:r>
            <a:endParaRPr lang="en-US" sz="1250"/>
          </a:p>
        </p:txBody>
      </p:sp>
      <p:sp>
        <p:nvSpPr>
          <p:cNvPr id="7" name="Shape 4"/>
          <p:cNvSpPr/>
          <p:nvPr/>
        </p:nvSpPr>
        <p:spPr>
          <a:xfrm>
            <a:off x="7543800" y="1280160"/>
            <a:ext cx="1143000" cy="457200"/>
          </a:xfrm>
          <a:prstGeom prst="roundRect">
            <a:avLst>
              <a:gd name="adj" fmla="val 8000"/>
            </a:avLst>
          </a:prstGeom>
          <a:solidFill>
            <a:srgbClr val="C5DCEE"/>
          </a:solidFill>
          <a:ln w="12700">
            <a:solidFill>
              <a:srgbClr val="075056"/>
            </a:solidFill>
            <a:prstDash val="solid"/>
          </a:ln>
        </p:spPr>
        <p:txBody>
          <a:bodyPr/>
          <a:lstStyle/>
          <a:p>
            <a:endParaRPr lang="en-US"/>
          </a:p>
        </p:txBody>
      </p:sp>
      <p:sp>
        <p:nvSpPr>
          <p:cNvPr id="8" name="Text 5"/>
          <p:cNvSpPr/>
          <p:nvPr/>
        </p:nvSpPr>
        <p:spPr>
          <a:xfrm>
            <a:off x="7543800" y="1280160"/>
            <a:ext cx="1143000" cy="457200"/>
          </a:xfrm>
          <a:prstGeom prst="rect">
            <a:avLst/>
          </a:prstGeom>
          <a:noFill/>
          <a:ln/>
        </p:spPr>
        <p:txBody>
          <a:bodyPr wrap="square" rtlCol="0" anchor="ctr"/>
          <a:lstStyle/>
          <a:p>
            <a:pPr marL="0" indent="0" algn="ctr">
              <a:buNone/>
            </a:pPr>
            <a:r>
              <a:rPr lang="en-US" sz="1200" b="1" dirty="0">
                <a:solidFill>
                  <a:srgbClr val="075056"/>
                </a:solidFill>
                <a:latin typeface="Arial" pitchFamily="34" charset="0"/>
                <a:ea typeface="Arial" pitchFamily="34" charset="-122"/>
                <a:cs typeface="Arial" pitchFamily="34" charset="-120"/>
              </a:rPr>
              <a:t>28 / 30</a:t>
            </a:r>
            <a:endParaRPr lang="en-US" sz="1200" dirty="0"/>
          </a:p>
        </p:txBody>
      </p:sp>
      <p:sp>
        <p:nvSpPr>
          <p:cNvPr id="9" name="Shape 6"/>
          <p:cNvSpPr/>
          <p:nvPr/>
        </p:nvSpPr>
        <p:spPr>
          <a:xfrm>
            <a:off x="457200" y="1810512"/>
            <a:ext cx="6949440" cy="457200"/>
          </a:xfrm>
          <a:prstGeom prst="roundRect">
            <a:avLst>
              <a:gd name="adj" fmla="val 8000"/>
            </a:avLst>
          </a:prstGeom>
          <a:solidFill>
            <a:srgbClr val="FFFFFF"/>
          </a:solidFill>
          <a:ln w="6350">
            <a:solidFill>
              <a:srgbClr val="B7C4CC"/>
            </a:solidFill>
            <a:prstDash val="solid"/>
          </a:ln>
        </p:spPr>
        <p:txBody>
          <a:bodyPr/>
          <a:lstStyle/>
          <a:p>
            <a:endParaRPr lang="en-US"/>
          </a:p>
        </p:txBody>
      </p:sp>
      <p:sp>
        <p:nvSpPr>
          <p:cNvPr id="10" name="Text 7"/>
          <p:cNvSpPr/>
          <p:nvPr/>
        </p:nvSpPr>
        <p:spPr>
          <a:xfrm>
            <a:off x="594360" y="1810512"/>
            <a:ext cx="6675120" cy="457200"/>
          </a:xfrm>
          <a:prstGeom prst="rect">
            <a:avLst/>
          </a:prstGeom>
          <a:noFill/>
          <a:ln/>
        </p:spPr>
        <p:txBody>
          <a:bodyPr wrap="square" rtlCol="0" anchor="ctr"/>
          <a:lstStyle/>
          <a:p>
            <a:pPr marL="0" indent="0">
              <a:buNone/>
            </a:pPr>
            <a:r>
              <a:rPr lang="en-US" sz="1250" b="1">
                <a:solidFill>
                  <a:srgbClr val="024879"/>
                </a:solidFill>
                <a:latin typeface="Calibri" pitchFamily="34" charset="0"/>
                <a:ea typeface="Calibri" pitchFamily="34" charset="-122"/>
                <a:cs typeface="Calibri" pitchFamily="34" charset="-120"/>
              </a:rPr>
              <a:t>2.  Context Engineering</a:t>
            </a:r>
            <a:endParaRPr lang="en-US" sz="1250"/>
          </a:p>
        </p:txBody>
      </p:sp>
      <p:sp>
        <p:nvSpPr>
          <p:cNvPr id="11" name="Shape 8"/>
          <p:cNvSpPr/>
          <p:nvPr/>
        </p:nvSpPr>
        <p:spPr>
          <a:xfrm>
            <a:off x="7543800" y="1810512"/>
            <a:ext cx="1143000" cy="457200"/>
          </a:xfrm>
          <a:prstGeom prst="roundRect">
            <a:avLst>
              <a:gd name="adj" fmla="val 8000"/>
            </a:avLst>
          </a:prstGeom>
          <a:solidFill>
            <a:srgbClr val="C5DCEE"/>
          </a:solidFill>
          <a:ln w="12700">
            <a:solidFill>
              <a:srgbClr val="075056"/>
            </a:solidFill>
            <a:prstDash val="solid"/>
          </a:ln>
        </p:spPr>
        <p:txBody>
          <a:bodyPr/>
          <a:lstStyle/>
          <a:p>
            <a:endParaRPr lang="en-US"/>
          </a:p>
        </p:txBody>
      </p:sp>
      <p:sp>
        <p:nvSpPr>
          <p:cNvPr id="12" name="Text 9"/>
          <p:cNvSpPr/>
          <p:nvPr/>
        </p:nvSpPr>
        <p:spPr>
          <a:xfrm>
            <a:off x="7543800" y="1810512"/>
            <a:ext cx="1143000" cy="457200"/>
          </a:xfrm>
          <a:prstGeom prst="rect">
            <a:avLst/>
          </a:prstGeom>
          <a:noFill/>
          <a:ln/>
        </p:spPr>
        <p:txBody>
          <a:bodyPr wrap="square" rtlCol="0" anchor="ctr"/>
          <a:lstStyle/>
          <a:p>
            <a:pPr marL="0" indent="0" algn="ctr">
              <a:buNone/>
            </a:pPr>
            <a:r>
              <a:rPr lang="en-US" sz="1200" b="1" dirty="0">
                <a:solidFill>
                  <a:srgbClr val="075056"/>
                </a:solidFill>
                <a:latin typeface="Arial" pitchFamily="34" charset="0"/>
                <a:ea typeface="Arial" pitchFamily="34" charset="-122"/>
                <a:cs typeface="Arial" pitchFamily="34" charset="-120"/>
              </a:rPr>
              <a:t>27 / 30</a:t>
            </a:r>
            <a:endParaRPr lang="en-US" sz="1200" dirty="0"/>
          </a:p>
        </p:txBody>
      </p:sp>
      <p:sp>
        <p:nvSpPr>
          <p:cNvPr id="13" name="Shape 10"/>
          <p:cNvSpPr/>
          <p:nvPr/>
        </p:nvSpPr>
        <p:spPr>
          <a:xfrm>
            <a:off x="457200" y="2340864"/>
            <a:ext cx="6949440" cy="457200"/>
          </a:xfrm>
          <a:prstGeom prst="roundRect">
            <a:avLst>
              <a:gd name="adj" fmla="val 8000"/>
            </a:avLst>
          </a:prstGeom>
          <a:solidFill>
            <a:srgbClr val="DFE7ED"/>
          </a:solidFill>
          <a:ln w="6350">
            <a:solidFill>
              <a:srgbClr val="B7C4CC"/>
            </a:solidFill>
            <a:prstDash val="solid"/>
          </a:ln>
        </p:spPr>
        <p:txBody>
          <a:bodyPr/>
          <a:lstStyle/>
          <a:p>
            <a:endParaRPr lang="en-US"/>
          </a:p>
        </p:txBody>
      </p:sp>
      <p:sp>
        <p:nvSpPr>
          <p:cNvPr id="14" name="Text 11"/>
          <p:cNvSpPr/>
          <p:nvPr/>
        </p:nvSpPr>
        <p:spPr>
          <a:xfrm>
            <a:off x="594360" y="2340864"/>
            <a:ext cx="6675120" cy="457200"/>
          </a:xfrm>
          <a:prstGeom prst="rect">
            <a:avLst/>
          </a:prstGeom>
          <a:noFill/>
          <a:ln/>
        </p:spPr>
        <p:txBody>
          <a:bodyPr wrap="square" rtlCol="0" anchor="ctr"/>
          <a:lstStyle/>
          <a:p>
            <a:pPr marL="0" indent="0">
              <a:buNone/>
            </a:pPr>
            <a:r>
              <a:rPr lang="en-US" sz="1250" b="1">
                <a:solidFill>
                  <a:srgbClr val="024879"/>
                </a:solidFill>
                <a:latin typeface="Calibri" pitchFamily="34" charset="0"/>
                <a:ea typeface="Calibri" pitchFamily="34" charset="-122"/>
                <a:cs typeface="Calibri" pitchFamily="34" charset="-120"/>
              </a:rPr>
              <a:t>3.  AI Output Review</a:t>
            </a:r>
            <a:endParaRPr lang="en-US" sz="1250"/>
          </a:p>
        </p:txBody>
      </p:sp>
      <p:sp>
        <p:nvSpPr>
          <p:cNvPr id="15" name="Shape 12"/>
          <p:cNvSpPr/>
          <p:nvPr/>
        </p:nvSpPr>
        <p:spPr>
          <a:xfrm>
            <a:off x="7543800" y="2340864"/>
            <a:ext cx="1143000" cy="457200"/>
          </a:xfrm>
          <a:prstGeom prst="roundRect">
            <a:avLst>
              <a:gd name="adj" fmla="val 8000"/>
            </a:avLst>
          </a:prstGeom>
          <a:solidFill>
            <a:srgbClr val="C5DCEE"/>
          </a:solidFill>
          <a:ln w="12700">
            <a:solidFill>
              <a:srgbClr val="075056"/>
            </a:solidFill>
            <a:prstDash val="solid"/>
          </a:ln>
        </p:spPr>
        <p:txBody>
          <a:bodyPr/>
          <a:lstStyle/>
          <a:p>
            <a:endParaRPr lang="en-US"/>
          </a:p>
        </p:txBody>
      </p:sp>
      <p:sp>
        <p:nvSpPr>
          <p:cNvPr id="16" name="Text 13"/>
          <p:cNvSpPr/>
          <p:nvPr/>
        </p:nvSpPr>
        <p:spPr>
          <a:xfrm>
            <a:off x="7543800" y="2340864"/>
            <a:ext cx="1143000" cy="457200"/>
          </a:xfrm>
          <a:prstGeom prst="rect">
            <a:avLst/>
          </a:prstGeom>
          <a:noFill/>
          <a:ln/>
        </p:spPr>
        <p:txBody>
          <a:bodyPr wrap="square" rtlCol="0" anchor="ctr"/>
          <a:lstStyle/>
          <a:p>
            <a:pPr marL="0" indent="0" algn="ctr">
              <a:buNone/>
            </a:pPr>
            <a:r>
              <a:rPr lang="en-US" sz="1200" b="1" dirty="0">
                <a:solidFill>
                  <a:srgbClr val="075056"/>
                </a:solidFill>
                <a:latin typeface="Arial" pitchFamily="34" charset="0"/>
                <a:ea typeface="Arial" pitchFamily="34" charset="-122"/>
                <a:cs typeface="Arial" pitchFamily="34" charset="-120"/>
              </a:rPr>
              <a:t>28 / 30</a:t>
            </a:r>
            <a:endParaRPr lang="en-US" sz="1200" dirty="0"/>
          </a:p>
        </p:txBody>
      </p:sp>
      <p:sp>
        <p:nvSpPr>
          <p:cNvPr id="17" name="Shape 14"/>
          <p:cNvSpPr/>
          <p:nvPr/>
        </p:nvSpPr>
        <p:spPr>
          <a:xfrm>
            <a:off x="457200" y="2871216"/>
            <a:ext cx="6949440" cy="457200"/>
          </a:xfrm>
          <a:prstGeom prst="roundRect">
            <a:avLst>
              <a:gd name="adj" fmla="val 8000"/>
            </a:avLst>
          </a:prstGeom>
          <a:solidFill>
            <a:srgbClr val="FFFFFF"/>
          </a:solidFill>
          <a:ln w="6350">
            <a:solidFill>
              <a:srgbClr val="B7C4CC"/>
            </a:solidFill>
            <a:prstDash val="solid"/>
          </a:ln>
        </p:spPr>
        <p:txBody>
          <a:bodyPr/>
          <a:lstStyle/>
          <a:p>
            <a:endParaRPr lang="en-US"/>
          </a:p>
        </p:txBody>
      </p:sp>
      <p:sp>
        <p:nvSpPr>
          <p:cNvPr id="18" name="Text 15"/>
          <p:cNvSpPr/>
          <p:nvPr/>
        </p:nvSpPr>
        <p:spPr>
          <a:xfrm>
            <a:off x="594360" y="2871216"/>
            <a:ext cx="6675120" cy="457200"/>
          </a:xfrm>
          <a:prstGeom prst="rect">
            <a:avLst/>
          </a:prstGeom>
          <a:noFill/>
          <a:ln/>
        </p:spPr>
        <p:txBody>
          <a:bodyPr wrap="square" rtlCol="0" anchor="ctr"/>
          <a:lstStyle/>
          <a:p>
            <a:pPr marL="0" indent="0">
              <a:buNone/>
            </a:pPr>
            <a:r>
              <a:rPr lang="en-US" sz="1250" b="1">
                <a:solidFill>
                  <a:srgbClr val="024879"/>
                </a:solidFill>
                <a:latin typeface="Calibri" pitchFamily="34" charset="0"/>
                <a:ea typeface="Calibri" pitchFamily="34" charset="-122"/>
                <a:cs typeface="Calibri" pitchFamily="34" charset="-120"/>
              </a:rPr>
              <a:t>4.  RAG Pipeline</a:t>
            </a:r>
            <a:endParaRPr lang="en-US" sz="1250"/>
          </a:p>
        </p:txBody>
      </p:sp>
      <p:sp>
        <p:nvSpPr>
          <p:cNvPr id="19" name="Shape 16"/>
          <p:cNvSpPr/>
          <p:nvPr/>
        </p:nvSpPr>
        <p:spPr>
          <a:xfrm>
            <a:off x="7543800" y="2871216"/>
            <a:ext cx="1143000" cy="457200"/>
          </a:xfrm>
          <a:prstGeom prst="roundRect">
            <a:avLst>
              <a:gd name="adj" fmla="val 8000"/>
            </a:avLst>
          </a:prstGeom>
          <a:solidFill>
            <a:srgbClr val="C5DCEE"/>
          </a:solidFill>
          <a:ln w="12700">
            <a:solidFill>
              <a:srgbClr val="075056"/>
            </a:solidFill>
            <a:prstDash val="solid"/>
          </a:ln>
        </p:spPr>
        <p:txBody>
          <a:bodyPr/>
          <a:lstStyle/>
          <a:p>
            <a:endParaRPr lang="en-US"/>
          </a:p>
        </p:txBody>
      </p:sp>
      <p:sp>
        <p:nvSpPr>
          <p:cNvPr id="20" name="Text 17"/>
          <p:cNvSpPr/>
          <p:nvPr/>
        </p:nvSpPr>
        <p:spPr>
          <a:xfrm>
            <a:off x="7543800" y="2871216"/>
            <a:ext cx="1143000" cy="457200"/>
          </a:xfrm>
          <a:prstGeom prst="rect">
            <a:avLst/>
          </a:prstGeom>
          <a:noFill/>
          <a:ln/>
        </p:spPr>
        <p:txBody>
          <a:bodyPr wrap="square" rtlCol="0" anchor="ctr"/>
          <a:lstStyle/>
          <a:p>
            <a:pPr marL="0" indent="0" algn="ctr">
              <a:buNone/>
            </a:pPr>
            <a:r>
              <a:rPr lang="en-US" sz="1200" b="1">
                <a:solidFill>
                  <a:srgbClr val="075056"/>
                </a:solidFill>
                <a:latin typeface="Arial" pitchFamily="34" charset="0"/>
                <a:ea typeface="Arial" pitchFamily="34" charset="-122"/>
                <a:cs typeface="Arial" pitchFamily="34" charset="-120"/>
              </a:rPr>
              <a:t>0 / 30</a:t>
            </a:r>
            <a:endParaRPr lang="en-US" sz="1200"/>
          </a:p>
        </p:txBody>
      </p:sp>
      <p:sp>
        <p:nvSpPr>
          <p:cNvPr id="21" name="Shape 18"/>
          <p:cNvSpPr/>
          <p:nvPr/>
        </p:nvSpPr>
        <p:spPr>
          <a:xfrm>
            <a:off x="457200" y="3401568"/>
            <a:ext cx="6949440" cy="457200"/>
          </a:xfrm>
          <a:prstGeom prst="roundRect">
            <a:avLst>
              <a:gd name="adj" fmla="val 8000"/>
            </a:avLst>
          </a:prstGeom>
          <a:solidFill>
            <a:srgbClr val="DFE7ED"/>
          </a:solidFill>
          <a:ln w="6350">
            <a:solidFill>
              <a:srgbClr val="B7C4CC"/>
            </a:solidFill>
            <a:prstDash val="solid"/>
          </a:ln>
        </p:spPr>
        <p:txBody>
          <a:bodyPr/>
          <a:lstStyle/>
          <a:p>
            <a:endParaRPr lang="en-US"/>
          </a:p>
        </p:txBody>
      </p:sp>
      <p:sp>
        <p:nvSpPr>
          <p:cNvPr id="22" name="Text 19"/>
          <p:cNvSpPr/>
          <p:nvPr/>
        </p:nvSpPr>
        <p:spPr>
          <a:xfrm>
            <a:off x="594360" y="3401568"/>
            <a:ext cx="6675120" cy="457200"/>
          </a:xfrm>
          <a:prstGeom prst="rect">
            <a:avLst/>
          </a:prstGeom>
          <a:noFill/>
          <a:ln/>
        </p:spPr>
        <p:txBody>
          <a:bodyPr wrap="square" rtlCol="0" anchor="ctr"/>
          <a:lstStyle/>
          <a:p>
            <a:pPr marL="0" indent="0">
              <a:buNone/>
            </a:pPr>
            <a:r>
              <a:rPr lang="en-US" sz="1250" b="1">
                <a:solidFill>
                  <a:srgbClr val="024879"/>
                </a:solidFill>
                <a:latin typeface="Calibri" pitchFamily="34" charset="0"/>
                <a:ea typeface="Calibri" pitchFamily="34" charset="-122"/>
                <a:cs typeface="Calibri" pitchFamily="34" charset="-120"/>
              </a:rPr>
              <a:t>5.  n8n + AI Automation</a:t>
            </a:r>
            <a:endParaRPr lang="en-US" sz="1250"/>
          </a:p>
        </p:txBody>
      </p:sp>
      <p:sp>
        <p:nvSpPr>
          <p:cNvPr id="23" name="Shape 20"/>
          <p:cNvSpPr/>
          <p:nvPr/>
        </p:nvSpPr>
        <p:spPr>
          <a:xfrm>
            <a:off x="7543800" y="3401568"/>
            <a:ext cx="1143000" cy="457200"/>
          </a:xfrm>
          <a:prstGeom prst="roundRect">
            <a:avLst>
              <a:gd name="adj" fmla="val 8000"/>
            </a:avLst>
          </a:prstGeom>
          <a:solidFill>
            <a:srgbClr val="C5DCEE"/>
          </a:solidFill>
          <a:ln w="12700">
            <a:solidFill>
              <a:srgbClr val="075056"/>
            </a:solidFill>
            <a:prstDash val="solid"/>
          </a:ln>
        </p:spPr>
        <p:txBody>
          <a:bodyPr/>
          <a:lstStyle/>
          <a:p>
            <a:endParaRPr lang="en-US"/>
          </a:p>
        </p:txBody>
      </p:sp>
      <p:sp>
        <p:nvSpPr>
          <p:cNvPr id="24" name="Text 21"/>
          <p:cNvSpPr/>
          <p:nvPr/>
        </p:nvSpPr>
        <p:spPr>
          <a:xfrm>
            <a:off x="7543800" y="3401568"/>
            <a:ext cx="1143000" cy="457200"/>
          </a:xfrm>
          <a:prstGeom prst="rect">
            <a:avLst/>
          </a:prstGeom>
          <a:noFill/>
          <a:ln/>
        </p:spPr>
        <p:txBody>
          <a:bodyPr wrap="square" rtlCol="0" anchor="ctr"/>
          <a:lstStyle/>
          <a:p>
            <a:pPr marL="0" indent="0" algn="ctr">
              <a:buNone/>
            </a:pPr>
            <a:r>
              <a:rPr lang="en-US" sz="1200" b="1">
                <a:solidFill>
                  <a:srgbClr val="075056"/>
                </a:solidFill>
                <a:latin typeface="Arial" pitchFamily="34" charset="0"/>
                <a:ea typeface="Arial" pitchFamily="34" charset="-122"/>
                <a:cs typeface="Arial" pitchFamily="34" charset="-120"/>
              </a:rPr>
              <a:t>0 / 30</a:t>
            </a:r>
            <a:endParaRPr lang="en-US" sz="1200"/>
          </a:p>
        </p:txBody>
      </p:sp>
      <p:sp>
        <p:nvSpPr>
          <p:cNvPr id="25" name="Shape 22"/>
          <p:cNvSpPr/>
          <p:nvPr/>
        </p:nvSpPr>
        <p:spPr>
          <a:xfrm>
            <a:off x="457200" y="3977640"/>
            <a:ext cx="8229600" cy="548640"/>
          </a:xfrm>
          <a:prstGeom prst="roundRect">
            <a:avLst>
              <a:gd name="adj" fmla="val 10000"/>
            </a:avLst>
          </a:prstGeom>
          <a:solidFill>
            <a:srgbClr val="075056"/>
          </a:solidFill>
          <a:ln/>
        </p:spPr>
        <p:txBody>
          <a:bodyPr/>
          <a:lstStyle/>
          <a:p>
            <a:endParaRPr lang="en-US"/>
          </a:p>
        </p:txBody>
      </p:sp>
      <p:sp>
        <p:nvSpPr>
          <p:cNvPr id="26" name="Text 23"/>
          <p:cNvSpPr/>
          <p:nvPr/>
        </p:nvSpPr>
        <p:spPr>
          <a:xfrm>
            <a:off x="640080" y="3977640"/>
            <a:ext cx="7863840" cy="54864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My total:  83 / 150      Clear = 70+     (I demonstrated 3 of 5 topics)</a:t>
            </a:r>
            <a:endParaRPr lang="en-US" sz="1600" dirty="0"/>
          </a:p>
        </p:txBody>
      </p:sp>
      <p:sp>
        <p:nvSpPr>
          <p:cNvPr id="28" name="Text 1">
            <a:extLst>
              <a:ext uri="{FF2B5EF4-FFF2-40B4-BE49-F238E27FC236}">
                <a16:creationId xmlns:a16="http://schemas.microsoft.com/office/drawing/2014/main" id="{3B309BB5-EC7C-049B-109C-5AD717EBD958}"/>
              </a:ext>
            </a:extLst>
          </p:cNvPr>
          <p:cNvSpPr/>
          <p:nvPr/>
        </p:nvSpPr>
        <p:spPr>
          <a:xfrm>
            <a:off x="457200" y="4645152"/>
            <a:ext cx="8229600" cy="274320"/>
          </a:xfrm>
          <a:prstGeom prst="rect">
            <a:avLst/>
          </a:prstGeom>
          <a:noFill/>
          <a:ln/>
        </p:spPr>
        <p:txBody>
          <a:bodyPr wrap="square" rtlCol="0" anchor="ctr"/>
          <a:lstStyle/>
          <a:p>
            <a:pPr marL="0" indent="0">
              <a:buNone/>
            </a:pPr>
            <a:r>
              <a:rPr lang="en-US" sz="1200" dirty="0"/>
              <a:t>Note: RAG pipelines and n8n were not used in the automation testing project.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7498080" cy="548640"/>
          </a:xfrm>
          <a:prstGeom prst="rect">
            <a:avLst/>
          </a:prstGeom>
          <a:noFill/>
          <a:ln/>
        </p:spPr>
        <p:txBody>
          <a:bodyPr wrap="square" rtlCol="0" anchor="ctr"/>
          <a:lstStyle/>
          <a:p>
            <a:pPr marL="0" indent="0" algn="l">
              <a:buNone/>
            </a:pPr>
            <a:r>
              <a:rPr lang="en-US" sz="2600" b="1">
                <a:solidFill>
                  <a:srgbClr val="024879"/>
                </a:solidFill>
                <a:latin typeface="Arial" pitchFamily="34" charset="0"/>
                <a:ea typeface="Arial" pitchFamily="34" charset="-122"/>
                <a:cs typeface="Arial" pitchFamily="34" charset="-120"/>
              </a:rPr>
              <a:t>Reflection &amp; Key Takeaway</a:t>
            </a:r>
            <a:endParaRPr lang="en-US" sz="2600"/>
          </a:p>
        </p:txBody>
      </p:sp>
      <p:pic>
        <p:nvPicPr>
          <p:cNvPr id="3" name="Image 0" descr="preencoded.png"/>
          <p:cNvPicPr>
            <a:picLocks noChangeAspect="1"/>
          </p:cNvPicPr>
          <p:nvPr/>
        </p:nvPicPr>
        <p:blipFill>
          <a:blip r:embed="rId3"/>
          <a:stretch>
            <a:fillRect/>
          </a:stretch>
        </p:blipFill>
        <p:spPr>
          <a:xfrm>
            <a:off x="7818120" y="292608"/>
            <a:ext cx="914400" cy="274730"/>
          </a:xfrm>
          <a:prstGeom prst="rect">
            <a:avLst/>
          </a:prstGeom>
        </p:spPr>
      </p:pic>
      <p:sp>
        <p:nvSpPr>
          <p:cNvPr id="4" name="Text 1"/>
          <p:cNvSpPr/>
          <p:nvPr/>
        </p:nvSpPr>
        <p:spPr>
          <a:xfrm>
            <a:off x="457200" y="1097280"/>
            <a:ext cx="822960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Complete these sentences</a:t>
            </a:r>
            <a:endParaRPr lang="en-US" sz="1200"/>
          </a:p>
        </p:txBody>
      </p:sp>
      <p:sp>
        <p:nvSpPr>
          <p:cNvPr id="5" name="Shape 2"/>
          <p:cNvSpPr/>
          <p:nvPr/>
        </p:nvSpPr>
        <p:spPr>
          <a:xfrm>
            <a:off x="457200" y="1371600"/>
            <a:ext cx="8229600" cy="457200"/>
          </a:xfrm>
          <a:prstGeom prst="roundRect">
            <a:avLst>
              <a:gd name="adj" fmla="val 10000"/>
            </a:avLst>
          </a:prstGeom>
          <a:solidFill>
            <a:srgbClr val="DFE7ED"/>
          </a:solidFill>
          <a:ln w="12700">
            <a:solidFill>
              <a:srgbClr val="C5DCEE"/>
            </a:solidFill>
            <a:prstDash val="solid"/>
          </a:ln>
        </p:spPr>
        <p:txBody>
          <a:bodyPr/>
          <a:lstStyle/>
          <a:p>
            <a:endParaRPr lang="en-US" dirty="0"/>
          </a:p>
        </p:txBody>
      </p:sp>
      <p:sp>
        <p:nvSpPr>
          <p:cNvPr id="6" name="Text 3"/>
          <p:cNvSpPr/>
          <p:nvPr/>
        </p:nvSpPr>
        <p:spPr>
          <a:xfrm>
            <a:off x="566928" y="1371600"/>
            <a:ext cx="8010144" cy="457200"/>
          </a:xfrm>
          <a:prstGeom prst="rect">
            <a:avLst/>
          </a:prstGeom>
          <a:noFill/>
          <a:ln/>
        </p:spPr>
        <p:txBody>
          <a:bodyPr wrap="square" rtlCol="0" anchor="ctr"/>
          <a:lstStyle/>
          <a:p>
            <a:r>
              <a:rPr lang="en-US" sz="1100" i="1" dirty="0">
                <a:solidFill>
                  <a:srgbClr val="5A6B72"/>
                </a:solidFill>
                <a:latin typeface="Calibri" pitchFamily="34" charset="0"/>
                <a:ea typeface="Calibri" pitchFamily="34" charset="-122"/>
                <a:cs typeface="Calibri" pitchFamily="34" charset="-120"/>
              </a:rPr>
              <a:t>Before joining this program, I viewed AI as something designed mainly for experts or simply as an efficient chat tool. However, I learned that when AI is used with a clear strategy and a well-defined structure, it can create truly remarkable outcomes.</a:t>
            </a:r>
            <a:endParaRPr lang="en-US" sz="1100" dirty="0"/>
          </a:p>
        </p:txBody>
      </p:sp>
      <p:sp>
        <p:nvSpPr>
          <p:cNvPr id="7" name="Shape 4"/>
          <p:cNvSpPr/>
          <p:nvPr/>
        </p:nvSpPr>
        <p:spPr>
          <a:xfrm>
            <a:off x="457200" y="1920240"/>
            <a:ext cx="8229600" cy="457200"/>
          </a:xfrm>
          <a:prstGeom prst="roundRect">
            <a:avLst>
              <a:gd name="adj" fmla="val 10000"/>
            </a:avLst>
          </a:prstGeom>
          <a:solidFill>
            <a:srgbClr val="DFE7ED"/>
          </a:solidFill>
          <a:ln w="12700">
            <a:solidFill>
              <a:srgbClr val="C5DCEE"/>
            </a:solidFill>
            <a:prstDash val="solid"/>
          </a:ln>
        </p:spPr>
        <p:txBody>
          <a:bodyPr/>
          <a:lstStyle/>
          <a:p>
            <a:endParaRPr lang="en-US" dirty="0"/>
          </a:p>
        </p:txBody>
      </p:sp>
      <p:sp>
        <p:nvSpPr>
          <p:cNvPr id="8" name="Text 5"/>
          <p:cNvSpPr/>
          <p:nvPr/>
        </p:nvSpPr>
        <p:spPr>
          <a:xfrm>
            <a:off x="566928" y="1920240"/>
            <a:ext cx="8010144" cy="457200"/>
          </a:xfrm>
          <a:prstGeom prst="rect">
            <a:avLst/>
          </a:prstGeom>
          <a:noFill/>
          <a:ln/>
        </p:spPr>
        <p:txBody>
          <a:bodyPr wrap="square" rtlCol="0" anchor="ctr"/>
          <a:lstStyle/>
          <a:p>
            <a:pPr marL="0" indent="0" algn="l">
              <a:buNone/>
            </a:pPr>
            <a:r>
              <a:rPr lang="en-US" sz="1100" i="1">
                <a:solidFill>
                  <a:srgbClr val="5A6B72"/>
                </a:solidFill>
                <a:latin typeface="Calibri" pitchFamily="34" charset="0"/>
                <a:ea typeface="Calibri" pitchFamily="34" charset="-122"/>
                <a:cs typeface="Calibri" pitchFamily="34" charset="-120"/>
              </a:rPr>
              <a:t>Now </a:t>
            </a:r>
            <a:r>
              <a:rPr lang="en-US" sz="1100" i="1" dirty="0">
                <a:solidFill>
                  <a:srgbClr val="5A6B72"/>
                </a:solidFill>
                <a:latin typeface="Calibri" pitchFamily="34" charset="0"/>
                <a:ea typeface="Calibri" pitchFamily="34" charset="-122"/>
                <a:cs typeface="Calibri" pitchFamily="34" charset="-120"/>
              </a:rPr>
              <a:t>I see AI as a force multiplier for repetitive, well-defined tasks. However, it can generate code that appears correct at first glance but fails in edge cases that were not encountered during the agent's exploration. That is why tester review remains essential.</a:t>
            </a:r>
            <a:endParaRPr lang="en-US" sz="1100" dirty="0"/>
          </a:p>
        </p:txBody>
      </p:sp>
      <p:sp>
        <p:nvSpPr>
          <p:cNvPr id="9" name="Text 6"/>
          <p:cNvSpPr/>
          <p:nvPr/>
        </p:nvSpPr>
        <p:spPr>
          <a:xfrm>
            <a:off x="457200" y="2606040"/>
            <a:ext cx="822960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My biggest learning</a:t>
            </a:r>
            <a:endParaRPr lang="en-US" sz="1200"/>
          </a:p>
        </p:txBody>
      </p:sp>
      <p:sp>
        <p:nvSpPr>
          <p:cNvPr id="10" name="Shape 7"/>
          <p:cNvSpPr/>
          <p:nvPr/>
        </p:nvSpPr>
        <p:spPr>
          <a:xfrm>
            <a:off x="457200" y="2880360"/>
            <a:ext cx="8229600" cy="45720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11" name="Text 8"/>
          <p:cNvSpPr/>
          <p:nvPr/>
        </p:nvSpPr>
        <p:spPr>
          <a:xfrm>
            <a:off x="566928" y="2880360"/>
            <a:ext cx="8010144" cy="457200"/>
          </a:xfrm>
          <a:prstGeom prst="rect">
            <a:avLst/>
          </a:prstGeom>
          <a:noFill/>
          <a:ln/>
        </p:spPr>
        <p:txBody>
          <a:bodyPr wrap="square" rtlCol="0" anchor="ctr"/>
          <a:lstStyle/>
          <a:p>
            <a:pPr marL="0" indent="0" algn="l">
              <a:buNone/>
            </a:pPr>
            <a:r>
              <a:rPr lang="en-US" sz="1100" i="1" dirty="0">
                <a:solidFill>
                  <a:srgbClr val="5A6B72"/>
                </a:solidFill>
                <a:latin typeface="Calibri" pitchFamily="34" charset="0"/>
                <a:ea typeface="Calibri" pitchFamily="34" charset="-122"/>
                <a:cs typeface="Calibri" pitchFamily="34" charset="-120"/>
              </a:rPr>
              <a:t>The agent produced working code on the first pass for 6 of 8 tests. The 2 that failed revealed a consistent pattern: AI optimizes for the conditions it observed, not the full range of conditions in production.</a:t>
            </a:r>
            <a:endParaRPr lang="en-US" sz="1100" dirty="0"/>
          </a:p>
        </p:txBody>
      </p:sp>
      <p:sp>
        <p:nvSpPr>
          <p:cNvPr id="12" name="Text 9"/>
          <p:cNvSpPr/>
          <p:nvPr/>
        </p:nvSpPr>
        <p:spPr>
          <a:xfrm>
            <a:off x="457200" y="3520440"/>
            <a:ext cx="402336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Confidence using AI at work</a:t>
            </a:r>
            <a:endParaRPr lang="en-US" sz="1200"/>
          </a:p>
        </p:txBody>
      </p:sp>
      <p:sp>
        <p:nvSpPr>
          <p:cNvPr id="13" name="Text 10"/>
          <p:cNvSpPr/>
          <p:nvPr/>
        </p:nvSpPr>
        <p:spPr>
          <a:xfrm>
            <a:off x="457200" y="3794760"/>
            <a:ext cx="4023360" cy="365760"/>
          </a:xfrm>
          <a:prstGeom prst="rect">
            <a:avLst/>
          </a:prstGeom>
          <a:noFill/>
          <a:ln/>
        </p:spPr>
        <p:txBody>
          <a:bodyPr wrap="square" rtlCol="0" anchor="ctr"/>
          <a:lstStyle/>
          <a:p>
            <a:pPr marL="0" indent="0">
              <a:buNone/>
            </a:pPr>
            <a:r>
              <a:rPr lang="en-US" sz="1300" b="1" dirty="0">
                <a:solidFill>
                  <a:srgbClr val="1B2227"/>
                </a:solidFill>
                <a:latin typeface="Calibri" pitchFamily="34" charset="0"/>
                <a:ea typeface="Calibri" pitchFamily="34" charset="-122"/>
                <a:cs typeface="Calibri" pitchFamily="34" charset="-120"/>
              </a:rPr>
              <a:t>Before: 2 /10        After: 8 /10</a:t>
            </a:r>
            <a:endParaRPr lang="en-US" sz="1300" dirty="0"/>
          </a:p>
        </p:txBody>
      </p:sp>
      <p:sp>
        <p:nvSpPr>
          <p:cNvPr id="14" name="Text 11"/>
          <p:cNvSpPr/>
          <p:nvPr/>
        </p:nvSpPr>
        <p:spPr>
          <a:xfrm>
            <a:off x="4709160" y="3520440"/>
            <a:ext cx="3977640" cy="256032"/>
          </a:xfrm>
          <a:prstGeom prst="rect">
            <a:avLst/>
          </a:prstGeom>
          <a:noFill/>
          <a:ln/>
        </p:spPr>
        <p:txBody>
          <a:bodyPr wrap="square" rtlCol="0" anchor="ctr"/>
          <a:lstStyle/>
          <a:p>
            <a:pPr marL="0" indent="0" algn="l">
              <a:buNone/>
            </a:pPr>
            <a:r>
              <a:rPr lang="en-US" sz="1200" b="1">
                <a:solidFill>
                  <a:srgbClr val="075056"/>
                </a:solidFill>
                <a:latin typeface="Arial" pitchFamily="34" charset="0"/>
                <a:ea typeface="Arial" pitchFamily="34" charset="-122"/>
                <a:cs typeface="Arial" pitchFamily="34" charset="-120"/>
              </a:rPr>
              <a:t>One tip for the next cohort</a:t>
            </a:r>
            <a:endParaRPr lang="en-US" sz="1200"/>
          </a:p>
        </p:txBody>
      </p:sp>
      <p:sp>
        <p:nvSpPr>
          <p:cNvPr id="15" name="Shape 12"/>
          <p:cNvSpPr/>
          <p:nvPr/>
        </p:nvSpPr>
        <p:spPr>
          <a:xfrm>
            <a:off x="4709160" y="3794760"/>
            <a:ext cx="3977640" cy="784440"/>
          </a:xfrm>
          <a:prstGeom prst="roundRect">
            <a:avLst>
              <a:gd name="adj" fmla="val 10000"/>
            </a:avLst>
          </a:prstGeom>
          <a:solidFill>
            <a:srgbClr val="DFE7ED"/>
          </a:solidFill>
          <a:ln w="12700">
            <a:solidFill>
              <a:srgbClr val="C5DCEE"/>
            </a:solidFill>
            <a:prstDash val="solid"/>
          </a:ln>
        </p:spPr>
        <p:txBody>
          <a:bodyPr/>
          <a:lstStyle/>
          <a:p>
            <a:endParaRPr lang="en-US"/>
          </a:p>
        </p:txBody>
      </p:sp>
      <p:sp>
        <p:nvSpPr>
          <p:cNvPr id="16" name="Text 13"/>
          <p:cNvSpPr/>
          <p:nvPr/>
        </p:nvSpPr>
        <p:spPr>
          <a:xfrm>
            <a:off x="4818888" y="3958380"/>
            <a:ext cx="3758184" cy="457200"/>
          </a:xfrm>
          <a:prstGeom prst="rect">
            <a:avLst/>
          </a:prstGeom>
          <a:noFill/>
          <a:ln/>
        </p:spPr>
        <p:txBody>
          <a:bodyPr wrap="square" rtlCol="0" anchor="ctr"/>
          <a:lstStyle/>
          <a:p>
            <a:pPr marL="0" indent="0" algn="l">
              <a:buNone/>
            </a:pPr>
            <a:r>
              <a:rPr lang="en-US" sz="1100" i="1" dirty="0">
                <a:solidFill>
                  <a:srgbClr val="5A6B72"/>
                </a:solidFill>
                <a:latin typeface="Calibri" pitchFamily="34" charset="0"/>
                <a:ea typeface="Calibri" pitchFamily="34" charset="-122"/>
                <a:cs typeface="Calibri" pitchFamily="34" charset="-120"/>
              </a:rPr>
              <a:t>Give the agent a CLAUDE.md before it writes a single line. The difference in output quality is immediate and measurable - see docs/claude_md_evidence.md for a 7-point before/after comparison.</a:t>
            </a:r>
            <a:endParaRPr lang="en-US" sz="1100" dirty="0"/>
          </a:p>
        </p:txBody>
      </p:sp>
      <p:sp>
        <p:nvSpPr>
          <p:cNvPr id="17" name="Text 14"/>
          <p:cNvSpPr/>
          <p:nvPr/>
        </p:nvSpPr>
        <p:spPr>
          <a:xfrm>
            <a:off x="457200" y="4709160"/>
            <a:ext cx="8229600" cy="274320"/>
          </a:xfrm>
          <a:prstGeom prst="rect">
            <a:avLst/>
          </a:prstGeom>
          <a:noFill/>
          <a:ln/>
        </p:spPr>
        <p:txBody>
          <a:bodyPr wrap="square" rtlCol="0" anchor="ctr"/>
          <a:lstStyle/>
          <a:p>
            <a:pPr marL="0" indent="0">
              <a:buNone/>
            </a:pPr>
            <a:r>
              <a:rPr lang="en-US" sz="1000" i="1">
                <a:solidFill>
                  <a:srgbClr val="5A6B72"/>
                </a:solidFill>
                <a:latin typeface="Calibri" pitchFamily="34" charset="0"/>
                <a:ea typeface="Calibri" pitchFamily="34" charset="-122"/>
                <a:cs typeface="Calibri" pitchFamily="34" charset="-120"/>
              </a:rPr>
              <a:t>Thank you — Perficient Global AI First Academy</a:t>
            </a:r>
            <a:endParaRPr 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75056"/>
        </a:solidFill>
        <a:effectLst/>
      </p:bgPr>
    </p:bg>
    <p:spTree>
      <p:nvGrpSpPr>
        <p:cNvPr id="1" name=""/>
        <p:cNvGrpSpPr/>
        <p:nvPr/>
      </p:nvGrpSpPr>
      <p:grpSpPr>
        <a:xfrm>
          <a:off x="0" y="0"/>
          <a:ext cx="0" cy="0"/>
          <a:chOff x="0" y="0"/>
          <a:chExt cx="0" cy="0"/>
        </a:xfrm>
      </p:grpSpPr>
      <p:sp>
        <p:nvSpPr>
          <p:cNvPr id="2" name="Text 0"/>
          <p:cNvSpPr/>
          <p:nvPr/>
        </p:nvSpPr>
        <p:spPr>
          <a:xfrm>
            <a:off x="457200" y="320040"/>
            <a:ext cx="7315200" cy="548640"/>
          </a:xfrm>
          <a:prstGeom prst="rect">
            <a:avLst/>
          </a:prstGeom>
          <a:noFill/>
          <a:ln/>
        </p:spPr>
        <p:txBody>
          <a:bodyPr wrap="square" rtlCol="0" anchor="ctr"/>
          <a:lstStyle/>
          <a:p>
            <a:pPr marL="0" indent="0">
              <a:buNone/>
            </a:pPr>
            <a:r>
              <a:rPr lang="en-US" sz="2600" b="1">
                <a:solidFill>
                  <a:srgbClr val="FFFFFF"/>
                </a:solidFill>
                <a:latin typeface="Arial" pitchFamily="34" charset="0"/>
                <a:ea typeface="Arial" pitchFamily="34" charset="-122"/>
                <a:cs typeface="Arial" pitchFamily="34" charset="-120"/>
              </a:rPr>
              <a:t>Rubric Validation</a:t>
            </a:r>
            <a:endParaRPr lang="en-US" sz="2600"/>
          </a:p>
        </p:txBody>
      </p:sp>
      <p:sp>
        <p:nvSpPr>
          <p:cNvPr id="3" name="Text 1"/>
          <p:cNvSpPr/>
          <p:nvPr/>
        </p:nvSpPr>
        <p:spPr>
          <a:xfrm>
            <a:off x="457200" y="841248"/>
            <a:ext cx="7315200" cy="274320"/>
          </a:xfrm>
          <a:prstGeom prst="rect">
            <a:avLst/>
          </a:prstGeom>
          <a:noFill/>
          <a:ln/>
        </p:spPr>
        <p:txBody>
          <a:bodyPr wrap="square" rtlCol="0" anchor="ctr"/>
          <a:lstStyle/>
          <a:p>
            <a:pPr marL="0" indent="0">
              <a:buNone/>
            </a:pPr>
            <a:r>
              <a:rPr lang="en-US" sz="1300" i="1">
                <a:solidFill>
                  <a:srgbClr val="71D8C5"/>
                </a:solidFill>
                <a:latin typeface="Calibri" pitchFamily="34" charset="0"/>
                <a:ea typeface="Calibri" pitchFamily="34" charset="-122"/>
                <a:cs typeface="Calibri" pitchFamily="34" charset="-120"/>
              </a:rPr>
              <a:t>Validator use only</a:t>
            </a:r>
            <a:endParaRPr lang="en-US" sz="1300"/>
          </a:p>
        </p:txBody>
      </p:sp>
      <p:pic>
        <p:nvPicPr>
          <p:cNvPr id="4" name="Image 0" descr="preencoded.png"/>
          <p:cNvPicPr>
            <a:picLocks noChangeAspect="1"/>
          </p:cNvPicPr>
          <p:nvPr/>
        </p:nvPicPr>
        <p:blipFill>
          <a:blip r:embed="rId3"/>
          <a:stretch>
            <a:fillRect/>
          </a:stretch>
        </p:blipFill>
        <p:spPr>
          <a:xfrm>
            <a:off x="7635240" y="365760"/>
            <a:ext cx="1097280" cy="252618"/>
          </a:xfrm>
          <a:prstGeom prst="rect">
            <a:avLst/>
          </a:prstGeom>
        </p:spPr>
      </p:pic>
      <p:sp>
        <p:nvSpPr>
          <p:cNvPr id="5" name="Text 2"/>
          <p:cNvSpPr/>
          <p:nvPr/>
        </p:nvSpPr>
        <p:spPr>
          <a:xfrm>
            <a:off x="457200" y="1325880"/>
            <a:ext cx="6858000" cy="384048"/>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1.  Spec-Driven Development</a:t>
            </a:r>
            <a:endParaRPr lang="en-US" sz="1250"/>
          </a:p>
        </p:txBody>
      </p:sp>
      <p:sp>
        <p:nvSpPr>
          <p:cNvPr id="6" name="Shape 3"/>
          <p:cNvSpPr/>
          <p:nvPr/>
        </p:nvSpPr>
        <p:spPr>
          <a:xfrm>
            <a:off x="7543800" y="1325880"/>
            <a:ext cx="1143000" cy="384048"/>
          </a:xfrm>
          <a:prstGeom prst="roundRect">
            <a:avLst>
              <a:gd name="adj" fmla="val 9524"/>
            </a:avLst>
          </a:prstGeom>
          <a:solidFill>
            <a:srgbClr val="FFFFFF"/>
          </a:solidFill>
          <a:ln/>
        </p:spPr>
        <p:txBody>
          <a:bodyPr/>
          <a:lstStyle/>
          <a:p>
            <a:endParaRPr lang="en-US"/>
          </a:p>
        </p:txBody>
      </p:sp>
      <p:sp>
        <p:nvSpPr>
          <p:cNvPr id="7" name="Text 4"/>
          <p:cNvSpPr/>
          <p:nvPr/>
        </p:nvSpPr>
        <p:spPr>
          <a:xfrm>
            <a:off x="7543800" y="1325880"/>
            <a:ext cx="1143000" cy="384048"/>
          </a:xfrm>
          <a:prstGeom prst="rect">
            <a:avLst/>
          </a:prstGeom>
          <a:noFill/>
          <a:ln/>
        </p:spPr>
        <p:txBody>
          <a:bodyPr wrap="square" rtlCol="0" anchor="ctr"/>
          <a:lstStyle/>
          <a:p>
            <a:pPr marL="0" indent="0" algn="ctr">
              <a:buNone/>
            </a:pPr>
            <a:r>
              <a:rPr lang="en-US" sz="1100" b="1">
                <a:solidFill>
                  <a:srgbClr val="075056"/>
                </a:solidFill>
                <a:latin typeface="Arial" pitchFamily="34" charset="0"/>
                <a:ea typeface="Arial" pitchFamily="34" charset="-122"/>
                <a:cs typeface="Arial" pitchFamily="34" charset="-120"/>
              </a:rPr>
              <a:t>____ / 30</a:t>
            </a:r>
            <a:endParaRPr lang="en-US" sz="1100"/>
          </a:p>
        </p:txBody>
      </p:sp>
      <p:sp>
        <p:nvSpPr>
          <p:cNvPr id="8" name="Text 5"/>
          <p:cNvSpPr/>
          <p:nvPr/>
        </p:nvSpPr>
        <p:spPr>
          <a:xfrm>
            <a:off x="457200" y="1783080"/>
            <a:ext cx="6858000" cy="384048"/>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2.  Context Engineering</a:t>
            </a:r>
            <a:endParaRPr lang="en-US" sz="1250"/>
          </a:p>
        </p:txBody>
      </p:sp>
      <p:sp>
        <p:nvSpPr>
          <p:cNvPr id="9" name="Shape 6"/>
          <p:cNvSpPr/>
          <p:nvPr/>
        </p:nvSpPr>
        <p:spPr>
          <a:xfrm>
            <a:off x="7543800" y="1783080"/>
            <a:ext cx="1143000" cy="384048"/>
          </a:xfrm>
          <a:prstGeom prst="roundRect">
            <a:avLst>
              <a:gd name="adj" fmla="val 9524"/>
            </a:avLst>
          </a:prstGeom>
          <a:solidFill>
            <a:srgbClr val="FFFFFF"/>
          </a:solidFill>
          <a:ln/>
        </p:spPr>
        <p:txBody>
          <a:bodyPr/>
          <a:lstStyle/>
          <a:p>
            <a:endParaRPr lang="en-US"/>
          </a:p>
        </p:txBody>
      </p:sp>
      <p:sp>
        <p:nvSpPr>
          <p:cNvPr id="10" name="Text 7"/>
          <p:cNvSpPr/>
          <p:nvPr/>
        </p:nvSpPr>
        <p:spPr>
          <a:xfrm>
            <a:off x="7543800" y="1783080"/>
            <a:ext cx="1143000" cy="384048"/>
          </a:xfrm>
          <a:prstGeom prst="rect">
            <a:avLst/>
          </a:prstGeom>
          <a:noFill/>
          <a:ln/>
        </p:spPr>
        <p:txBody>
          <a:bodyPr wrap="square" rtlCol="0" anchor="ctr"/>
          <a:lstStyle/>
          <a:p>
            <a:pPr marL="0" indent="0" algn="ctr">
              <a:buNone/>
            </a:pPr>
            <a:r>
              <a:rPr lang="en-US" sz="1100" b="1">
                <a:solidFill>
                  <a:srgbClr val="075056"/>
                </a:solidFill>
                <a:latin typeface="Arial" pitchFamily="34" charset="0"/>
                <a:ea typeface="Arial" pitchFamily="34" charset="-122"/>
                <a:cs typeface="Arial" pitchFamily="34" charset="-120"/>
              </a:rPr>
              <a:t>____ / 30</a:t>
            </a:r>
            <a:endParaRPr lang="en-US" sz="1100"/>
          </a:p>
        </p:txBody>
      </p:sp>
      <p:sp>
        <p:nvSpPr>
          <p:cNvPr id="11" name="Text 8"/>
          <p:cNvSpPr/>
          <p:nvPr/>
        </p:nvSpPr>
        <p:spPr>
          <a:xfrm>
            <a:off x="457200" y="2240280"/>
            <a:ext cx="6858000" cy="384048"/>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3.  AI Output Review</a:t>
            </a:r>
            <a:endParaRPr lang="en-US" sz="1250"/>
          </a:p>
        </p:txBody>
      </p:sp>
      <p:sp>
        <p:nvSpPr>
          <p:cNvPr id="12" name="Shape 9"/>
          <p:cNvSpPr/>
          <p:nvPr/>
        </p:nvSpPr>
        <p:spPr>
          <a:xfrm>
            <a:off x="7543800" y="2240280"/>
            <a:ext cx="1143000" cy="384048"/>
          </a:xfrm>
          <a:prstGeom prst="roundRect">
            <a:avLst>
              <a:gd name="adj" fmla="val 9524"/>
            </a:avLst>
          </a:prstGeom>
          <a:solidFill>
            <a:srgbClr val="FFFFFF"/>
          </a:solidFill>
          <a:ln/>
        </p:spPr>
        <p:txBody>
          <a:bodyPr/>
          <a:lstStyle/>
          <a:p>
            <a:endParaRPr lang="en-US"/>
          </a:p>
        </p:txBody>
      </p:sp>
      <p:sp>
        <p:nvSpPr>
          <p:cNvPr id="13" name="Text 10"/>
          <p:cNvSpPr/>
          <p:nvPr/>
        </p:nvSpPr>
        <p:spPr>
          <a:xfrm>
            <a:off x="7543800" y="2240280"/>
            <a:ext cx="1143000" cy="384048"/>
          </a:xfrm>
          <a:prstGeom prst="rect">
            <a:avLst/>
          </a:prstGeom>
          <a:noFill/>
          <a:ln/>
        </p:spPr>
        <p:txBody>
          <a:bodyPr wrap="square" rtlCol="0" anchor="ctr"/>
          <a:lstStyle/>
          <a:p>
            <a:pPr marL="0" indent="0" algn="ctr">
              <a:buNone/>
            </a:pPr>
            <a:r>
              <a:rPr lang="en-US" sz="1100" b="1">
                <a:solidFill>
                  <a:srgbClr val="075056"/>
                </a:solidFill>
                <a:latin typeface="Arial" pitchFamily="34" charset="0"/>
                <a:ea typeface="Arial" pitchFamily="34" charset="-122"/>
                <a:cs typeface="Arial" pitchFamily="34" charset="-120"/>
              </a:rPr>
              <a:t>____ / 30</a:t>
            </a:r>
            <a:endParaRPr lang="en-US" sz="1100"/>
          </a:p>
        </p:txBody>
      </p:sp>
      <p:sp>
        <p:nvSpPr>
          <p:cNvPr id="14" name="Text 11"/>
          <p:cNvSpPr/>
          <p:nvPr/>
        </p:nvSpPr>
        <p:spPr>
          <a:xfrm>
            <a:off x="457200" y="2697480"/>
            <a:ext cx="6858000" cy="384048"/>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4.  RAG Pipeline</a:t>
            </a:r>
            <a:endParaRPr lang="en-US" sz="1250"/>
          </a:p>
        </p:txBody>
      </p:sp>
      <p:sp>
        <p:nvSpPr>
          <p:cNvPr id="15" name="Shape 12"/>
          <p:cNvSpPr/>
          <p:nvPr/>
        </p:nvSpPr>
        <p:spPr>
          <a:xfrm>
            <a:off x="7543800" y="2697480"/>
            <a:ext cx="1143000" cy="384048"/>
          </a:xfrm>
          <a:prstGeom prst="roundRect">
            <a:avLst>
              <a:gd name="adj" fmla="val 9524"/>
            </a:avLst>
          </a:prstGeom>
          <a:solidFill>
            <a:srgbClr val="FFFFFF"/>
          </a:solidFill>
          <a:ln/>
        </p:spPr>
        <p:txBody>
          <a:bodyPr/>
          <a:lstStyle/>
          <a:p>
            <a:endParaRPr lang="en-US"/>
          </a:p>
        </p:txBody>
      </p:sp>
      <p:sp>
        <p:nvSpPr>
          <p:cNvPr id="16" name="Text 13"/>
          <p:cNvSpPr/>
          <p:nvPr/>
        </p:nvSpPr>
        <p:spPr>
          <a:xfrm>
            <a:off x="7543800" y="2697480"/>
            <a:ext cx="1143000" cy="384048"/>
          </a:xfrm>
          <a:prstGeom prst="rect">
            <a:avLst/>
          </a:prstGeom>
          <a:noFill/>
          <a:ln/>
        </p:spPr>
        <p:txBody>
          <a:bodyPr wrap="square" rtlCol="0" anchor="ctr"/>
          <a:lstStyle/>
          <a:p>
            <a:pPr marL="0" indent="0" algn="ctr">
              <a:buNone/>
            </a:pPr>
            <a:r>
              <a:rPr lang="en-US" sz="1100" b="1">
                <a:solidFill>
                  <a:srgbClr val="075056"/>
                </a:solidFill>
                <a:latin typeface="Arial" pitchFamily="34" charset="0"/>
                <a:ea typeface="Arial" pitchFamily="34" charset="-122"/>
                <a:cs typeface="Arial" pitchFamily="34" charset="-120"/>
              </a:rPr>
              <a:t>____ / 30</a:t>
            </a:r>
            <a:endParaRPr lang="en-US" sz="1100"/>
          </a:p>
        </p:txBody>
      </p:sp>
      <p:sp>
        <p:nvSpPr>
          <p:cNvPr id="17" name="Text 14"/>
          <p:cNvSpPr/>
          <p:nvPr/>
        </p:nvSpPr>
        <p:spPr>
          <a:xfrm>
            <a:off x="457200" y="3154680"/>
            <a:ext cx="6858000" cy="384048"/>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5.  n8n + AI Automation</a:t>
            </a:r>
            <a:endParaRPr lang="en-US" sz="1250"/>
          </a:p>
        </p:txBody>
      </p:sp>
      <p:sp>
        <p:nvSpPr>
          <p:cNvPr id="18" name="Shape 15"/>
          <p:cNvSpPr/>
          <p:nvPr/>
        </p:nvSpPr>
        <p:spPr>
          <a:xfrm>
            <a:off x="7543800" y="3154680"/>
            <a:ext cx="1143000" cy="384048"/>
          </a:xfrm>
          <a:prstGeom prst="roundRect">
            <a:avLst>
              <a:gd name="adj" fmla="val 9524"/>
            </a:avLst>
          </a:prstGeom>
          <a:solidFill>
            <a:srgbClr val="FFFFFF"/>
          </a:solidFill>
          <a:ln/>
        </p:spPr>
        <p:txBody>
          <a:bodyPr/>
          <a:lstStyle/>
          <a:p>
            <a:endParaRPr lang="en-US"/>
          </a:p>
        </p:txBody>
      </p:sp>
      <p:sp>
        <p:nvSpPr>
          <p:cNvPr id="19" name="Text 16"/>
          <p:cNvSpPr/>
          <p:nvPr/>
        </p:nvSpPr>
        <p:spPr>
          <a:xfrm>
            <a:off x="7543800" y="3154680"/>
            <a:ext cx="1143000" cy="384048"/>
          </a:xfrm>
          <a:prstGeom prst="rect">
            <a:avLst/>
          </a:prstGeom>
          <a:noFill/>
          <a:ln/>
        </p:spPr>
        <p:txBody>
          <a:bodyPr wrap="square" rtlCol="0" anchor="ctr"/>
          <a:lstStyle/>
          <a:p>
            <a:pPr marL="0" indent="0" algn="ctr">
              <a:buNone/>
            </a:pPr>
            <a:r>
              <a:rPr lang="en-US" sz="1100" b="1">
                <a:solidFill>
                  <a:srgbClr val="075056"/>
                </a:solidFill>
                <a:latin typeface="Arial" pitchFamily="34" charset="0"/>
                <a:ea typeface="Arial" pitchFamily="34" charset="-122"/>
                <a:cs typeface="Arial" pitchFamily="34" charset="-120"/>
              </a:rPr>
              <a:t>____ / 30</a:t>
            </a:r>
            <a:endParaRPr lang="en-US" sz="1100"/>
          </a:p>
        </p:txBody>
      </p:sp>
      <p:sp>
        <p:nvSpPr>
          <p:cNvPr id="20" name="Text 17"/>
          <p:cNvSpPr/>
          <p:nvPr/>
        </p:nvSpPr>
        <p:spPr>
          <a:xfrm>
            <a:off x="457200" y="3630168"/>
            <a:ext cx="5486400" cy="365760"/>
          </a:xfrm>
          <a:prstGeom prst="rect">
            <a:avLst/>
          </a:prstGeom>
          <a:noFill/>
          <a:ln/>
        </p:spPr>
        <p:txBody>
          <a:bodyPr wrap="square" rtlCol="0" anchor="ctr"/>
          <a:lstStyle/>
          <a:p>
            <a:pPr marL="0" indent="0">
              <a:buNone/>
            </a:pPr>
            <a:r>
              <a:rPr lang="en-US" sz="1500" b="1">
                <a:solidFill>
                  <a:srgbClr val="FFFFFF"/>
                </a:solidFill>
                <a:latin typeface="Arial" pitchFamily="34" charset="0"/>
                <a:ea typeface="Arial" pitchFamily="34" charset="-122"/>
                <a:cs typeface="Arial" pitchFamily="34" charset="-120"/>
              </a:rPr>
              <a:t>Validated total:  ____ / 150</a:t>
            </a:r>
            <a:r>
              <a:rPr lang="en-US" sz="1200">
                <a:solidFill>
                  <a:srgbClr val="71D8C5"/>
                </a:solidFill>
                <a:latin typeface="Arial" pitchFamily="34" charset="0"/>
                <a:ea typeface="Arial" pitchFamily="34" charset="-122"/>
                <a:cs typeface="Arial" pitchFamily="34" charset="-120"/>
              </a:rPr>
              <a:t>     Clear = 70+</a:t>
            </a:r>
            <a:endParaRPr lang="en-US" sz="1500"/>
          </a:p>
        </p:txBody>
      </p:sp>
      <p:sp>
        <p:nvSpPr>
          <p:cNvPr id="21" name="Shape 18"/>
          <p:cNvSpPr/>
          <p:nvPr/>
        </p:nvSpPr>
        <p:spPr>
          <a:xfrm>
            <a:off x="457200" y="4114800"/>
            <a:ext cx="2651760" cy="457200"/>
          </a:xfrm>
          <a:prstGeom prst="roundRect">
            <a:avLst>
              <a:gd name="adj" fmla="val 16000"/>
            </a:avLst>
          </a:prstGeom>
          <a:solidFill>
            <a:srgbClr val="FFFFFF"/>
          </a:solidFill>
          <a:ln w="25400">
            <a:solidFill>
              <a:srgbClr val="075056"/>
            </a:solidFill>
            <a:prstDash val="solid"/>
          </a:ln>
        </p:spPr>
        <p:txBody>
          <a:bodyPr/>
          <a:lstStyle/>
          <a:p>
            <a:endParaRPr lang="en-US"/>
          </a:p>
        </p:txBody>
      </p:sp>
      <p:sp>
        <p:nvSpPr>
          <p:cNvPr id="22" name="Text 19"/>
          <p:cNvSpPr/>
          <p:nvPr/>
        </p:nvSpPr>
        <p:spPr>
          <a:xfrm>
            <a:off x="457200" y="4114800"/>
            <a:ext cx="2651760" cy="457200"/>
          </a:xfrm>
          <a:prstGeom prst="rect">
            <a:avLst/>
          </a:prstGeom>
          <a:noFill/>
          <a:ln/>
        </p:spPr>
        <p:txBody>
          <a:bodyPr wrap="square" rtlCol="0" anchor="ctr"/>
          <a:lstStyle/>
          <a:p>
            <a:pPr marL="0" indent="0" algn="ctr">
              <a:buNone/>
            </a:pPr>
            <a:r>
              <a:rPr lang="en-US" sz="1200" b="1">
                <a:solidFill>
                  <a:srgbClr val="075056"/>
                </a:solidFill>
                <a:latin typeface="Arial" pitchFamily="34" charset="0"/>
                <a:ea typeface="Arial" pitchFamily="34" charset="-122"/>
                <a:cs typeface="Arial" pitchFamily="34" charset="-120"/>
              </a:rPr>
              <a:t>☐  Yes, Agree — certify</a:t>
            </a:r>
            <a:endParaRPr lang="en-US" sz="1200"/>
          </a:p>
        </p:txBody>
      </p:sp>
      <p:sp>
        <p:nvSpPr>
          <p:cNvPr id="23" name="Shape 20"/>
          <p:cNvSpPr/>
          <p:nvPr/>
        </p:nvSpPr>
        <p:spPr>
          <a:xfrm>
            <a:off x="3291840" y="4114800"/>
            <a:ext cx="2651760" cy="457200"/>
          </a:xfrm>
          <a:prstGeom prst="roundRect">
            <a:avLst>
              <a:gd name="adj" fmla="val 16000"/>
            </a:avLst>
          </a:prstGeom>
          <a:solidFill>
            <a:srgbClr val="FFFFFF"/>
          </a:solidFill>
          <a:ln w="25400">
            <a:solidFill>
              <a:srgbClr val="FE3A39"/>
            </a:solidFill>
            <a:prstDash val="solid"/>
          </a:ln>
        </p:spPr>
        <p:txBody>
          <a:bodyPr/>
          <a:lstStyle/>
          <a:p>
            <a:endParaRPr lang="en-US"/>
          </a:p>
        </p:txBody>
      </p:sp>
      <p:sp>
        <p:nvSpPr>
          <p:cNvPr id="24" name="Text 21"/>
          <p:cNvSpPr/>
          <p:nvPr/>
        </p:nvSpPr>
        <p:spPr>
          <a:xfrm>
            <a:off x="3291840" y="4114800"/>
            <a:ext cx="2651760" cy="457200"/>
          </a:xfrm>
          <a:prstGeom prst="rect">
            <a:avLst/>
          </a:prstGeom>
          <a:noFill/>
          <a:ln/>
        </p:spPr>
        <p:txBody>
          <a:bodyPr wrap="square" rtlCol="0" anchor="ctr"/>
          <a:lstStyle/>
          <a:p>
            <a:pPr marL="0" indent="0" algn="ctr">
              <a:buNone/>
            </a:pPr>
            <a:r>
              <a:rPr lang="en-US" sz="1200" b="1">
                <a:solidFill>
                  <a:srgbClr val="FE3A39"/>
                </a:solidFill>
                <a:latin typeface="Arial" pitchFamily="34" charset="0"/>
                <a:ea typeface="Arial" pitchFamily="34" charset="-122"/>
                <a:cs typeface="Arial" pitchFamily="34" charset="-120"/>
              </a:rPr>
              <a:t>☐  No, Do not certify</a:t>
            </a:r>
            <a:endParaRPr lang="en-US" sz="1200"/>
          </a:p>
        </p:txBody>
      </p:sp>
      <p:sp>
        <p:nvSpPr>
          <p:cNvPr id="25" name="Text 22"/>
          <p:cNvSpPr/>
          <p:nvPr/>
        </p:nvSpPr>
        <p:spPr>
          <a:xfrm>
            <a:off x="6126480" y="4178808"/>
            <a:ext cx="3017520" cy="365760"/>
          </a:xfrm>
          <a:prstGeom prst="rect">
            <a:avLst/>
          </a:prstGeom>
          <a:noFill/>
          <a:ln/>
        </p:spPr>
        <p:txBody>
          <a:bodyPr wrap="square" rtlCol="0" anchor="ctr"/>
          <a:lstStyle/>
          <a:p>
            <a:pPr marL="0" indent="0">
              <a:buNone/>
            </a:pPr>
            <a:r>
              <a:rPr lang="en-US" sz="1050" b="1">
                <a:solidFill>
                  <a:srgbClr val="FFFFFF"/>
                </a:solidFill>
                <a:latin typeface="Calibri" pitchFamily="34" charset="0"/>
                <a:ea typeface="Calibri" pitchFamily="34" charset="-122"/>
                <a:cs typeface="Calibri" pitchFamily="34" charset="-120"/>
              </a:rPr>
              <a:t>Validator signature: </a:t>
            </a:r>
            <a:r>
              <a:rPr lang="en-US" sz="1050">
                <a:solidFill>
                  <a:srgbClr val="FFFFFF"/>
                </a:solidFill>
                <a:latin typeface="Calibri" pitchFamily="34" charset="0"/>
                <a:ea typeface="Calibri" pitchFamily="34" charset="-122"/>
                <a:cs typeface="Calibri" pitchFamily="34" charset="-120"/>
              </a:rPr>
              <a:t>__________________     </a:t>
            </a:r>
            <a:r>
              <a:rPr lang="en-US" sz="1050" b="1">
                <a:solidFill>
                  <a:srgbClr val="FFFFFF"/>
                </a:solidFill>
                <a:latin typeface="Calibri" pitchFamily="34" charset="0"/>
                <a:ea typeface="Calibri" pitchFamily="34" charset="-122"/>
                <a:cs typeface="Calibri" pitchFamily="34" charset="-120"/>
              </a:rPr>
              <a:t>Date: </a:t>
            </a:r>
            <a:r>
              <a:rPr lang="en-US" sz="1050">
                <a:solidFill>
                  <a:srgbClr val="FFFFFF"/>
                </a:solidFill>
                <a:latin typeface="Calibri" pitchFamily="34" charset="0"/>
                <a:ea typeface="Calibri" pitchFamily="34" charset="-122"/>
                <a:cs typeface="Calibri" pitchFamily="34" charset="-120"/>
              </a:rPr>
              <a:t>________</a:t>
            </a:r>
            <a:endParaRPr lang="en-US" sz="1050"/>
          </a:p>
        </p:txBody>
      </p:sp>
      <p:sp>
        <p:nvSpPr>
          <p:cNvPr id="26" name="Text 23"/>
          <p:cNvSpPr/>
          <p:nvPr/>
        </p:nvSpPr>
        <p:spPr>
          <a:xfrm>
            <a:off x="457200" y="4754880"/>
            <a:ext cx="8229600" cy="274320"/>
          </a:xfrm>
          <a:prstGeom prst="rect">
            <a:avLst/>
          </a:prstGeom>
          <a:noFill/>
          <a:ln/>
        </p:spPr>
        <p:txBody>
          <a:bodyPr wrap="square" rtlCol="0" anchor="ctr"/>
          <a:lstStyle/>
          <a:p>
            <a:pPr marL="0" indent="0">
              <a:buNone/>
            </a:pPr>
            <a:r>
              <a:rPr lang="en-US" sz="950" i="1">
                <a:solidFill>
                  <a:srgbClr val="71D8C5"/>
                </a:solidFill>
                <a:latin typeface="Calibri" pitchFamily="34" charset="0"/>
                <a:ea typeface="Calibri" pitchFamily="34" charset="-122"/>
                <a:cs typeface="Calibri" pitchFamily="34" charset="-120"/>
              </a:rPr>
              <a:t>Certification is issued only on "Yes, Agree". A score ≥ 70 is a recommendation, not automatic certification.</a:t>
            </a:r>
            <a:endParaRPr lang="en-US" sz="9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26f94d6-fa4c-4578-9923-387e8e08487a">
      <Terms xmlns="http://schemas.microsoft.com/office/infopath/2007/PartnerControls"/>
    </lcf76f155ced4ddcb4097134ff3c332f>
    <TaxCatchAll xmlns="7a392144-d9c7-4700-81e3-5d9ccc7560d2" xsi:nil="true"/>
    <Fecha_x002f_hora xmlns="726f94d6-fa4c-4578-9923-387e8e08487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78BDE5FBDD49645B4C97074EE65F842" ma:contentTypeVersion="12" ma:contentTypeDescription="Create a new document." ma:contentTypeScope="" ma:versionID="5312b329c996433ceb2b53c55abbd94c">
  <xsd:schema xmlns:xsd="http://www.w3.org/2001/XMLSchema" xmlns:xs="http://www.w3.org/2001/XMLSchema" xmlns:p="http://schemas.microsoft.com/office/2006/metadata/properties" xmlns:ns2="726f94d6-fa4c-4578-9923-387e8e08487a" xmlns:ns3="7a392144-d9c7-4700-81e3-5d9ccc7560d2" targetNamespace="http://schemas.microsoft.com/office/2006/metadata/properties" ma:root="true" ma:fieldsID="4c00a87271a249586203d6baa24a7578" ns2:_="" ns3:_="">
    <xsd:import namespace="726f94d6-fa4c-4578-9923-387e8e08487a"/>
    <xsd:import namespace="7a392144-d9c7-4700-81e3-5d9ccc7560d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Fecha_x002f_hor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6f94d6-fa4c-4578-9923-387e8e0848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398e266-1b5a-423d-aa71-fcb68a1b755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Fecha_x002f_hora" ma:index="19" nillable="true" ma:displayName="Fecha/hora" ma:format="DateTime" ma:internalName="Fecha_x002f_hora">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7a392144-d9c7-4700-81e3-5d9ccc7560d2"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a24c2efa-4133-4b24-8c74-08d4563e1292}" ma:internalName="TaxCatchAll" ma:showField="CatchAllData" ma:web="7a392144-d9c7-4700-81e3-5d9ccc7560d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47A92AA-1CF0-49A4-8A87-FC411546C1DB}">
  <ds:schemaRefs>
    <ds:schemaRef ds:uri="http://purl.org/dc/terms/"/>
    <ds:schemaRef ds:uri="http://schemas.microsoft.com/office/2006/metadata/properties"/>
    <ds:schemaRef ds:uri="http://www.w3.org/XML/1998/namespace"/>
    <ds:schemaRef ds:uri="http://purl.org/dc/dcmitype/"/>
    <ds:schemaRef ds:uri="http://schemas.microsoft.com/office/2006/documentManagement/types"/>
    <ds:schemaRef ds:uri="http://schemas.openxmlformats.org/package/2006/metadata/core-properties"/>
    <ds:schemaRef ds:uri="http://purl.org/dc/elements/1.1/"/>
    <ds:schemaRef ds:uri="http://schemas.microsoft.com/office/infopath/2007/PartnerControls"/>
    <ds:schemaRef ds:uri="7a392144-d9c7-4700-81e3-5d9ccc7560d2"/>
    <ds:schemaRef ds:uri="726f94d6-fa4c-4578-9923-387e8e08487a"/>
  </ds:schemaRefs>
</ds:datastoreItem>
</file>

<file path=customXml/itemProps2.xml><?xml version="1.0" encoding="utf-8"?>
<ds:datastoreItem xmlns:ds="http://schemas.openxmlformats.org/officeDocument/2006/customXml" ds:itemID="{71A7F19F-5EB7-4455-AD3C-F761A42CB93A}">
  <ds:schemaRefs>
    <ds:schemaRef ds:uri="726f94d6-fa4c-4578-9923-387e8e08487a"/>
    <ds:schemaRef ds:uri="7a392144-d9c7-4700-81e3-5d9ccc7560d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51DFD20-BF42-41D7-A8D9-80A8CEA4EF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139</TotalTime>
  <Words>1882</Words>
  <Application>Microsoft Office PowerPoint</Application>
  <PresentationFormat>On-screen Show (16:9)</PresentationFormat>
  <Paragraphs>218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Julian Largo Ramirez</cp:lastModifiedBy>
  <cp:revision>13</cp:revision>
  <dcterms:created xsi:type="dcterms:W3CDTF">2026-07-11T21:26:24Z</dcterms:created>
  <dcterms:modified xsi:type="dcterms:W3CDTF">2026-08-10T21:55:25Z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0x010100178BDE5FBDD49645B4C97074EE65F842</vt:lpwstr>
  </property>
  <property fmtid="{D5CDD505-2E9C-101B-9397-08002B2CF9AE}" pid="3" name="MediaServiceImageTags">
    <vt:lpwstr/>
  </property>
</Properties>
</file>