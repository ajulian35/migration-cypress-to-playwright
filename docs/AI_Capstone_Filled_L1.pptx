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C3EFF4-A06C-F3B8-2397-3167CE419EA2}" v="82" dt="2026-08-05T17:15:17.733"/>
    <p1510:client id="{F3C724E1-2ADA-F245-7F8D-3629A41DE867}" v="58" dt="2026-08-05T17:12:31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0601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50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1737360" cy="3999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2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</a:t>
            </a:r>
            <a:endParaRPr lang="en-US" sz="440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71D8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— AI Augmented SDLC</a:t>
            </a:r>
            <a:endParaRPr lang="en-US" sz="220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Submission Template — Option 1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57200" y="32918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71D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— Customer Project Showcase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4846320" y="32918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— Internal Platform Contribution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Name: Julian Largorde   Validator:  ______________________  Date: 2026-08-05</a:t>
            </a:r>
            <a:endParaRPr lang="en-US" sz="13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1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Perficient Global AI First Academy</a:t>
            </a:r>
            <a:endParaRPr lang="en-US" sz="100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0C9D93B8-1749-2345-294B-BBB2E82FACDD}"/>
              </a:ext>
            </a:extLst>
          </p:cNvPr>
          <p:cNvSpPr/>
          <p:nvPr/>
        </p:nvSpPr>
        <p:spPr>
          <a:xfrm>
            <a:off x="4575778" y="3296563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71D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BAB99C4-E5EB-A1F0-794B-3F93119DEDFE}"/>
              </a:ext>
            </a:extLst>
          </p:cNvPr>
          <p:cNvSpPr/>
          <p:nvPr/>
        </p:nvSpPr>
        <p:spPr>
          <a:xfrm>
            <a:off x="4667218" y="3296563"/>
            <a:ext cx="37490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b="1">
                <a:solidFill>
                  <a:srgbClr val="075056"/>
                </a:solidFill>
                <a:latin typeface="Calibri"/>
                <a:ea typeface="Calibri"/>
                <a:cs typeface="Calibri"/>
              </a:rPr>
              <a:t>Option 2 — Platform Contribution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Template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43000"/>
            <a:ext cx="310896" cy="31089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/>
          </a:p>
        </p:txBody>
      </p:sp>
      <p:sp>
        <p:nvSpPr>
          <p:cNvPr id="6" name="Text 3"/>
          <p:cNvSpPr/>
          <p:nvPr/>
        </p:nvSpPr>
        <p:spPr>
          <a:xfrm>
            <a:off x="91440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option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Option 1 (client work) or Option 2 (platform contribution). Fill every slide; delete instruction notes.</a:t>
            </a:r>
            <a:endParaRPr lang="en-US" sz="1300"/>
          </a:p>
        </p:txBody>
      </p:sp>
      <p:sp>
        <p:nvSpPr>
          <p:cNvPr id="7" name="Shape 4"/>
          <p:cNvSpPr/>
          <p:nvPr/>
        </p:nvSpPr>
        <p:spPr>
          <a:xfrm>
            <a:off x="457200" y="1709928"/>
            <a:ext cx="310896" cy="31089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17099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914400" y="166420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at least 3 of 5 competencies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has 5 topics. Demonstrate a minimum of 3 with real evidence.</a:t>
            </a:r>
            <a:endParaRPr lang="en-US" sz="1300"/>
          </a:p>
        </p:txBody>
      </p:sp>
      <p:sp>
        <p:nvSpPr>
          <p:cNvPr id="10" name="Shape 7"/>
          <p:cNvSpPr/>
          <p:nvPr/>
        </p:nvSpPr>
        <p:spPr>
          <a:xfrm>
            <a:off x="457200" y="2276856"/>
            <a:ext cx="310896" cy="310896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2276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/>
          </a:p>
        </p:txBody>
      </p:sp>
      <p:sp>
        <p:nvSpPr>
          <p:cNvPr id="12" name="Text 9"/>
          <p:cNvSpPr/>
          <p:nvPr/>
        </p:nvSpPr>
        <p:spPr>
          <a:xfrm>
            <a:off x="914400" y="223113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impact &amp; reusability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before/after and show whether others can reuse your work.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457200" y="2843784"/>
            <a:ext cx="310896" cy="310896"/>
          </a:xfrm>
          <a:prstGeom prst="ellipse">
            <a:avLst/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28437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914400" y="279806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Self-rate honestly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topic 0–30 on the Self-Rating slide. Attach evidence for every claim.</a:t>
            </a:r>
            <a:endParaRPr lang="en-US" sz="1300"/>
          </a:p>
        </p:txBody>
      </p:sp>
      <p:sp>
        <p:nvSpPr>
          <p:cNvPr id="16" name="Shape 13"/>
          <p:cNvSpPr/>
          <p:nvPr/>
        </p:nvSpPr>
        <p:spPr>
          <a:xfrm>
            <a:off x="457200" y="3410712"/>
            <a:ext cx="310896" cy="310896"/>
          </a:xfrm>
          <a:prstGeom prst="ellipse">
            <a:avLst/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34107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/>
          </a:p>
        </p:txBody>
      </p:sp>
      <p:sp>
        <p:nvSpPr>
          <p:cNvPr id="18" name="Text 15"/>
          <p:cNvSpPr/>
          <p:nvPr/>
        </p:nvSpPr>
        <p:spPr>
          <a:xfrm>
            <a:off x="914400" y="33649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your validator 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named validator scores and signs off: Agree or Do not certify.</a:t>
            </a:r>
            <a:endParaRPr lang="en-US" sz="1300"/>
          </a:p>
        </p:txBody>
      </p:sp>
      <p:sp>
        <p:nvSpPr>
          <p:cNvPr id="19" name="Shape 16"/>
          <p:cNvSpPr/>
          <p:nvPr/>
        </p:nvSpPr>
        <p:spPr>
          <a:xfrm>
            <a:off x="457200" y="416052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to clear:  70 / 150 minimum</a:t>
            </a:r>
            <a:r>
              <a:rPr lang="en-US" sz="1200">
                <a:solidFill>
                  <a:srgbClr val="71D8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•  5 topics × 30 max each  •  minimum 3 topics demonstrated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Project Overview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10972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 — Customer Project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/ client &amp; engagement</a:t>
            </a:r>
            <a:endParaRPr lang="en-US" sz="1200"/>
          </a:p>
        </p:txBody>
      </p:sp>
      <p:sp>
        <p:nvSpPr>
          <p:cNvPr id="7" name="Shape 4"/>
          <p:cNvSpPr/>
          <p:nvPr/>
        </p:nvSpPr>
        <p:spPr>
          <a:xfrm>
            <a:off x="457200" y="1947672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" y="1947672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457200" y="2532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· AI solution · outcomes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457200" y="278892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6928" y="2788920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457200" y="3374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business impact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457200" y="363016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6928" y="3630168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470916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00600" y="10972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 — Platform Contribution</a:t>
            </a:r>
            <a:endParaRPr lang="en-US" sz="1300"/>
          </a:p>
        </p:txBody>
      </p:sp>
      <p:sp>
        <p:nvSpPr>
          <p:cNvPr id="17" name="Text 14"/>
          <p:cNvSpPr/>
          <p:nvPr/>
        </p:nvSpPr>
        <p:spPr>
          <a:xfrm>
            <a:off x="470916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Perficient / AI Capstone L1 — internal learning engagement</a:t>
            </a:r>
            <a:endParaRPr lang="en-US" sz="1200"/>
          </a:p>
        </p:txBody>
      </p:sp>
      <p:sp>
        <p:nvSpPr>
          <p:cNvPr id="18" name="Shape 15"/>
          <p:cNvSpPr/>
          <p:nvPr/>
        </p:nvSpPr>
        <p:spPr>
          <a:xfrm>
            <a:off x="4709160" y="1947672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18888" y="1947672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4709160" y="2532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QA migration: Cypress TS → Playwright Python BDD. Claude Code + MCP Playwright generates both frameworks from one requirements doc.</a:t>
            </a:r>
            <a:endParaRPr lang="en-US" sz="1200"/>
          </a:p>
        </p:txBody>
      </p:sp>
      <p:sp>
        <p:nvSpPr>
          <p:cNvPr id="21" name="Shape 18"/>
          <p:cNvSpPr/>
          <p:nvPr/>
        </p:nvSpPr>
        <p:spPr>
          <a:xfrm>
            <a:off x="4709160" y="278892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18888" y="2788920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23" name="Text 20"/>
          <p:cNvSpPr/>
          <p:nvPr/>
        </p:nvSpPr>
        <p:spPr>
          <a:xfrm>
            <a:off x="4709160" y="3374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∼2–3 days manual work → ∼1.5 h agent session. 14 test files generated. Reusable skill + agent for future migrations.</a:t>
            </a:r>
            <a:endParaRPr lang="en-US" sz="1200"/>
          </a:p>
        </p:txBody>
      </p:sp>
      <p:sp>
        <p:nvSpPr>
          <p:cNvPr id="24" name="Shape 21"/>
          <p:cNvSpPr/>
          <p:nvPr/>
        </p:nvSpPr>
        <p:spPr>
          <a:xfrm>
            <a:off x="4709160" y="3630168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18888" y="3630168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… ]</a:t>
            </a:r>
            <a:endParaRPr lang="en-US" sz="1100"/>
          </a:p>
        </p:txBody>
      </p:sp>
      <p:sp>
        <p:nvSpPr>
          <p:cNvPr id="26" name="Text 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only the column for your option.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4"><p:bg><p:bgPr><a:solidFill><a:srgbClr val="FFFFFF"/></a:solidFill><a:effectLst/></p:bgPr></p:bg><p:spTree><p:nvGrpSpPr><p:cNvPr id="1" name=""/><p:cNvGrpSpPr/><p:nvPr/></p:nvGrpSpPr><p:grpSpPr><a:xfrm><a:off x="0" y="0"/><a:ext cx="0" cy="0"/><a:chOff x="0" y="0"/><a:chExt cx="0" cy="0"/></a:xfrm></p:grpSpPr><p:sp><p:nvSpPr><p:cNvPr id="2" name="Text 0"/><p:cNvSpPr/><p:nvPr/></p:nvSpPr><p:spPr><a:xfrm><a:off x="457200" y="274320"/><a:ext cx="7498080" cy="548640"/></a:xfrm><a:prstGeom prst="rect"><a:avLst/></a:prstGeom><a:noFill/><a:ln/></p:spPr><p:txBody><a:bodyPr wrap="square" rtlCol="0" anchor="ctr"/><a:lstStyle/><a:p><a:pPr marL="0" indent="0" algn="l"><a:buNone/></a:pPr><a:r><a:rPr lang="en-US" sz="2600" b="1"><a:solidFill><a:srgbClr val="024879"/></a:solidFill><a:latin typeface="Arial" pitchFamily="34" charset="0"/><a:ea typeface="Arial" pitchFamily="34" charset="-122"/><a:cs typeface="Arial" pitchFamily="34" charset="-120"/></a:rPr><a:t>My AI Approach</a:t></a:r><a:endParaRPr lang="en-US" sz="2600"/></a:p></p:txBody></p:sp><p:pic><p:nvPicPr><p:cNvPr id="3" name="Image 0" descr="preencoded.png"/><p:cNvPicPr><a:picLocks noChangeAspect="1"/></p:cNvPicPr><p:nvPr/></p:nvPicPr><p:blipFill><a:blip r:embed="rId3"/><a:stretch><a:fillRect/></a:stretch></p:blipFill><p:spPr><a:xfrm><a:off x="7818120" y="292608"/><a:ext cx="914400" cy="274730"/></a:xfrm><a:prstGeom prst="rect"><a:avLst/></a:prstGeom></p:spPr></p:pic><p:sp><p:nvSpPr><p:cNvPr id="4" name="Text 1"/><p:cNvSpPr/><p:nvPr/></p:nvSpPr><p:spPr><a:xfrm><a:off x="457200" y="1097280"/><a:ext cx="8229600" cy="256032"/></a:xfrm><a:prstGeom prst="rect"><a:avLst/></a:prstGeom><a:noFill/><a:ln/></p:spPr><p:txBody><a:bodyPr wrap="square" rtlCol="0" anchor="ctr"/><a:lstStyle/><a:p><a:pPr marL="0" indent="0" algn="l"><a:buNone/></a:pPr><a:r><a:rPr lang="en-US" sz="1200" b="1"><a:solidFill><a:srgbClr val="075056"/></a:solidFill><a:latin typeface="Arial" pitchFamily="34" charset="0"/><a:ea typeface="Arial" pitchFamily="34" charset="-122"/><a:cs typeface="Arial" pitchFamily="34" charset="-120"/></a:rPr><a:t>Goal — one sentence: the repeatable outcome you wanted AI to deliver</a:t></a:r><a:endParaRPr lang="en-US" sz="1200"/></a:p></p:txBody></p:sp><p:sp><p:nvSpPr><p:cNvPr id="5" name="Shape 2"/><p:cNvSpPr/><p:nvPr/></p:nvSpPr><p:spPr><a:xfrm><a:off x="457200" y="1371600"/><a:ext cx="8229600" cy="457200"/></a:xfrm><a:prstGeom prst="roundRect"><a:avLst><a:gd name="adj" fmla="val 10000"/></a:avLst></a:prstGeom><a:solidFill><a:srgbClr val="DFE7ED"/></a:solidFill><a:ln w="12700"><a:solidFill><a:srgbClr val="C5DCEE"/></a:solidFill><a:prstDash val="solid"/></a:ln></p:spPr><p:txBody><a:bodyPr/><a:lstStyle/><a:p><a:endParaRPr lang="en-US"/></a:p></p:txBody></p:sp><p:sp><p:nvSpPr><p:cNvPr id="6" name="Text 3"/><p:cNvSpPr/><p:nvPr/></p:nvSpPr><p:spPr><a:xfrm><a:off x="566928" y="1371600"/><a:ext cx="8010144" cy="457200"/></a:xfrm><a:prstGeom prst="rect"><a:avLst/></a:prstGeom><a:noFill/><a:ln/></p:spPr><p:txBody><a:bodyPr wrap="square" rtlCol="0" anchor="ctr"/><a:lstStyle/><a:p><a:pPr marL="0" indent="0" algn="l"><a:buNone/></a:pPr><a:r><a:rPr lang="en-US" sz="1100" i="1"><a:solidFill><a:srgbClr val="5A6B72"/></a:solidFill><a:latin typeface="Calibri" pitchFamily="34" charset="0"/><a:ea typeface="Calibri" pitchFamily="34" charset="-122"/><a:cs typeface="Calibri" pitchFamily="34" charset="-120"/></a:rPr><a:t>Generate a runnable Cypress→Playwright migration — selectors verified live — from a requirements doc, in one agent session.</a:t></a:r><a:endParaRPr lang="en-US" sz="1100"/></a:p></p:txBody></p:sp><p:sp><p:nvSpPr><p:cNvPr id="7" name="Shape 4"/><p:cNvSpPr/><p:nvPr/></p:nvSpPr><p:spPr><a:xfrm><a:off x="457200" y="2057400"/><a:ext cx="1572768" cy="2194560"/></a:xfrm><a:prstGeom prst="roundRect"><a:avLst><a:gd name="adj" fmla="val 3488"/></a:avLst></a:prstGeom><a:solidFill><a:srgbClr val="DFE7ED"/></a:solidFill><a:ln/></p:spPr><p:txBody><a:bodyPr/><a:lstStyle/><a:p><a:endParaRPr lang="en-US"/></a:p></p:txBody></p:sp><p:sp><p:nvSpPr><p:cNvPr id="8" name="Shape 5"/><p:cNvSpPr/><p:nvPr/></p:nvSpPr><p:spPr><a:xfrm><a:off x="1042416" y="2194560"/><a:ext cx="402336" cy="402336"/></a:xfrm><a:prstGeom prst="ellipse"><a:avLst/></a:prstGeom><a:solidFill><a:srgbClr val="075056"/></a:solidFill><a:ln/></p:spPr><p:txBody><a:bodyPr/><a:lstStyle/><a:p><a:endParaRPr lang="en-US"/></a:p></p:txBody></p:sp><p:sp><p:nvSpPr><p:cNvPr id="9" name="Text 6"/><p:cNvSpPr/><p:nvPr/></p:nvSpPr><p:spPr><a:xfrm><a:off x="1042416" y="2194560"/><a:ext cx="402336" cy="402336"/></a:xfrm><a:prstGeom prst="rect"><a:avLst/></a:prstGeom><a:noFill/><a:ln/></p:spPr><p:txBody><a:bodyPr wrap="square" rtlCol="0" anchor="ctr"/><a:lstStyle/><a:p><a:pPr marL="0" indent="0" algn="ctr"><a:buNone/></a:pPr><a:r><a:rPr lang="en-US" sz="1600" b="1"><a:solidFill><a:srgbClr val="FFFFFF"/></a:solidFill><a:latin typeface="Arial" pitchFamily="34" charset="0"/><a:ea typeface="Arial" pitchFamily="34" charset="-122"/><a:cs typeface="Arial" pitchFamily="34" charset="-120"/></a:rPr><a:t>1</a:t></a:r><a:endParaRPr lang="en-US" sz="1600"/></a:p></p:txBody></p:sp><p:sp><p:nvSpPr><p:cNvPr id="10" name="Text 7"/><p:cNvSpPr/><p:nvPr/></p:nvSpPr><p:spPr><a:xfrm><a:off x="512064" y="2697480"/><a:ext cx="1463040" cy="274320"/></a:xfrm><a:prstGeom prst="rect"><a:avLst/></a:prstGeom><a:noFill/><a:ln/></p:spPr><p:txBody><a:bodyPr wrap="square" rtlCol="0" anchor="ctr"/><a:lstStyle/><a:p><a:pPr marL="0" indent="0" algn="ctr"><a:buNone/></a:pPr><a:r><a:rPr lang="en-US" sz="1100" b="1"><a:solidFill><a:srgbClr val="024879"/></a:solidFill><a:latin typeface="Arial" pitchFamily="34" charset="0"/><a:ea typeface="Arial" pitchFamily="34" charset="-122"/><a:cs typeface="Arial" pitchFamily="34" charset="-120"/></a:rPr><a:t>1  Explore (MCP Playwright)</a:t></a:r><a:endParaRPr lang="en-US" sz="1100"/></a:p></p:txBody></p:sp><p:sp><p:nvSpPr><p:cNvPr id="11" name="Text 8"/><p:cNvSpPr/><p:nvPr/></p:nvSpPr><p:spPr><a:xfrm><a:off x="530352" y="3017520"/><a:ext cx="1426464" cy="1097280"/></a:xfrm><a:prstGeom prst="rect"><a:avLst/></a:prstGeom><a:noFill/><a:ln/></p:spPr><p:txBody><a:bodyPr wrap="square" rtlCol="0" anchor="ctr"/><a:lstStyle/><a:p><a:pPr marL="0" indent="0" algn="ctr"><a:buNone/></a:pPr><a:r><a:rPr lang="en-US" sz="950" i="1"><a:solidFill><a:srgbClr val="5A6B72"/></a:solidFill><a:latin typeface="Calibri" pitchFamily="34" charset="0"/><a:ea typeface="Calibri" pitchFamily="34" charset="-122"/><a:cs typeface="Calibri" pitchFamily="34" charset="-120"/></a:rPr><a:t>Claude Code opens Chrome, navigates all 7 flows, records real CSS selectors, URLs, assertion values.</a:t></a:r><a:endParaRPr lang="en-US" sz="950"/></a:p></p:txBody></p:sp><p:sp><p:nvSpPr><p:cNvPr id="12" name="Shape 9"/><p:cNvSpPr/><p:nvPr/></p:nvSpPr><p:spPr><a:xfrm><a:off x="2148840" y="2057400"/><a:ext cx="1572768" cy="2194560"/></a:xfrm><a:prstGeom prst="roundRect"><a:avLst><a:gd name="adj" fmla="val 3488"/></a:avLst></a:prstGeom><a:solidFill><a:srgbClr val="C5DCEE"/></a:solidFill><a:ln/></p:spPr><p:txBody><a:bodyPr/><a:lstStyle/><a:p><a:endParaRPr lang="en-US"/></a:p></p:txBody></p:sp><p:sp><p:nvSpPr><p:cNvPr id="13" name="Shape 10"/><p:cNvSpPr/><p:nvPr/></p:nvSpPr><p:spPr><a:xfrm><a:off x="2734056" y="2194560"/><a:ext cx="402336" cy="402336"/></a:xfrm><a:prstGeom prst="ellipse"><a:avLst/></a:prstGeom><a:solidFill><a:srgbClr val="075056"/></a:solidFill><a:ln/></p:spPr><p:txBody><a:bodyPr/><a:lstStyle/><a:p><a:endParaRPr lang="en-US"/></a:p></p:txBody></p:sp><p:sp><p:nvSpPr><p:cNvPr id="14" name="Text 11"/><p:cNvSpPr/><p:nvPr/></p:nvSpPr><p:spPr><a:xfrm><a:off x="2734056" y="2194560"/><a:ext cx="402336" cy="402336"/></a:xfrm><a:prstGeom prst="rect"><a:avLst/></a:prstGeom><a:noFill/><a:ln/></p:spPr><p:txBody><a:bodyPr wrap="square" rtlCol="0" anchor="ctr"/><a:lstStyle/><a:p><a:pPr marL="0" indent="0" algn="ctr"><a:buNone/></a:pPr><a:r><a:rPr lang="en-US" sz="1600" b="1"><a:solidFill><a:srgbClr val="FFFFFF"/></a:solidFill><a:latin typeface="Arial" pitchFamily="34" charset="0"/><a:ea typeface="Arial" pitchFamily="34" charset="-122"/><a:cs typeface="Arial" pitchFamily="34" charset="-120"/></a:rPr><a:t>2</a:t></a:r><a:endParaRPr lang="en-US" sz="1600"/></a:p></p:txBody></p:sp><p:sp><p:nvSpPr><p:cNvPr id="15" name="Text 12"/><p:cNvSpPr/><p:nvPr/></p:nvSpPr><p:spPr><a:xfrm><a:off x="2203704" y="2697480"/><a:ext cx="1463040" cy="274320"/></a:xfrm><a:prstGeom prst="rect"><a:avLst/></a:prstGeom><a:noFill/><a:ln/></p:spPr><p:txBody><a:bodyPr wrap="square" rtlCol="0" anchor="ctr"/><a:lstStyle/><a:p><a:pPr marL="0" indent="0" algn="ctr"><a:buNone/></a:pPr><a:r><a:rPr lang="en-US" sz="1100" b="1"><a:solidFill><a:srgbClr val="024879"/></a:solidFill><a:latin typeface="Arial" pitchFamily="34" charset="0"/><a:ea typeface="Arial" pitchFamily="34" charset="-122"/><a:cs typeface="Arial" pitchFamily="34" charset="-120"/></a:rPr><a:t>2  Generate Cypress (TS)</a:t></a:r><a:endParaRPr lang="en-US" sz="1100"/></a:p></p:txBody></p:sp><p:sp><p:nvSpPr><p:cNvPr id="16" name="Text 13"/><p:cNvSpPr/><p:nvPr/></p:nvSpPr><p:spPr><a:xfrm><a:off x="2221992" y="3017520"/><a:ext cx="1426464" cy="1097280"/></a:xfrm><a:prstGeom prst="rect"><a:avLst/></a:prstGeom><a:noFill/><a:ln/></p:spPr><p:txBody><a:bodyPr wrap="square" rtlCol="0" anchor="ctr"/><a:lstStyle/><a:p><a:pPr marL="0" indent="0" algn="ctr"><a:buNone/></a:pPr><a:r><a:rPr lang="en-US" sz="950" i="1"><a:solidFill><a:srgbClr val="5A6B72"/></a:solidFill><a:latin typeface="Calibri" pitchFamily="34" charset="0"/><a:ea typeface="Calibri" pitchFamily="34" charset="-122"/><a:cs typeface="Calibri" pitchFamily="34" charset="-120"/></a:rPr><a:t>Agent reads requirements, generates Page Objects + spec files using /cypress-test-gen skill.</a:t></a:r><a:endParaRPr lang="en-US" sz="950"/></a:p></p:txBody></p:sp><p:sp><p:nvSpPr><p:cNvPr id="17" name="Shape 14"/><p:cNvSpPr/><p:nvPr/></p:nvSpPr><p:spPr><a:xfrm><a:off x="3840480" y="2057400"/><a:ext cx="1572768" cy="2194560"/></a:xfrm><a:prstGeom prst="roundRect"><a:avLst><a:gd name="adj" fmla="val 3488"/></a:avLst></a:prstGeom><a:solidFill><a:srgbClr val="DFE7ED"/></a:solidFill><a:ln/></p:spPr><p:txBody><a:bodyPr/><a:lstStyle/><a:p><a:endParaRPr lang="en-US"/></a:p></p:txBody></p:sp><p:sp><p:nvSpPr><p:cNvPr id="18" name="Shape 15"/><p:cNvSpPr/><p:nvPr/></p:nvSpPr><p:spPr><a:xfrm><a:off x="4425696" y="2194560"/><a:ext cx="402336" cy="402336"/></a:xfrm><a:prstGeom prst="ellipse"><a:avLst/></a:prstGeom><a:solidFill><a:srgbClr val="075056"/></a:solidFill><a:ln/></p:spPr><p:txBody><a:bodyPr/><a:lstStyle/><a:p><a:endParaRPr lang="en-US"/></a:p></p:txBody></p:sp><p:sp><p:nvSpPr><p:cNvPr id="19" name="Text 16"/><p:cNvSpPr/><p:nvPr/></p:nvSpPr><p:spPr><a:xfrm><a:off x="4425696" y="2194560"/><a:ext cx="402336" cy="402336"/></a:xfrm><a:prstGeom prst="rect"><a:avLst/></a:prstGeom><a:noFill/><a:ln/></p:spPr><p:txBody><a:bodyPr wrap="square" rtlCol="0" anchor="ctr"/><a:lstStyle/><a:p><a:pPr marL="0" indent="0" algn="ctr"><a:buNone/></a:pPr><a:r><a:rPr lang="en-US" sz="1600" b="1"><a:solidFill><a:srgbClr val="FFFFFF"/></a:solidFill><a:latin typeface="Arial" pitchFamily="34" charset="0"/><a:ea typeface="Arial" pitchFamily="34" charset="-122"/><a:cs typeface="Arial" pitchFamily="34" charset="-120"/></a:rPr><a:t>3</a:t></a:r><a:endParaRPr lang="en-US" sz="1600"/></a:p></p:txBody></p:sp><p:sp><p:nvSpPr><p:cNvPr id="20" name="Text 17"/><p:cNvSpPr/><p:nvPr/></p:nvSpPr><p:spPr><a:xfrm><a:off x="3895344" y="2697480"/><a:ext cx="1463040" cy="274320"/></a:xfrm><a:prstGeom prst="rect"><a:avLst/></a:prstGeom><a:noFill/><a:ln/></p:spPr><p:txBody><a:bodyPr wrap="square" rtlCol="0" anchor="ctr"/><a:lstStyle/><a:p><a:pPr marL="0" indent="0" algn="ctr"><a:buNone/></a:pPr><a:r><a:rPr lang="en-US" sz="1100" b="1"><a:solidFill><a:srgbClr val="024879"/></a:solidFill><a:latin typeface="Arial" pitchFamily="34" charset="0"/><a:ea typeface="Arial" pitchFamily="34" charset="-122"/><a:cs typeface="Arial" pitchFamily="34" charset="-120"/></a:rPr><a:t>3  Migrate to Playwright (Python)</a:t></a:r><a:endParaRPr lang="en-US" sz="1100"/></a:p></p:txBody></p:sp><p:sp><p:nvSpPr><p:cNvPr id="21" name="Text 18"/><p:cNvSpPr/><p:nvPr/></p:nvSpPr><p:spPr><a:xfrm><a:off x="3913632" y="3017520"/><a:ext cx="1426464" cy="1097280"/></a:xfrm><a:prstGeom prst="rect"><a:avLst/></a:prstGeom><a:noFill/><a:ln/></p:spPr><p:txBody><a:bodyPr wrap="square" rtlCol="0" anchor="ctr"/><a:lstStyle/><a:p><a:pPr marL="0" indent="0" algn="ctr"><a:buNone/></a:pPr><a:r><a:rPr lang="en-US" sz="950" i="1"><a:solidFill><a:srgbClr val="5A6B72"/></a:solidFill><a:latin typeface="Calibri" pitchFamily="34" charset="0"/><a:ea typeface="Calibri" pitchFamily="34" charset="-122"/><a:cs typeface="Calibri" pitchFamily="34" charset="-120"/></a:rPr><a:t>playwright-migration agent reads Cypress artifacts, re-validates with MCP Playwright, generates Gherkin + POM + steps.</a:t></a:r><a:endParaRPr lang="en-US" sz="950"/></a:p></p:txBody></p:sp><p:sp><p:nvSpPr><p:cNvPr id="22" name="Shape 19"/><p:cNvSpPr/><p:nvPr/></p:nvSpPr><p:spPr><a:xfrm><a:off x="5532120" y="2057400"/><a:ext cx="1572768" cy="2194560"/></a:xfrm><a:prstGeom prst="roundRect"><a:avLst><a:gd name="adj" fmla="val 3488"/></a:avLst></a:prstGeom><a:solidFill><a:srgbClr val="C5DCEE"/></a:solidFill><a:ln/></p:spPr><p:txBody><a:bodyPr/><a:lstStyle/><a:p><a:endParaRPr lang="en-US"/></a:p></p:txBody></p:sp><p:sp><p:nvSpPr><p:cNvPr id="23" name="Shape 20"/><p:cNvSpPr/><p:nvPr/></p:nvSpPr><p:spPr><a:xfrm><a:off x="6117336" y="2194560"/><a:ext cx="402336" cy="402336"/></a:xfrm><a:prstGeom prst="ellipse"><a:avLst/></a:prstGeom><a:solidFill><a:srgbClr val="075056"/></a:solidFill><a:ln/></p:spPr><p:txBody><a:bodyPr/><a:lstStyle/><a:p><a:endParaRPr lang="en-US"/></a:p></p:txBody></p:sp><p:sp><p:nvSpPr><p:cNvPr id="24" name="Text 21"/><p:cNvSpPr/><p:nvPr/></p:nvSpPr><p:spPr><a:xfrm><a:off x="6117336" y="2194560"/><a:ext cx="402336" cy="402336"/></a:xfrm><a:prstGeom prst="rect"><a:avLst/></a:prstGeom><a:noFill/><a:ln/></p:spPr><p:txBody><a:bodyPr wrap="square" rtlCol="0" anchor="ctr"/><a:lstStyle/><a:p><a:pPr marL="0" indent="0" algn="ctr"><a:buNone/></a:pPr><a:r><a:rPr lang="en-US" sz="1600" b="1"><a:solidFill><a:srgbClr val="FFFFFF"/></a:solidFill><a:latin typeface="Arial" pitchFamily="34" charset="0"/><a:ea typeface="Arial" pitchFamily="34" charset="-122"/><a:cs typeface="Arial" pitchFamily="34" charset="-120"/></a:rPr><a:t>4</a:t></a:r><a:endParaRPr lang="en-US" sz="1600"/></a:p></p:txBody></p:sp><p:sp><p:nvSpPr><p:cNvPr id="25" name="Text 22"/><p:cNvSpPr/><p:nvPr/></p:nvSpPr><p:spPr><a:xfrm><a:off x="5586984" y="2697480"/><a:ext cx="1463040" cy="274320"/></a:xfrm><a:prstGeom prst="rect"><a:avLst/></a:prstGeom><a:noFill/><a:ln/></p:spPr><p:txBody><a:bodyPr wrap="square" rtlCol="0" anchor="ctr"/><a:lstStyle/><a:p><a:pPr marL="0" indent="0" algn="ctr"><a:buNone/></a:pPr><a:r><a:rPr lang="en-US" sz="1100" b="1"><a:solidFill><a:srgbClr val="024879"/></a:solidFill><a:latin typeface="Arial" pitchFamily="34" charset="0"/><a:ea typeface="Arial" pitchFamily="34" charset="-122"/><a:cs typeface="Arial" pitchFamily="34" charset="-120"/></a:rPr><a:t>4  Fix & Validate</a:t></a:r><a:endParaRPr lang="en-US" sz="1100"/></a:p></p:txBody></p:sp><p:sp><p:nvSpPr><p:cNvPr id="26" name="Text 23"/><p:cNvSpPr/><p:nvPr/></p:nvSpPr><p:spPr><a:xfrm><a:off x="5605272" y="3017520"/><a:ext cx="1426464" cy="1097280"/></a:xfrm><a:prstGeom prst="rect"><a:avLst/></a:prstGeom><a:noFill/><a:ln/></p:spPr><p:txBody><a:bodyPr wrap="square" rtlCol="0" anchor="ctr"/><a:lstStyle/><a:p><a:pPr marL="0" indent="0" algn="ctr"><a:buNone/></a:pPr><a:r><a:rPr lang="en-US" sz="950" i="1"><a:solidFill><a:srgbClr val="5A6B72"/></a:solidFill><a:latin typeface="Calibri" pitchFamily="34" charset="0"/><a:ea typeface="Calibri" pitchFamily="34" charset="-122"/><a:cs typeface="Calibri" pitchFamily="34" charset="-120"/></a:rPr><a:t>Review AI output: caught import path conflict, pinned-dependency build failure, demo data drift. Applied fixes.</a:t></a:r><a:endParaRPr lang="en-US" sz="950"/></a:p></p:txBody></p:sp><p:sp><p:nvSpPr><p:cNvPr id="27" name="Shape 24"/><p:cNvSpPr/><p:nvPr/></p:nvSpPr><p:spPr><a:xfrm><a:off x="7223760" y="2057400"/><a:ext cx="1572768" cy="2194560"/></a:xfrm><a:prstGeom prst="roundRect"><a:avLst><a:gd name="adj" fmla="val 3488"/></a:avLst></a:prstGeom><a:solidFill><a:srgbClr val="DFE7ED"/></a:solidFill><a:ln/></p:spPr><p:txBody><a:bodyPr/><a:lstStyle/><a:p><a:endParaRPr lang="en-US"/></a:p></p:txBody></p:sp><p:sp><p:nvSpPr><p:cNvPr id="28" name="Shape 25"/><p:cNvSpPr/><p:nvPr/></p:nvSpPr><p:spPr><a:xfrm><a:off x="7808976" y="2194560"/><a:ext cx="402336" cy="402336"/></a:xfrm><a:prstGeom prst="ellipse"><a:avLst/></a:prstGeom><a:solidFill><a:srgbClr val="075056"/></a:solidFill><a:ln/></p:spPr><p:txBody><a:bodyPr/><a:lstStyle/><a:p><a:endParaRPr lang="en-US"/></a:p></p:txBody></p:sp><p:sp><p:nvSpPr><p:cNvPr id="29" name="Text 26"/><p:cNvSpPr/><p:nvPr/></p:nvSpPr><p:spPr><a:xfrm><a:off x="7808976" y="2194560"/><a:ext cx="402336" cy="402336"/></a:xfrm><a:prstGeom prst="rect"><a:avLst/></a:prstGeom><a:noFill/><a:ln/></p:spPr><p:txBody><a:bodyPr wrap="square" rtlCol="0" anchor="ctr"/><a:lstStyle/><a:p><a:pPr marL="0" indent="0" algn="ctr"><a:buNone/></a:pPr><a:r><a:rPr lang="en-US" sz="1600" b="1"><a:solidFill><a:srgbClr val="FFFFFF"/></a:solidFill><a:latin typeface="Arial" pitchFamily="34" charset="0"/><a:ea typeface="Arial" pitchFamily="34" charset="-122"/><a:cs typeface="Arial" pitchFamily="34" charset="-120"/></a:rPr><a:t>5</a:t></a:r><a:endParaRPr lang="en-US" sz="1600"/></a:p></p:txBody></p:sp><p:sp><p:nvSpPr><p:cNvPr id="30" name="Text 27"/><p:cNvSpPr/><p:nvPr/></p:nvSpPr><p:spPr><a:xfrm><a:off x="7278624" y="2697480"/><a:ext cx="1463040" cy="274320"/></a:xfrm><a:prstGeom prst="rect"><a:avLst/></a:prstGeom><a:noFill/><a:ln/></p:spPr><p:txBody><a:bodyPr wrap="square" rtlCol="0" anchor="ctr"/><a:lstStyle/><a:p><a:pPr marL="0" indent="0" algn="ctr"><a:buNone/></a:pPr><a:r><a:rPr lang="en-US" sz="1100" b="1"><a:solidFill><a:srgbClr val="024879"/></a:solidFill><a:latin typeface="Arial" pitchFamily="34" charset="0"/><a:ea typeface="Arial" pitchFamily="34" charset="-122"/><a:cs typeface="Arial" pitchFamily="34" charset="-120"/></a:rPr><a:t>5  Document & Commit</a:t></a:r><a:endParaRPr lang="en-US" sz="1100"/></a:p></p:txBody></p:sp><p:sp><p:nvSpPr><p:cNvPr id="31" name="Text 28"/><p:cNvSpPr/><p:nvPr/></p:nvSpPr><p:spPr><a:xfrm><a:off x="7296912" y="3017520"/><a:ext cx="1426464" cy="1097280"/></a:xfrm><a:prstGeom prst="rect"><a:avLst/></a:prstGeom><a:noFill/><a:ln/></p:spPr><p:txBody><a:bodyPr wrap="square" rtlCol="0" anchor="ctr"/><a:lstStyle/><a:p><a:pPr marL="0" indent="0" algn="ctr"><a:buNone/></a:pPr><a:r><a:rPr lang="en-US" sz="950" i="1"><a:solidFill><a:srgbClr val="5A6B72"/></a:solidFill><a:latin typeface="Calibri" pitchFamily="34" charset="0"/><a:ea typeface="Calibri" pitchFamily="34" charset="-122"/><a:cs typeface="Calibri" pitchFamily="34" charset="-120"/></a:rPr><a:t>migration_workflow.md, docs/, .claude/skills, .claude/agents committed to GitHub.</a:t></a:r><a:endParaRPr lang="en-US" sz="950"/></a:p></p:txBody></p:sp><p:sp><p:nvSpPr><p:cNvPr id="32" name="Text 29"/><p:cNvSpPr/><p:nvPr/></p:nvSpPr><p:spPr><a:xfrm><a:off x="457200" y="4389120"/><a:ext cx="8229600" cy="274320"/></a:xfrm><a:prstGeom prst="rect"><a:avLst/></a:prstGeom><a:noFill/><a:ln/></p:spPr><p:txBody><a:bodyPr wrap="square" rtlCol="0" anchor="ctr"/><a:lstStyle/><a:p><a:pPr marL="0" indent="0"><a:buNone/></a:pPr><a:r><a:rPr lang="en-US" sz="1000" i="1"><a:solidFill><a:srgbClr val="5A6B72"/></a:solidFill><a:latin typeface="Calibri" pitchFamily="34" charset="0"/><a:ea typeface="Calibri" pitchFamily="34" charset="-122"/><a:cs typeface="Calibri" pitchFamily="34" charset="-120"/></a:rPr><a:t></a:t></a:r><a:endParaRPr lang="en-US" sz="1000"/></a:p></p:txBody></p:sp></p:spTree></p:cSld><p:clrMapOvr><a:masterClrMapping/></p:clrMapOvr>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→ After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5A6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— The Manual Way</a:t>
            </a:r>
            <a:endParaRPr lang="en-US" sz="140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Re-read spec  2. Manually re-verify selectors in browser  3. Rewrite POM in Python  4. Author Gherkin from scratch  5. Write step defs  6. Wire pytest-bdd fixtures  7. Debug imports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∼2–3 days for 7-requirement suite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selectors, API translation errors (cy.get → locator), BDD layer from zero, POM rewrite in a different language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of copy-paste selector errors; human fatigue causes inconsistent naming across files</a:t>
            </a:r>
            <a:endParaRPr lang="en-US" sz="1200"/>
          </a:p>
        </p:txBody>
      </p:sp>
      <p:sp>
        <p:nvSpPr>
          <p:cNvPr id="7" name="Shape 4"/>
          <p:cNvSpPr/>
          <p:nvPr/>
        </p:nvSpPr>
        <p:spPr>
          <a:xfrm>
            <a:off x="4709160" y="109728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09160" y="10972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The AI-Assisted Way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4800600" y="1691640"/>
            <a:ext cx="3794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/cypress-test-gen REQ-xxx → MCP exploration + TS generation; playwright-migration agent → reads Cypress, generates Python BDD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correction round: import path conflict fixed (playwright.pages → pages); 1 data-drift correction on REQ-001 assertions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∼90% — 6/7 requirements correct on first pass</a:t>
            </a:r>
            <a:endParaRPr lang="en-US" sz="120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∼3 h total (exploration + generation + fixes) vs ∼2–3 days manual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See: reports/cypress/req-003_login_success.png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Impact Scorecard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697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AI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AI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[Task 1 — time / run]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 hours]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 minutes]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 time saved]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[Task 2 — time / run]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 hours]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 minutes]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[% time saved]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[Quality / error rate]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[old level]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[new level]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[improvement]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[Frequency]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[how often]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[same / changed]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[change]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[Team benefit]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[# team members]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[hrs saved / month]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97764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566928" y="3977640"/>
            <a:ext cx="80101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[ 1–2 sentences: overall time saved, quality gain, and team benefit — be specific with numbers. ]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 &amp; Scale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4300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94360" y="128016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109728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reusable?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64008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.claude/skills/cypress-test-gen.md (invoke: /cypress-test-gen REQ-xxx)  .claude/agents/playwright-migration.md  migration_workflow.md (10-row conversion table)  CLAUDE.md (project context for consistent AI output)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4709160" y="114300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46320" y="128016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4632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/>
          </a:p>
        </p:txBody>
      </p:sp>
      <p:sp>
        <p:nvSpPr>
          <p:cNvPr id="12" name="Text 9"/>
          <p:cNvSpPr/>
          <p:nvPr/>
        </p:nvSpPr>
        <p:spPr>
          <a:xfrm>
            <a:off x="534924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adopt it?</a:t>
            </a:r>
            <a:endParaRPr lang="en-US" sz="1400"/>
          </a:p>
        </p:txBody>
      </p:sp>
      <p:sp>
        <p:nvSpPr>
          <p:cNvPr id="13" name="Text 10"/>
          <p:cNvSpPr/>
          <p:nvPr/>
        </p:nvSpPr>
        <p:spPr>
          <a:xfrm>
            <a:off x="4892040" y="170992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QA engineer on a Cypress→Playwright engagement. Swap BASE_URL + requirements doc; prompts and structure unchanged.</a:t>
            </a:r>
            <a:endParaRPr lang="en-US" sz="1150"/>
          </a:p>
        </p:txBody>
      </p:sp>
      <p:sp>
        <p:nvSpPr>
          <p:cNvPr id="14" name="Shape 11"/>
          <p:cNvSpPr/>
          <p:nvPr/>
        </p:nvSpPr>
        <p:spPr>
          <a:xfrm>
            <a:off x="457200" y="278892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94360" y="292608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36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/>
          </a:p>
        </p:txBody>
      </p:sp>
      <p:sp>
        <p:nvSpPr>
          <p:cNvPr id="17" name="Text 14"/>
          <p:cNvSpPr/>
          <p:nvPr/>
        </p:nvSpPr>
        <p:spPr>
          <a:xfrm>
            <a:off x="109728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package?</a:t>
            </a:r>
            <a:endParaRPr lang="en-US" sz="1400"/>
          </a:p>
        </p:txBody>
      </p:sp>
      <p:sp>
        <p:nvSpPr>
          <p:cNvPr id="18" name="Text 15"/>
          <p:cNvSpPr/>
          <p:nvPr/>
        </p:nvSpPr>
        <p:spPr>
          <a:xfrm>
            <a:off x="640080" y="335584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https://github.com/ajulian35/migration-cypress-to-playwright  README.md covers setup for both frameworks.  requirements.txt + package.json are self-contained.</a:t>
            </a:r>
            <a:endParaRPr lang="en-US" sz="1150"/>
          </a:p>
        </p:txBody>
      </p:sp>
      <p:sp>
        <p:nvSpPr>
          <p:cNvPr id="19" name="Shape 16"/>
          <p:cNvSpPr/>
          <p:nvPr/>
        </p:nvSpPr>
        <p:spPr>
          <a:xfrm>
            <a:off x="4709160" y="2788920"/>
            <a:ext cx="3977640" cy="1417320"/>
          </a:xfrm>
          <a:prstGeom prst="roundRect">
            <a:avLst>
              <a:gd name="adj" fmla="val 3871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846320" y="2926080"/>
            <a:ext cx="365760" cy="36576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4632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/>
          </a:p>
        </p:txBody>
      </p:sp>
      <p:sp>
        <p:nvSpPr>
          <p:cNvPr id="22" name="Text 19"/>
          <p:cNvSpPr/>
          <p:nvPr/>
        </p:nvSpPr>
        <p:spPr>
          <a:xfrm>
            <a:off x="534924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Org-scale potential</a:t>
            </a:r>
            <a:endParaRPr lang="en-US" sz="1400"/>
          </a:p>
        </p:txBody>
      </p:sp>
      <p:sp>
        <p:nvSpPr>
          <p:cNvPr id="23" name="Text 20"/>
          <p:cNvSpPr/>
          <p:nvPr/>
        </p:nvSpPr>
        <p:spPr>
          <a:xfrm>
            <a:off x="4892040" y="335584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future migration saves ∼2 days.  Standardises POM + BDD structure across QA engagements.  Reduces dependency on framework-specific expertise.</a:t>
            </a:r>
            <a:endParaRPr lang="en-US" sz="1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Got Right &amp; What It Got Wrong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143000"/>
            <a:ext cx="8229600" cy="1051560"/>
          </a:xfrm>
          <a:prstGeom prst="roundRect">
            <a:avLst>
              <a:gd name="adj" fmla="val 434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21792" y="1463040"/>
            <a:ext cx="411480" cy="411480"/>
          </a:xfrm>
          <a:prstGeom prst="ellipse">
            <a:avLst/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887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got RIGHT</a:t>
            </a:r>
            <a:endParaRPr lang="en-US" sz="1400"/>
          </a:p>
        </p:txBody>
      </p:sp>
      <p:sp>
        <p:nvSpPr>
          <p:cNvPr id="7" name="Text 4"/>
          <p:cNvSpPr/>
          <p:nvPr/>
        </p:nvSpPr>
        <p:spPr>
          <a:xfrm>
            <a:off x="1188720" y="16002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mapping via live MCP Playwright: captured real CSS selectors, custom OXD dropdown options, and autocomplete patterns with zero manual work.</a:t>
            </a:r>
            <a:endParaRPr lang="en-US" sz="1150"/>
          </a:p>
          <a:p>
            <a:pPr marL="152400" indent="-152400">
              <a:buSzPct val="100000"/>
              <a:buChar char="•"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POM generation in two languages from one exploration: LoginPage.ts and login_page.py share identical structure and method names.</a:t>
            </a:r>
            <a:endParaRPr lang="en-US" sz="1150"/>
          </a:p>
        </p:txBody>
      </p:sp>
      <p:sp>
        <p:nvSpPr>
          <p:cNvPr id="8" name="Shape 5"/>
          <p:cNvSpPr/>
          <p:nvPr/>
        </p:nvSpPr>
        <p:spPr>
          <a:xfrm>
            <a:off x="457200" y="2350008"/>
            <a:ext cx="8229600" cy="1051560"/>
          </a:xfrm>
          <a:prstGeom prst="roundRect">
            <a:avLst>
              <a:gd name="adj" fmla="val 434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21792" y="2670048"/>
            <a:ext cx="411480" cy="411480"/>
          </a:xfrm>
          <a:prstGeom prst="ellipse">
            <a:avLst/>
          </a:prstGeom>
          <a:solidFill>
            <a:srgbClr val="FE3A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88720" y="24414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E3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got WRONG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1188720" y="2807208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REQ-001: Generated assertions used requirements-doc values (nationality: Indian) that no longer matched the live shared demo (nationality: American). Would have failed immediately against the live app.</a:t>
            </a:r>
            <a:endParaRPr lang="en-US" sz="1150"/>
          </a:p>
          <a:p>
            <a:pPr marL="152400" indent="-152400">
              <a:buSzPct val="100000"/>
              <a:buChar char="•"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drift: the shared OrangeHRM demo was modified by another user between requirements authoring and agent exploration.</a:t>
            </a:r>
            <a:endParaRPr lang="en-US" sz="1150"/>
          </a:p>
        </p:txBody>
      </p:sp>
      <p:sp>
        <p:nvSpPr>
          <p:cNvPr id="12" name="Shape 9"/>
          <p:cNvSpPr/>
          <p:nvPr/>
        </p:nvSpPr>
        <p:spPr>
          <a:xfrm>
            <a:off x="457200" y="3557016"/>
            <a:ext cx="8229600" cy="1051560"/>
          </a:xfrm>
          <a:prstGeom prst="roundRect">
            <a:avLst>
              <a:gd name="adj" fmla="val 4348"/>
            </a:avLst>
          </a:prstGeom>
          <a:solidFill>
            <a:srgbClr val="DFE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1792" y="3877056"/>
            <a:ext cx="411480" cy="411480"/>
          </a:xfrm>
          <a:prstGeom prst="ellipse">
            <a:avLst/>
          </a:prstGeom>
          <a:solidFill>
            <a:srgbClr val="0248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88720" y="364845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requirements-doc values against MCP Playwright observations; updated assertions in Cypress spec + Gherkin feature file to match live app.</a:t>
            </a:r>
            <a:endParaRPr lang="en-US" sz="1400"/>
          </a:p>
        </p:txBody>
      </p:sp>
      <p:sp>
        <p:nvSpPr>
          <p:cNvPr id="15" name="Text 12"/>
          <p:cNvSpPr/>
          <p:nvPr/>
        </p:nvSpPr>
        <p:spPr>
          <a:xfrm>
            <a:off x="1188720" y="4014216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to assert observed values (correct for execution) rather than spec values (correct for documentation) — a trade-off the agent could not resolve alone.</a:t>
            </a:r>
            <a:endParaRPr lang="en-US" sz="1150"/>
          </a:p>
          <a:p>
            <a:pPr marL="152400" indent="-152400">
              <a:buSzPct val="100000"/>
              <a:buChar char="•"/>
            </a:pPr>
            <a:r>
              <a:rPr lang="en-US" sz="115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shows your critical thinking — be honest</a:t>
            </a:r>
            <a:endParaRPr lang="en-US" sz="1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&amp; Artifacts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&amp; attachments — the proof behind every claim</a:t>
            </a:r>
            <a:endParaRPr lang="en-US" sz="120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 link(s) / merged commits</a:t>
            </a:r>
            <a:endParaRPr lang="en-US" sz="1150"/>
          </a:p>
        </p:txBody>
      </p:sp>
      <p:sp>
        <p:nvSpPr>
          <p:cNvPr id="6" name="Shape 3"/>
          <p:cNvSpPr/>
          <p:nvPr/>
        </p:nvSpPr>
        <p:spPr>
          <a:xfrm>
            <a:off x="2423160" y="141732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532888" y="141732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link ]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470916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Design docs / demo recording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6675120" y="141732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784848" y="141732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link ]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45720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Prompt log / agent transcript</a:t>
            </a:r>
            <a:endParaRPr lang="en-US" sz="1150"/>
          </a:p>
        </p:txBody>
      </p:sp>
      <p:sp>
        <p:nvSpPr>
          <p:cNvPr id="12" name="Shape 9"/>
          <p:cNvSpPr/>
          <p:nvPr/>
        </p:nvSpPr>
        <p:spPr>
          <a:xfrm>
            <a:off x="2423160" y="228600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32888" y="228600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link ]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470916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Screenshots on the slides above</a:t>
            </a:r>
            <a:endParaRPr lang="en-US" sz="1150"/>
          </a:p>
        </p:txBody>
      </p:sp>
      <p:sp>
        <p:nvSpPr>
          <p:cNvPr id="15" name="Shape 12"/>
          <p:cNvSpPr/>
          <p:nvPr/>
        </p:nvSpPr>
        <p:spPr>
          <a:xfrm>
            <a:off x="6675120" y="228600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784848" y="228600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link ]</a:t>
            </a:r>
            <a:endParaRPr lang="en-US" sz="1100"/>
          </a:p>
        </p:txBody>
      </p:sp>
      <p:sp>
        <p:nvSpPr>
          <p:cNvPr id="17" name="Shape 14"/>
          <p:cNvSpPr/>
          <p:nvPr/>
        </p:nvSpPr>
        <p:spPr>
          <a:xfrm>
            <a:off x="457200" y="3383280"/>
            <a:ext cx="8229600" cy="1234440"/>
          </a:xfrm>
          <a:prstGeom prst="roundRect">
            <a:avLst>
              <a:gd name="adj" fmla="val 4444"/>
            </a:avLst>
          </a:prstGeom>
          <a:solidFill>
            <a:srgbClr val="C5DC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Validator</a:t>
            </a:r>
            <a:endParaRPr lang="en-US" sz="1400"/>
          </a:p>
        </p:txBody>
      </p:sp>
      <p:sp>
        <p:nvSpPr>
          <p:cNvPr id="19" name="Text 16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→ client PM / Account Lead   ·   Option 2 → Platform Leader / Owner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      </a:t>
            </a:r>
            <a:r>
              <a:rPr lang="en-US" sz="12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      </a:t>
            </a:r>
            <a:r>
              <a:rPr lang="en-US" sz="12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</a:t>
            </a:r>
            <a:r>
              <a:rPr lang="en-US" sz="12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Rubric — 5 Topics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topic scored 0–30. Demonstrate at least 3. Clear at 70 / 150.</a:t>
            </a:r>
            <a:endParaRPr lang="en-US" sz="12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200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Competency topic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earns top marks (25–30)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Spec-Driven Development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→ Plan → Tasks → Implement drove the work; specs written before code.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 files, skills, and curated references deliberately shaped AI output.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Output Review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AI output for intent, tests, security, performance, maintainability; caught &amp; fixed errors.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Pipeline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load → chunk → embed → store → query over your own docs or codebase.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248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+ AI Automation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a working AI-in-the-loop n8n workflow that automates a real recurring task.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B2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C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71D8C5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Distinction  25–30</a:t>
            </a:r>
            <a:endParaRPr lang="en-US" sz="1000"/>
          </a:p>
        </p:txBody>
      </p:sp>
      <p:sp>
        <p:nvSpPr>
          <p:cNvPr id="8" name="Shape 4"/>
          <p:cNvSpPr/>
          <p:nvPr/>
        </p:nvSpPr>
        <p:spPr>
          <a:xfrm>
            <a:off x="2532888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C5DCEE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532888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  18–24</a:t>
            </a:r>
            <a:endParaRPr lang="en-US" sz="1000"/>
          </a:p>
        </p:txBody>
      </p:sp>
      <p:sp>
        <p:nvSpPr>
          <p:cNvPr id="10" name="Shape 6"/>
          <p:cNvSpPr/>
          <p:nvPr/>
        </p:nvSpPr>
        <p:spPr>
          <a:xfrm>
            <a:off x="4608576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DFE7ED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7"/>
          <p:cNvSpPr/>
          <p:nvPr/>
        </p:nvSpPr>
        <p:spPr>
          <a:xfrm>
            <a:off x="4608576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 10–17</a:t>
            </a:r>
            <a:endParaRPr lang="en-US" sz="1000"/>
          </a:p>
        </p:txBody>
      </p:sp>
      <p:sp>
        <p:nvSpPr>
          <p:cNvPr id="12" name="Shape 8"/>
          <p:cNvSpPr/>
          <p:nvPr/>
        </p:nvSpPr>
        <p:spPr>
          <a:xfrm>
            <a:off x="6684264" y="4526280"/>
            <a:ext cx="19659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684264" y="4526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B2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 0–9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Self-Rating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topic you demonstrated (0–30). Leave blank if not used (min 3 required).</a:t>
            </a:r>
            <a:endParaRPr lang="en-US" sz="120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DFE7ED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12801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Spec-Driven Development</a:t>
            </a:r>
            <a:endParaRPr lang="en-US" sz="1250"/>
          </a:p>
        </p:txBody>
      </p:sp>
      <p:sp>
        <p:nvSpPr>
          <p:cNvPr id="7" name="Shape 4"/>
          <p:cNvSpPr/>
          <p:nvPr/>
        </p:nvSpPr>
        <p:spPr>
          <a:xfrm>
            <a:off x="7543800" y="1280160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543800" y="12801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30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457200" y="1810512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181051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Context Engineering</a:t>
            </a:r>
            <a:endParaRPr lang="en-US" sz="1250"/>
          </a:p>
        </p:txBody>
      </p:sp>
      <p:sp>
        <p:nvSpPr>
          <p:cNvPr id="11" name="Shape 8"/>
          <p:cNvSpPr/>
          <p:nvPr/>
        </p:nvSpPr>
        <p:spPr>
          <a:xfrm>
            <a:off x="7543800" y="1810512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543800" y="181051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30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457200" y="2340864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DFE7ED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4360" y="234086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AI Output Review</a:t>
            </a:r>
            <a:endParaRPr lang="en-US" sz="1250"/>
          </a:p>
        </p:txBody>
      </p:sp>
      <p:sp>
        <p:nvSpPr>
          <p:cNvPr id="15" name="Shape 12"/>
          <p:cNvSpPr/>
          <p:nvPr/>
        </p:nvSpPr>
        <p:spPr>
          <a:xfrm>
            <a:off x="7543800" y="2340864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543800" y="2340864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30</a:t>
            </a:r>
            <a:endParaRPr lang="en-US" sz="1200"/>
          </a:p>
        </p:txBody>
      </p:sp>
      <p:sp>
        <p:nvSpPr>
          <p:cNvPr id="17" name="Shape 14"/>
          <p:cNvSpPr/>
          <p:nvPr/>
        </p:nvSpPr>
        <p:spPr>
          <a:xfrm>
            <a:off x="457200" y="2871216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" y="287121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RAG Pipeline</a:t>
            </a:r>
            <a:endParaRPr lang="en-US" sz="1250"/>
          </a:p>
        </p:txBody>
      </p:sp>
      <p:sp>
        <p:nvSpPr>
          <p:cNvPr id="19" name="Shape 16"/>
          <p:cNvSpPr/>
          <p:nvPr/>
        </p:nvSpPr>
        <p:spPr>
          <a:xfrm>
            <a:off x="7543800" y="2871216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543800" y="2871216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 / 30</a:t>
            </a:r>
            <a:endParaRPr lang="en-US" sz="1200"/>
          </a:p>
        </p:txBody>
      </p:sp>
      <p:sp>
        <p:nvSpPr>
          <p:cNvPr id="21" name="Shape 18"/>
          <p:cNvSpPr/>
          <p:nvPr/>
        </p:nvSpPr>
        <p:spPr>
          <a:xfrm>
            <a:off x="457200" y="3401568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DFE7ED"/>
          </a:solidFill>
          <a:ln w="6350">
            <a:solidFill>
              <a:srgbClr val="B7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4360" y="340156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4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n8n + AI Automation</a:t>
            </a:r>
            <a:endParaRPr lang="en-US" sz="1250"/>
          </a:p>
        </p:txBody>
      </p:sp>
      <p:sp>
        <p:nvSpPr>
          <p:cNvPr id="23" name="Shape 20"/>
          <p:cNvSpPr/>
          <p:nvPr/>
        </p:nvSpPr>
        <p:spPr>
          <a:xfrm>
            <a:off x="7543800" y="3401568"/>
            <a:ext cx="1143000" cy="457200"/>
          </a:xfrm>
          <a:prstGeom prst="roundRect">
            <a:avLst>
              <a:gd name="adj" fmla="val 8000"/>
            </a:avLst>
          </a:prstGeom>
          <a:solidFill>
            <a:srgbClr val="C5DCEE"/>
          </a:solidFill>
          <a:ln w="127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543800" y="3401568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 / 30</a:t>
            </a:r>
            <a:endParaRPr lang="en-US" sz="1200"/>
          </a:p>
        </p:txBody>
      </p:sp>
      <p:sp>
        <p:nvSpPr>
          <p:cNvPr id="25" name="Shape 22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0750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total:  77 / 150</a:t>
            </a:r>
            <a:r>
              <a:rPr lang="en-US" sz="1200">
                <a:solidFill>
                  <a:srgbClr val="71D8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Clear = 70+     (I demonstrated 3 of 5 topics)</a:t>
            </a:r>
            <a:endParaRPr 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248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Key Takeaway</a:t>
            </a:r>
            <a:endParaRPr lang="en-US" sz="26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"/>
            <a:ext cx="914400" cy="2747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these sentences</a:t>
            </a:r>
            <a:endParaRPr lang="en-US" sz="120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" y="137160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"Before this program, I thought AI was …"</a:t>
            </a:r>
            <a:endParaRPr lang="en-US" sz="110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" y="192024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I know it is …"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biggest learning: context is everything. CLAUDE.md + structured prompts were the difference between generic output and production-ready files on first pass.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6928" y="2880360"/>
            <a:ext cx="8010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CLAUDE.md before writing a single line of code. 30 min defining conventions saved hours of correction across 14 generated files.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457200" y="3520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using AI at work</a:t>
            </a:r>
            <a:endParaRPr lang="en-US" sz="1200"/>
          </a:p>
        </p:txBody>
      </p:sp>
      <p:sp>
        <p:nvSpPr>
          <p:cNvPr id="13" name="Text 10"/>
          <p:cNvSpPr/>
          <p:nvPr/>
        </p:nvSpPr>
        <p:spPr>
          <a:xfrm>
            <a:off x="457200" y="3794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/10        </a:t>
            </a:r>
            <a:r>
              <a:rPr lang="en-US" sz="1300" b="1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r>
              <a:rPr lang="en-US" sz="1300">
                <a:solidFill>
                  <a:srgbClr val="1B2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/10</a:t>
            </a:r>
            <a:endParaRPr lang="en-US" sz="1300"/>
          </a:p>
        </p:txBody>
      </p:sp>
      <p:sp>
        <p:nvSpPr>
          <p:cNvPr id="14" name="Text 11"/>
          <p:cNvSpPr/>
          <p:nvPr/>
        </p:nvSpPr>
        <p:spPr>
          <a:xfrm>
            <a:off x="4709160" y="35204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200"/>
          </a:p>
        </p:txBody>
      </p:sp>
      <p:sp>
        <p:nvSpPr>
          <p:cNvPr id="15" name="Shape 12"/>
          <p:cNvSpPr/>
          <p:nvPr/>
        </p:nvSpPr>
        <p:spPr>
          <a:xfrm>
            <a:off x="4709160" y="3794760"/>
            <a:ext cx="3977640" cy="457200"/>
          </a:xfrm>
          <a:prstGeom prst="roundRect">
            <a:avLst>
              <a:gd name="adj" fmla="val 10000"/>
            </a:avLst>
          </a:prstGeom>
          <a:solidFill>
            <a:srgbClr val="DFE7ED"/>
          </a:solidFill>
          <a:ln w="12700">
            <a:solidFill>
              <a:srgbClr val="C5DC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18888" y="3794760"/>
            <a:ext cx="3758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CLAUDE.md before writing a single line of code. 30 min defining conventions saved hours of correction across 14 generated files.</a:t>
            </a:r>
            <a:endParaRPr lang="en-US" sz="1100"/>
          </a:p>
        </p:txBody>
      </p:sp>
      <p:sp>
        <p:nvSpPr>
          <p:cNvPr id="17" name="Text 1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Perficient Global AI First Academy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50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Validation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71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use only</a:t>
            </a:r>
            <a:endParaRPr lang="en-US" sz="130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65760"/>
            <a:ext cx="1097280" cy="2526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258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Spec-Driven Development</a:t>
            </a:r>
            <a:endParaRPr lang="en-US" sz="1250"/>
          </a:p>
        </p:txBody>
      </p:sp>
      <p:sp>
        <p:nvSpPr>
          <p:cNvPr id="6" name="Shape 3"/>
          <p:cNvSpPr/>
          <p:nvPr/>
        </p:nvSpPr>
        <p:spPr>
          <a:xfrm>
            <a:off x="7543800" y="13258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43800" y="13258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Context Engineering</a:t>
            </a:r>
            <a:endParaRPr lang="en-US" sz="1250"/>
          </a:p>
        </p:txBody>
      </p:sp>
      <p:sp>
        <p:nvSpPr>
          <p:cNvPr id="9" name="Shape 6"/>
          <p:cNvSpPr/>
          <p:nvPr/>
        </p:nvSpPr>
        <p:spPr>
          <a:xfrm>
            <a:off x="7543800" y="17830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543800" y="17830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457200" y="22402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AI Output Review</a:t>
            </a:r>
            <a:endParaRPr lang="en-US" sz="1250"/>
          </a:p>
        </p:txBody>
      </p:sp>
      <p:sp>
        <p:nvSpPr>
          <p:cNvPr id="12" name="Shape 9"/>
          <p:cNvSpPr/>
          <p:nvPr/>
        </p:nvSpPr>
        <p:spPr>
          <a:xfrm>
            <a:off x="7543800" y="22402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543800" y="22402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457200" y="26974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RAG Pipeline</a:t>
            </a:r>
            <a:endParaRPr lang="en-US" sz="1250"/>
          </a:p>
        </p:txBody>
      </p:sp>
      <p:sp>
        <p:nvSpPr>
          <p:cNvPr id="15" name="Shape 12"/>
          <p:cNvSpPr/>
          <p:nvPr/>
        </p:nvSpPr>
        <p:spPr>
          <a:xfrm>
            <a:off x="7543800" y="26974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543800" y="26974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17" name="Text 14"/>
          <p:cNvSpPr/>
          <p:nvPr/>
        </p:nvSpPr>
        <p:spPr>
          <a:xfrm>
            <a:off x="457200" y="315468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n8n + AI Automation</a:t>
            </a:r>
            <a:endParaRPr lang="en-US" sz="1250"/>
          </a:p>
        </p:txBody>
      </p:sp>
      <p:sp>
        <p:nvSpPr>
          <p:cNvPr id="18" name="Shape 15"/>
          <p:cNvSpPr/>
          <p:nvPr/>
        </p:nvSpPr>
        <p:spPr>
          <a:xfrm>
            <a:off x="7543800" y="315468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543800" y="31546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 / 30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457200" y="36301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total:  ____ / 150</a:t>
            </a:r>
            <a:r>
              <a:rPr lang="en-US" sz="1200">
                <a:solidFill>
                  <a:srgbClr val="71D8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Clear = 70+</a:t>
            </a:r>
            <a:endParaRPr lang="en-US" sz="1500"/>
          </a:p>
        </p:txBody>
      </p:sp>
      <p:sp>
        <p:nvSpPr>
          <p:cNvPr id="21" name="Shape 18"/>
          <p:cNvSpPr/>
          <p:nvPr/>
        </p:nvSpPr>
        <p:spPr>
          <a:xfrm>
            <a:off x="457200" y="41148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0750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720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750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Yes, Agree — certify</a:t>
            </a:r>
            <a:endParaRPr lang="en-US" sz="1200"/>
          </a:p>
        </p:txBody>
      </p:sp>
      <p:sp>
        <p:nvSpPr>
          <p:cNvPr id="23" name="Shape 20"/>
          <p:cNvSpPr/>
          <p:nvPr/>
        </p:nvSpPr>
        <p:spPr>
          <a:xfrm>
            <a:off x="3291840" y="41148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FE3A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9184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E3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No, Do not certify</a:t>
            </a:r>
            <a:endParaRPr lang="en-US" sz="1200"/>
          </a:p>
        </p:txBody>
      </p:sp>
      <p:sp>
        <p:nvSpPr>
          <p:cNvPr id="25" name="Text 22"/>
          <p:cNvSpPr/>
          <p:nvPr/>
        </p:nvSpPr>
        <p:spPr>
          <a:xfrm>
            <a:off x="6126480" y="41788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signature: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     </a:t>
            </a: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1050"/>
          </a:p>
        </p:txBody>
      </p:sp>
      <p:sp>
        <p:nvSpPr>
          <p:cNvPr id="26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71D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is issued only on "Yes, Agree". A score ≥ 70 is a recommendation, not automatic certification.</a:t>
            </a:r>
            <a:endParaRPr lang="en-US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26f94d6-fa4c-4578-9923-387e8e08487a">
      <Terms xmlns="http://schemas.microsoft.com/office/infopath/2007/PartnerControls"/>
    </lcf76f155ced4ddcb4097134ff3c332f>
    <TaxCatchAll xmlns="7a392144-d9c7-4700-81e3-5d9ccc7560d2" xsi:nil="true"/>
    <Fecha_x002f_hora xmlns="726f94d6-fa4c-4578-9923-387e8e08487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8BDE5FBDD49645B4C97074EE65F842" ma:contentTypeVersion="12" ma:contentTypeDescription="Create a new document." ma:contentTypeScope="" ma:versionID="5312b329c996433ceb2b53c55abbd94c">
  <xsd:schema xmlns:xsd="http://www.w3.org/2001/XMLSchema" xmlns:xs="http://www.w3.org/2001/XMLSchema" xmlns:p="http://schemas.microsoft.com/office/2006/metadata/properties" xmlns:ns2="726f94d6-fa4c-4578-9923-387e8e08487a" xmlns:ns3="7a392144-d9c7-4700-81e3-5d9ccc7560d2" targetNamespace="http://schemas.microsoft.com/office/2006/metadata/properties" ma:root="true" ma:fieldsID="4c00a87271a249586203d6baa24a7578" ns2:_="" ns3:_="">
    <xsd:import namespace="726f94d6-fa4c-4578-9923-387e8e08487a"/>
    <xsd:import namespace="7a392144-d9c7-4700-81e3-5d9ccc7560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Fecha_x002f_hor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6f94d6-fa4c-4578-9923-387e8e0848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398e266-1b5a-423d-aa71-fcb68a1b755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Fecha_x002f_hora" ma:index="19" nillable="true" ma:displayName="Fecha/hora" ma:format="DateTime" ma:internalName="Fecha_x002f_hora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392144-d9c7-4700-81e3-5d9ccc7560d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24c2efa-4133-4b24-8c74-08d4563e1292}" ma:internalName="TaxCatchAll" ma:showField="CatchAllData" ma:web="7a392144-d9c7-4700-81e3-5d9ccc7560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7A92AA-1CF0-49A4-8A87-FC411546C1DB}">
  <ds:schemaRefs>
    <ds:schemaRef ds:uri="726f94d6-fa4c-4578-9923-387e8e08487a"/>
    <ds:schemaRef ds:uri="7a392144-d9c7-4700-81e3-5d9ccc7560d2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1A7F19F-5EB7-4455-AD3C-F761A42CB93A}">
  <ds:schemaRefs>
    <ds:schemaRef ds:uri="726f94d6-fa4c-4578-9923-387e8e08487a"/>
    <ds:schemaRef ds:uri="7a392144-d9c7-4700-81e3-5d9ccc7560d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51DFD20-BF42-41D7-A8D9-80A8CEA4EF8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</cp:revision>
  <dcterms:created xsi:type="dcterms:W3CDTF">2026-07-11T21:26:24Z</dcterms:created>
  <dcterms:modified xsi:type="dcterms:W3CDTF">2026-08-06T02:10:58Z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0x010100178BDE5FBDD49645B4C97074EE65F842</vt:lpwstr>
  </property>
  <property fmtid="{D5CDD505-2E9C-101B-9397-08002B2CF9AE}" pid="3" name="MediaServiceImageTags">
    <vt:lpwstr/>
  </property>
</Properties>
</file>