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9CCA2-577E-A745-E359-6094FDB240F6}" v="1" dt="2026-08-07T12:53:32.035"/>
    <p1510:client id="{7B561C1C-B3A3-4D72-8E93-4EC69A990432}" v="1" dt="2026-08-07T12:50:15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2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0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737360" cy="399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AI Augmented SDLC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Template — Option X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X — Option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Internal Platform Contribution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>
                <a:solidFill>
                  <a:srgbClr val="FFFFFF"/>
                </a:solidFill>
                <a:ea typeface="Calibri"/>
                <a:cs typeface="Calibri"/>
              </a:rPr>
              <a:t>Name: </a:t>
            </a:r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______________________________     </a:t>
            </a:r>
            <a:r>
              <a:rPr lang="en-US" sz="1300" b="1" dirty="0">
                <a:solidFill>
                  <a:srgbClr val="FFFFFF"/>
                </a:solidFill>
                <a:ea typeface="Calibri"/>
                <a:cs typeface="Calibri"/>
              </a:rPr>
              <a:t>Date: </a:t>
            </a:r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____________________</a:t>
            </a:r>
            <a:endParaRPr lang="en-US" sz="1300" dirty="0"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91440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option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Option 1 (client work) or Option 2 (platform contribution). Fill every slide; delete instruction notes.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709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914400" y="16642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 least 3 of 5 competencies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has 5 topics. Demonstrate a minimum of 3 with real evidence.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57200" y="2276856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276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914400" y="22311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impact &amp; reusability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before/after and show whether others can reuse your work.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57200" y="2843784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43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914400" y="27980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 honestly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0–30 on the Self-Rating slide. Attach evidence for every claim.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457200" y="3410712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914400" y="33649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your validator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named validator scores and signs off: Agree or Do not certify.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 clear:  70 / 150 minimum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 5 topics × 30 max each  •  minimum 3 topics demonstrated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Project Overview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— Customer Project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client &amp; engagement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AI solution · outcomes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business impact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0060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 — Platform Contribution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47091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contributed to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470916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1888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70916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innovation contributed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70916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1888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470916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AI capability impact</a:t>
            </a:r>
            <a:endParaRPr lang="en-US" sz="1200"/>
          </a:p>
        </p:txBody>
      </p:sp>
      <p:sp>
        <p:nvSpPr>
          <p:cNvPr id="24" name="Shape 21"/>
          <p:cNvSpPr/>
          <p:nvPr/>
        </p:nvSpPr>
        <p:spPr>
          <a:xfrm>
            <a:off x="470916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1888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only the column for your option.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 Approach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one sentence: the repeatable outcome you wanted AI to deliver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e.g., "Turn a legacy migration ticket into a reviewed, tested PR in one session." ]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4241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241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1206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3035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214884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3405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3405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220370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222199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384048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2569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2569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389534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391363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22" name="Shape 19"/>
          <p:cNvSpPr/>
          <p:nvPr/>
        </p:nvSpPr>
        <p:spPr>
          <a:xfrm>
            <a:off x="553212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1733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1733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558698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560527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27" name="Shape 24"/>
          <p:cNvSpPr/>
          <p:nvPr/>
        </p:nvSpPr>
        <p:spPr>
          <a:xfrm>
            <a:off x="722376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80897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0897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30" name="Text 27"/>
          <p:cNvSpPr/>
          <p:nvPr/>
        </p:nvSpPr>
        <p:spPr>
          <a:xfrm>
            <a:off x="727862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729691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32" name="Text 2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steps to match your actual workflow.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5A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The Manual Way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manual process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(hrs / min)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error risks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that occurred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The AI-Assisted Way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80060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steps / prompts used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refined the output (rounds)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accuracy (e.g. ~90%)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with AI — compare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your AI output on this slide.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 Scorecard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697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1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hours]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minutes]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 time saved]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2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hours]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minutes]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 time saved]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[Quality / error rate]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[old level]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[new level]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[improvement]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[how often]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[same / changed]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[change]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 benefit]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[# team members]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[hrs saved / month]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66928" y="39776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[ 1–2 sentences: overall time saved, quality gain, and team benefit — be specific with numbers. ]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Scale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reusable?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others can pick up — a prompt library, skill, MCP server, template, or pattern.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adopt it?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teams, accounts, or roles could use this as-is or with small changes?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package?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4008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README, repo link, or demo that lets someone else run it.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470916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potential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489204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adopted widely, what changes — hours saved, risk reduced, capability unlocked?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 &amp; What It Got Wrong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463040"/>
            <a:ext cx="411480" cy="41148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it handled well — cite a real example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strength from your actual work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457200" y="235000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2670048"/>
            <a:ext cx="411480" cy="411480"/>
          </a:xfrm>
          <a:prstGeom prst="ellipse">
            <a:avLst/>
          </a:prstGeom>
          <a:solidFill>
            <a:srgbClr val="FE3A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88720" y="2441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WRONG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1188720" y="280720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failure or limitation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triggered it — prompt, data, or tool limit?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" y="3877056"/>
            <a:ext cx="411480" cy="411480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88720" y="3648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corrected manually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188720" y="40142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 judgement was required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your critical thinking — be honest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Artifacts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attachments — the proof behind every claim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 link(s) / merged commits</a:t>
            </a:r>
            <a:endParaRPr lang="en-US" sz="1150"/>
          </a:p>
        </p:txBody>
      </p:sp>
      <p:sp>
        <p:nvSpPr>
          <p:cNvPr id="6" name="Shape 3"/>
          <p:cNvSpPr/>
          <p:nvPr/>
        </p:nvSpPr>
        <p:spPr>
          <a:xfrm>
            <a:off x="242316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3288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7091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 docs / demo recording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67512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8484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log / agent transcript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242316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7091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Screenshots on the slides above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667512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484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Validator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→ client PM / Account Lead   ·   Option 2 → Platform Leader / Owner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— 5 Topics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scored 0–30. Demonstrate at least 3. Clear at 70 / 150.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topic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earns top marks (25–30)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→ Plan → Tasks → Implement drove the work; specs written before code.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files, skills, and curated references deliberately shaped AI output.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 Review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AI output for intent, tests, security, performance, maintainability; caught &amp; fixed errors.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Pipeline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load → chunk → embed → store → query over your own docs or codebase.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+ AI Automation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 working AI-in-the-loop n8n workflow that automates a real recurring task.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71D8C5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 25–30</a:t>
            </a:r>
            <a:endParaRPr lang="en-US" sz="1000"/>
          </a:p>
        </p:txBody>
      </p:sp>
      <p:sp>
        <p:nvSpPr>
          <p:cNvPr id="8" name="Shape 4"/>
          <p:cNvSpPr/>
          <p:nvPr/>
        </p:nvSpPr>
        <p:spPr>
          <a:xfrm>
            <a:off x="2532888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C5DCEE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32888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 18–24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4608576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DFE7ED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4608576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 10–17</a:t>
            </a:r>
            <a:endParaRPr lang="en-US" sz="1000"/>
          </a:p>
        </p:txBody>
      </p:sp>
      <p:sp>
        <p:nvSpPr>
          <p:cNvPr id="12" name="Shape 8"/>
          <p:cNvSpPr/>
          <p:nvPr/>
        </p:nvSpPr>
        <p:spPr>
          <a:xfrm>
            <a:off x="6684264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84264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 0–9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Self-Rating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you demonstrated (0–30). Leave blank if not used (min 3 required).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7" name="Shape 4"/>
          <p:cNvSpPr/>
          <p:nvPr/>
        </p:nvSpPr>
        <p:spPr>
          <a:xfrm>
            <a:off x="7543800" y="12801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43800" y="12801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8105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 Engineering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7543800" y="1810512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43800" y="18105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2340864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34086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Output Review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340864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3408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57200" y="2871216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8712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Pipeline</a:t>
            </a:r>
            <a:endParaRPr lang="en-US" sz="1250"/>
          </a:p>
        </p:txBody>
      </p:sp>
      <p:sp>
        <p:nvSpPr>
          <p:cNvPr id="19" name="Shape 16"/>
          <p:cNvSpPr/>
          <p:nvPr/>
        </p:nvSpPr>
        <p:spPr>
          <a:xfrm>
            <a:off x="7543800" y="287121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43800" y="287121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401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n8n + AI Automation</a:t>
            </a:r>
            <a:endParaRPr lang="en-US" sz="1250"/>
          </a:p>
        </p:txBody>
      </p:sp>
      <p:sp>
        <p:nvSpPr>
          <p:cNvPr id="23" name="Shape 20"/>
          <p:cNvSpPr/>
          <p:nvPr/>
        </p:nvSpPr>
        <p:spPr>
          <a:xfrm>
            <a:off x="7543800" y="34015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43800" y="34015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Clear = 70+     (I demonstrated ____ of 5 topics)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Key Takeaway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these sentences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this program, I thought AI was …"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2024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I know it is …"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biggest learning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using AI at work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/10        </a:t>
            </a: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/10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709160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tip for the next cohort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709160" y="379476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18888" y="379476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Validation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use only</a:t>
            </a:r>
            <a:endParaRPr lang="en-US" sz="13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760"/>
            <a:ext cx="1097280" cy="252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6" name="Shape 3"/>
          <p:cNvSpPr/>
          <p:nvPr/>
        </p:nvSpPr>
        <p:spPr>
          <a:xfrm>
            <a:off x="7543800" y="13258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 Engineering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7543800" y="17830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43800" y="17830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Output Review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7543800" y="22402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43800" y="22402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Pipeline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6974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31546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n8n + AI Automation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>
          <a:xfrm>
            <a:off x="7543800" y="31546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43800" y="31546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57200" y="3630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Clear = 70+</a:t>
            </a:r>
            <a:endParaRPr lang="en-US" sz="150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Yes, Agree — certify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329184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E3A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No, Do not certify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126480" y="4178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signature: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    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issued only on "Yes, Agree". A score ≥ 70 is a recommendation, not automatic certification.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BDE5FBDD49645B4C97074EE65F842" ma:contentTypeVersion="12" ma:contentTypeDescription="Create a new document." ma:contentTypeScope="" ma:versionID="5312b329c996433ceb2b53c55abbd94c">
  <xsd:schema xmlns:xsd="http://www.w3.org/2001/XMLSchema" xmlns:xs="http://www.w3.org/2001/XMLSchema" xmlns:p="http://schemas.microsoft.com/office/2006/metadata/properties" xmlns:ns2="726f94d6-fa4c-4578-9923-387e8e08487a" xmlns:ns3="7a392144-d9c7-4700-81e3-5d9ccc7560d2" targetNamespace="http://schemas.microsoft.com/office/2006/metadata/properties" ma:root="true" ma:fieldsID="4c00a87271a249586203d6baa24a7578" ns2:_="" ns3:_="">
    <xsd:import namespace="726f94d6-fa4c-4578-9923-387e8e08487a"/>
    <xsd:import namespace="7a392144-d9c7-4700-81e3-5d9ccc7560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echa_x002f_hor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f94d6-fa4c-4578-9923-387e8e084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98e266-1b5a-423d-aa71-fcb68a1b75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echa_x002f_hora" ma:index="19" nillable="true" ma:displayName="Fecha/hora" ma:format="DateTime" ma:internalName="Fecha_x002f_hor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92144-d9c7-4700-81e3-5d9ccc7560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4c2efa-4133-4b24-8c74-08d4563e1292}" ma:internalName="TaxCatchAll" ma:showField="CatchAllData" ma:web="7a392144-d9c7-4700-81e3-5d9ccc7560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6f94d6-fa4c-4578-9923-387e8e08487a">
      <Terms xmlns="http://schemas.microsoft.com/office/infopath/2007/PartnerControls"/>
    </lcf76f155ced4ddcb4097134ff3c332f>
    <TaxCatchAll xmlns="7a392144-d9c7-4700-81e3-5d9ccc7560d2" xsi:nil="true"/>
    <Fecha_x002f_hora xmlns="726f94d6-fa4c-4578-9923-387e8e08487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A7F19F-5EB7-4455-AD3C-F761A42CB93A}">
  <ds:schemaRefs>
    <ds:schemaRef ds:uri="726f94d6-fa4c-4578-9923-387e8e08487a"/>
    <ds:schemaRef ds:uri="7a392144-d9c7-4700-81e3-5d9ccc7560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7A92AA-1CF0-49A4-8A87-FC411546C1DB}">
  <ds:schemaRefs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7a392144-d9c7-4700-81e3-5d9ccc7560d2"/>
    <ds:schemaRef ds:uri="726f94d6-fa4c-4578-9923-387e8e08487a"/>
  </ds:schemaRefs>
</ds:datastoreItem>
</file>

<file path=customXml/itemProps3.xml><?xml version="1.0" encoding="utf-8"?>
<ds:datastoreItem xmlns:ds="http://schemas.openxmlformats.org/officeDocument/2006/customXml" ds:itemID="{451DFD20-BF42-41D7-A8D9-80A8CEA4EF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On-screen Show (16:9)</PresentationFormat>
  <Paragraphs>206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Gonzalo Munoz</cp:lastModifiedBy>
  <cp:revision>4</cp:revision>
  <dcterms:created xsi:type="dcterms:W3CDTF">2026-07-11T21:26:24Z</dcterms:created>
  <dcterms:modified xsi:type="dcterms:W3CDTF">2026-08-10T17:48:51Z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0x010100178BDE5FBDD49645B4C97074EE65F842</vt:lpwstr>
  </property>
  <property fmtid="{D5CDD505-2E9C-101B-9397-08002B2CF9AE}" pid="3" name="MediaServiceImageTags">
    <vt:lpwstr/>
  </property>
</Properties>
</file>