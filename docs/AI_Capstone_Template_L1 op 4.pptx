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8" r:id="rId16"/>
    <p:sldId id="267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39CCA2-577E-A745-E359-6094FDB240F6}" v="1" dt="2026-08-07T12:53:32.035"/>
    <p1510:client id="{7B561C1C-B3A3-4D72-8E93-4EC69A990432}" v="1" dt="2026-08-07T12:50:15.5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220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0601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I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50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"/>
            <a:ext cx="1737360" cy="39997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4173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kern="0" spc="2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PROJECT</a:t>
            </a:r>
            <a:endParaRPr lang="en-US" sz="4400"/>
          </a:p>
        </p:txBody>
      </p:sp>
      <p:sp>
        <p:nvSpPr>
          <p:cNvPr id="4" name="Text 1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71D8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— AI Augmented SDLC</a:t>
            </a:r>
            <a:endParaRPr lang="en-US" sz="2200"/>
          </a:p>
        </p:txBody>
      </p:sp>
      <p:sp>
        <p:nvSpPr>
          <p:cNvPr id="5" name="Text 2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Submission - Option 2: Internal Platform Contribution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6" name="Shape 3"/>
          <p:cNvSpPr/>
          <p:nvPr/>
        </p:nvSpPr>
        <p:spPr>
          <a:xfrm>
            <a:off x="457200" y="3291840"/>
            <a:ext cx="393192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71D8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48640" y="32918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750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2 - Internal Platform Contribution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846320" y="32918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750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 — Internal Platform Contribution</a:t>
            </a:r>
            <a:endParaRPr lang="en-US" sz="1200"/>
          </a:p>
        </p:txBody>
      </p:sp>
      <p:sp>
        <p:nvSpPr>
          <p:cNvPr id="11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300" b="1" dirty="0">
                <a:solidFill>
                  <a:srgbClr val="FFFFFF"/>
                </a:solidFill>
                <a:ea typeface="Calibri"/>
                <a:cs typeface="Calibri"/>
              </a:rPr>
              <a:t>Name: Julian Largor                    Date: 2026-08-10</a:t>
            </a:r>
            <a:r>
              <a:rPr lang="en-US" sz="1300" dirty="0">
                <a:solidFill>
                  <a:srgbClr val="FFFFFF"/>
                </a:solidFill>
                <a:ea typeface="Calibri"/>
                <a:cs typeface="Calibri"/>
              </a:rPr>
              <a:t/>
            </a:r>
            <a:r>
              <a:rPr lang="en-US" sz="1300" b="1" dirty="0">
                <a:solidFill>
                  <a:srgbClr val="FFFFFF"/>
                </a:solidFill>
                <a:ea typeface="Calibri"/>
                <a:cs typeface="Calibri"/>
              </a:rPr>
              <a:t/>
            </a:r>
            <a:r>
              <a:rPr lang="en-US" sz="1300" dirty="0">
                <a:solidFill>
                  <a:srgbClr val="FFFFFF"/>
                </a:solidFill>
                <a:ea typeface="Calibri"/>
                <a:cs typeface="Calibri"/>
              </a:rPr>
              <a:t/>
            </a:r>
            <a:endParaRPr lang="en-US" sz="1300" dirty="0">
              <a:ea typeface="Calibri"/>
              <a:cs typeface="Calibri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1D8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Perficient Global AI First Academy</a:t>
            </a:r>
            <a:endParaRPr lang="en-US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Use This Template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143000"/>
            <a:ext cx="310896" cy="310896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57200" y="114300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/>
          </a:p>
        </p:txBody>
      </p:sp>
      <p:sp>
        <p:nvSpPr>
          <p:cNvPr id="6" name="Text 3"/>
          <p:cNvSpPr/>
          <p:nvPr/>
        </p:nvSpPr>
        <p:spPr>
          <a:xfrm>
            <a:off x="91440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option  </a:t>
            </a:r>
            <a:r>
              <a:rPr lang="en-US" sz="13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Option 1 (client work) or Option 2 (platform contribution). Fill every slide; delete instruction notes.</a:t>
            </a:r>
            <a:endParaRPr lang="en-US" sz="1300"/>
          </a:p>
        </p:txBody>
      </p:sp>
      <p:sp>
        <p:nvSpPr>
          <p:cNvPr id="7" name="Shape 4"/>
          <p:cNvSpPr/>
          <p:nvPr/>
        </p:nvSpPr>
        <p:spPr>
          <a:xfrm>
            <a:off x="457200" y="1709928"/>
            <a:ext cx="310896" cy="310896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57200" y="17099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/>
          </a:p>
        </p:txBody>
      </p:sp>
      <p:sp>
        <p:nvSpPr>
          <p:cNvPr id="9" name="Text 6"/>
          <p:cNvSpPr/>
          <p:nvPr/>
        </p:nvSpPr>
        <p:spPr>
          <a:xfrm>
            <a:off x="914400" y="1664208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at least 3 of 5 competencies  </a:t>
            </a:r>
            <a:r>
              <a:rPr lang="en-US" sz="13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rubric has 5 topics. Demonstrate a minimum of 3 with real evidence.</a:t>
            </a:r>
            <a:endParaRPr lang="en-US" sz="1300"/>
          </a:p>
        </p:txBody>
      </p:sp>
      <p:sp>
        <p:nvSpPr>
          <p:cNvPr id="10" name="Shape 7"/>
          <p:cNvSpPr/>
          <p:nvPr/>
        </p:nvSpPr>
        <p:spPr>
          <a:xfrm>
            <a:off x="457200" y="2276856"/>
            <a:ext cx="310896" cy="310896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57200" y="227685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/>
          </a:p>
        </p:txBody>
      </p:sp>
      <p:sp>
        <p:nvSpPr>
          <p:cNvPr id="12" name="Text 9"/>
          <p:cNvSpPr/>
          <p:nvPr/>
        </p:nvSpPr>
        <p:spPr>
          <a:xfrm>
            <a:off x="914400" y="2231136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impact &amp; reusability  </a:t>
            </a:r>
            <a:r>
              <a:rPr lang="en-US" sz="13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before/after and show whether others can reuse your work.</a:t>
            </a:r>
            <a:endParaRPr lang="en-US" sz="1300"/>
          </a:p>
        </p:txBody>
      </p:sp>
      <p:sp>
        <p:nvSpPr>
          <p:cNvPr id="13" name="Shape 10"/>
          <p:cNvSpPr/>
          <p:nvPr/>
        </p:nvSpPr>
        <p:spPr>
          <a:xfrm>
            <a:off x="457200" y="2843784"/>
            <a:ext cx="310896" cy="310896"/>
          </a:xfrm>
          <a:prstGeom prst="ellipse">
            <a:avLst/>
          </a:prstGeom>
          <a:solidFill>
            <a:srgbClr val="0248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57200" y="28437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/>
          </a:p>
        </p:txBody>
      </p:sp>
      <p:sp>
        <p:nvSpPr>
          <p:cNvPr id="15" name="Text 12"/>
          <p:cNvSpPr/>
          <p:nvPr/>
        </p:nvSpPr>
        <p:spPr>
          <a:xfrm>
            <a:off x="914400" y="2798064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Self-rate honestly  </a:t>
            </a:r>
            <a:r>
              <a:rPr lang="en-US" sz="13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each topic 0–30 on the Self-Rating slide. Attach evidence for every claim.</a:t>
            </a:r>
            <a:endParaRPr lang="en-US" sz="1300"/>
          </a:p>
        </p:txBody>
      </p:sp>
      <p:sp>
        <p:nvSpPr>
          <p:cNvPr id="16" name="Shape 13"/>
          <p:cNvSpPr/>
          <p:nvPr/>
        </p:nvSpPr>
        <p:spPr>
          <a:xfrm>
            <a:off x="457200" y="3410712"/>
            <a:ext cx="310896" cy="310896"/>
          </a:xfrm>
          <a:prstGeom prst="ellipse">
            <a:avLst/>
          </a:prstGeom>
          <a:solidFill>
            <a:srgbClr val="0248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57200" y="341071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/>
          </a:p>
        </p:txBody>
      </p:sp>
      <p:sp>
        <p:nvSpPr>
          <p:cNvPr id="18" name="Text 15"/>
          <p:cNvSpPr/>
          <p:nvPr/>
        </p:nvSpPr>
        <p:spPr>
          <a:xfrm>
            <a:off x="914400" y="3364992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your validator  </a:t>
            </a:r>
            <a:r>
              <a:rPr lang="en-US" sz="13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named validator scores and signs off: Agree or Do not certify.</a:t>
            </a:r>
            <a:endParaRPr lang="en-US" sz="1300"/>
          </a:p>
        </p:txBody>
      </p:sp>
      <p:sp>
        <p:nvSpPr>
          <p:cNvPr id="19" name="Shape 16"/>
          <p:cNvSpPr/>
          <p:nvPr/>
        </p:nvSpPr>
        <p:spPr>
          <a:xfrm>
            <a:off x="457200" y="416052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40080" y="41605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to clear:  70 / 150 minimum</a:t>
            </a:r>
            <a:r>
              <a:rPr lang="en-US" sz="1200">
                <a:solidFill>
                  <a:srgbClr val="71D8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•  5 topics × 30 max each  •  minimum 3 topics demonstrated</a:t>
            </a:r>
            <a:endParaRPr lang="en-US"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Project Overview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097280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0248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48640" y="109728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1 — Customer Project</a:t>
            </a:r>
            <a:endParaRPr lang="en-US" sz="1300"/>
          </a:p>
        </p:txBody>
      </p:sp>
      <p:sp>
        <p:nvSpPr>
          <p:cNvPr id="6" name="Text 3"/>
          <p:cNvSpPr/>
          <p:nvPr/>
        </p:nvSpPr>
        <p:spPr>
          <a:xfrm>
            <a:off x="457200" y="16916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/ client &amp; engagement</a:t>
            </a:r>
            <a:endParaRPr lang="en-US" sz="1200"/>
          </a:p>
        </p:txBody>
      </p:sp>
      <p:sp>
        <p:nvSpPr>
          <p:cNvPr id="7" name="Shape 4"/>
          <p:cNvSpPr/>
          <p:nvPr/>
        </p:nvSpPr>
        <p:spPr>
          <a:xfrm>
            <a:off x="457200" y="1947672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66928" y="1947672"/>
            <a:ext cx="3758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… ]</a:t>
            </a:r>
            <a:endParaRPr lang="en-US" sz="1100"/>
          </a:p>
        </p:txBody>
      </p:sp>
      <p:sp>
        <p:nvSpPr>
          <p:cNvPr id="9" name="Text 6"/>
          <p:cNvSpPr/>
          <p:nvPr/>
        </p:nvSpPr>
        <p:spPr>
          <a:xfrm>
            <a:off x="457200" y="253288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· AI solution · outcomes</a:t>
            </a:r>
            <a:endParaRPr lang="en-US" sz="1200"/>
          </a:p>
        </p:txBody>
      </p:sp>
      <p:sp>
        <p:nvSpPr>
          <p:cNvPr id="10" name="Shape 7"/>
          <p:cNvSpPr/>
          <p:nvPr/>
        </p:nvSpPr>
        <p:spPr>
          <a:xfrm>
            <a:off x="457200" y="2788920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66928" y="2788920"/>
            <a:ext cx="3758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… ]</a:t>
            </a:r>
            <a:endParaRPr lang="en-US" sz="1100"/>
          </a:p>
        </p:txBody>
      </p:sp>
      <p:sp>
        <p:nvSpPr>
          <p:cNvPr id="12" name="Text 9"/>
          <p:cNvSpPr/>
          <p:nvPr/>
        </p:nvSpPr>
        <p:spPr>
          <a:xfrm>
            <a:off x="457200" y="337413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Quantified business impact</a:t>
            </a:r>
            <a:endParaRPr lang="en-US" sz="1200"/>
          </a:p>
        </p:txBody>
      </p:sp>
      <p:sp>
        <p:nvSpPr>
          <p:cNvPr id="13" name="Shape 10"/>
          <p:cNvSpPr/>
          <p:nvPr/>
        </p:nvSpPr>
        <p:spPr>
          <a:xfrm>
            <a:off x="457200" y="3630168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66928" y="3630168"/>
            <a:ext cx="3758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… ]</a:t>
            </a:r>
            <a:endParaRPr lang="en-US" sz="1100"/>
          </a:p>
        </p:txBody>
      </p:sp>
      <p:sp>
        <p:nvSpPr>
          <p:cNvPr id="15" name="Shape 12"/>
          <p:cNvSpPr/>
          <p:nvPr/>
        </p:nvSpPr>
        <p:spPr>
          <a:xfrm>
            <a:off x="4709160" y="1097280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0248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800600" y="109728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2 — Platform Contribution</a:t>
            </a:r>
            <a:endParaRPr lang="en-US" sz="1300"/>
          </a:p>
        </p:txBody>
      </p:sp>
      <p:sp>
        <p:nvSpPr>
          <p:cNvPr id="17" name="Text 14"/>
          <p:cNvSpPr/>
          <p:nvPr/>
        </p:nvSpPr>
        <p:spPr>
          <a:xfrm>
            <a:off x="4709160" y="16916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contributed to</a:t>
            </a:r>
            <a:endParaRPr lang="en-US" sz="1200"/>
          </a:p>
        </p:txBody>
      </p:sp>
      <p:sp>
        <p:nvSpPr>
          <p:cNvPr id="18" name="Shape 15"/>
          <p:cNvSpPr/>
          <p:nvPr/>
        </p:nvSpPr>
        <p:spPr>
          <a:xfrm>
            <a:off x="4709160" y="1947672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818888" y="1947672"/>
            <a:ext cx="3758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Perficient AI Academy - QA Automation Migration Framework</a:t>
            </a:r>
            <a:endParaRPr lang="en-US" sz="1100"/>
          </a:p>
        </p:txBody>
      </p:sp>
      <p:sp>
        <p:nvSpPr>
          <p:cNvPr id="20" name="Text 17"/>
          <p:cNvSpPr/>
          <p:nvPr/>
        </p:nvSpPr>
        <p:spPr>
          <a:xfrm>
            <a:off x="4709160" y="253288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/ innovation contributed</a:t>
            </a:r>
            <a:endParaRPr lang="en-US" sz="1200"/>
          </a:p>
        </p:txBody>
      </p:sp>
      <p:sp>
        <p:nvSpPr>
          <p:cNvPr id="21" name="Shape 18"/>
          <p:cNvSpPr/>
          <p:nvPr/>
        </p:nvSpPr>
        <p:spPr>
          <a:xfrm>
            <a:off x="4709160" y="2788920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818888" y="2788920"/>
            <a:ext cx="3758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Agent-driven Cypress to Playwright migration workflow. AI agent reads requirements, explores live app via MCP Playwright, generates Cypress TS + Playwright Python BDD suites from a single requirements document. 8/8 tests passing in both frameworks.</a:t>
            </a:r>
            <a:endParaRPr lang="en-US" sz="1100"/>
          </a:p>
        </p:txBody>
      </p:sp>
      <p:sp>
        <p:nvSpPr>
          <p:cNvPr id="23" name="Text 20"/>
          <p:cNvSpPr/>
          <p:nvPr/>
        </p:nvSpPr>
        <p:spPr>
          <a:xfrm>
            <a:off x="4709160" y="337413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Org-scale AI capability impact</a:t>
            </a:r>
            <a:endParaRPr lang="en-US" sz="1200"/>
          </a:p>
        </p:txBody>
      </p:sp>
      <p:sp>
        <p:nvSpPr>
          <p:cNvPr id="24" name="Shape 21"/>
          <p:cNvSpPr/>
          <p:nvPr/>
        </p:nvSpPr>
        <p:spPr>
          <a:xfrm>
            <a:off x="4709160" y="3630168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818888" y="3630168"/>
            <a:ext cx="3758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days of manual migration work compressed into one agent session (~7h). Reusable prompts + project structure portable to any future migration target.</a:t>
            </a:r>
            <a:endParaRPr lang="en-US" sz="1100"/>
          </a:p>
        </p:txBody>
      </p:sp>
      <p:sp>
        <p:nvSpPr>
          <p:cNvPr id="26" name="Text 2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only the column for your option.</a:t>
            </a:r>
            <a:endParaRPr lang="en-US" sz="1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AI Approach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097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— one sentence: the repeatable outcome you wanted AI to deliver</a:t>
            </a:r>
            <a:endParaRPr lang="en-US" sz="120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66928" y="1371600"/>
            <a:ext cx="80101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passing Cypress TS + Playwright Python BDD test suites from a requirements document, using MCP Playwright to verify selectors against the live app before generating any code.</a:t>
            </a:r>
            <a:endParaRPr lang="en-US" sz="1100"/>
          </a:p>
        </p:txBody>
      </p:sp>
      <p:sp>
        <p:nvSpPr>
          <p:cNvPr id="7" name="Shape 4"/>
          <p:cNvSpPr/>
          <p:nvPr/>
        </p:nvSpPr>
        <p:spPr>
          <a:xfrm>
            <a:off x="457200" y="2057400"/>
            <a:ext cx="1572768" cy="2194560"/>
          </a:xfrm>
          <a:prstGeom prst="roundRect">
            <a:avLst>
              <a:gd name="adj" fmla="val 3488"/>
            </a:avLst>
          </a:prstGeom>
          <a:solidFill>
            <a:srgbClr val="DFE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042416" y="2194560"/>
            <a:ext cx="402336" cy="402336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042416" y="2194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/>
          </a:p>
        </p:txBody>
      </p:sp>
      <p:sp>
        <p:nvSpPr>
          <p:cNvPr id="10" name="Text 7"/>
          <p:cNvSpPr/>
          <p:nvPr/>
        </p:nvSpPr>
        <p:spPr>
          <a:xfrm>
            <a:off x="512064" y="26974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1 - Requirements + Context</a:t>
            </a:r>
            <a:endParaRPr lang="en-US" sz="1100"/>
          </a:p>
        </p:txBody>
      </p:sp>
      <p:sp>
        <p:nvSpPr>
          <p:cNvPr id="11" name="Text 8"/>
          <p:cNvSpPr/>
          <p:nvPr/>
        </p:nvSpPr>
        <p:spPr>
          <a:xfrm>
            <a:off x="530352" y="3017520"/>
            <a:ext cx="142646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7 functional requirements in functional_requirements_Cypress.md. Author CLAUDE.md with project conventions: naming, POM structure, credential handling, report paths. Tool: Claude Code.</a:t>
            </a:r>
            <a:endParaRPr lang="en-US" sz="950"/>
          </a:p>
        </p:txBody>
      </p:sp>
      <p:sp>
        <p:nvSpPr>
          <p:cNvPr id="12" name="Shape 9"/>
          <p:cNvSpPr/>
          <p:nvPr/>
        </p:nvSpPr>
        <p:spPr>
          <a:xfrm>
            <a:off x="2148840" y="2057400"/>
            <a:ext cx="1572768" cy="2194560"/>
          </a:xfrm>
          <a:prstGeom prst="roundRect">
            <a:avLst>
              <a:gd name="adj" fmla="val 3488"/>
            </a:avLst>
          </a:prstGeom>
          <a:solidFill>
            <a:srgbClr val="C5DC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734056" y="2194560"/>
            <a:ext cx="402336" cy="402336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2734056" y="2194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/>
          </a:p>
        </p:txBody>
      </p:sp>
      <p:sp>
        <p:nvSpPr>
          <p:cNvPr id="15" name="Text 12"/>
          <p:cNvSpPr/>
          <p:nvPr/>
        </p:nvSpPr>
        <p:spPr>
          <a:xfrm>
            <a:off x="2203704" y="26974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2 - Live App Exploration</a:t>
            </a:r>
            <a:endParaRPr lang="en-US" sz="1100"/>
          </a:p>
        </p:txBody>
      </p:sp>
      <p:sp>
        <p:nvSpPr>
          <p:cNvPr id="16" name="Text 13"/>
          <p:cNvSpPr/>
          <p:nvPr/>
        </p:nvSpPr>
        <p:spPr>
          <a:xfrm>
            <a:off x="2221992" y="3017520"/>
            <a:ext cx="142646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opens Chrome via MCP Playwright, navigates each requirement flow, captures real selectors and expected values from the live OrangeHRM demo. No guessing, no stale locators.</a:t>
            </a:r>
            <a:endParaRPr lang="en-US" sz="950"/>
          </a:p>
        </p:txBody>
      </p:sp>
      <p:sp>
        <p:nvSpPr>
          <p:cNvPr id="17" name="Shape 14"/>
          <p:cNvSpPr/>
          <p:nvPr/>
        </p:nvSpPr>
        <p:spPr>
          <a:xfrm>
            <a:off x="3840480" y="2057400"/>
            <a:ext cx="1572768" cy="2194560"/>
          </a:xfrm>
          <a:prstGeom prst="roundRect">
            <a:avLst>
              <a:gd name="adj" fmla="val 3488"/>
            </a:avLst>
          </a:prstGeom>
          <a:solidFill>
            <a:srgbClr val="DFE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425696" y="2194560"/>
            <a:ext cx="402336" cy="402336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425696" y="2194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/>
          </a:p>
        </p:txBody>
      </p:sp>
      <p:sp>
        <p:nvSpPr>
          <p:cNvPr id="20" name="Text 17"/>
          <p:cNvSpPr/>
          <p:nvPr/>
        </p:nvSpPr>
        <p:spPr>
          <a:xfrm>
            <a:off x="3895344" y="26974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3 - Cypress Generation</a:t>
            </a:r>
            <a:endParaRPr lang="en-US" sz="1100"/>
          </a:p>
        </p:txBody>
      </p:sp>
      <p:sp>
        <p:nvSpPr>
          <p:cNvPr id="21" name="Text 18"/>
          <p:cNvSpPr/>
          <p:nvPr/>
        </p:nvSpPr>
        <p:spPr>
          <a:xfrm>
            <a:off x="3913632" y="3017520"/>
            <a:ext cx="142646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generates TypeScript Page Objects + spec files following CLAUDE.md conventions. POM pattern, credentials via Cypress.env(), describe blocks labeled with REQ IDs. 7 specs + 6 POMs generated.</a:t>
            </a:r>
            <a:endParaRPr lang="en-US" sz="950"/>
          </a:p>
        </p:txBody>
      </p:sp>
      <p:sp>
        <p:nvSpPr>
          <p:cNvPr id="22" name="Shape 19"/>
          <p:cNvSpPr/>
          <p:nvPr/>
        </p:nvSpPr>
        <p:spPr>
          <a:xfrm>
            <a:off x="5532120" y="2057400"/>
            <a:ext cx="1572768" cy="2194560"/>
          </a:xfrm>
          <a:prstGeom prst="roundRect">
            <a:avLst>
              <a:gd name="adj" fmla="val 3488"/>
            </a:avLst>
          </a:prstGeom>
          <a:solidFill>
            <a:srgbClr val="C5DC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6117336" y="2194560"/>
            <a:ext cx="402336" cy="402336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117336" y="2194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/>
          </a:p>
        </p:txBody>
      </p:sp>
      <p:sp>
        <p:nvSpPr>
          <p:cNvPr id="25" name="Text 22"/>
          <p:cNvSpPr/>
          <p:nvPr/>
        </p:nvSpPr>
        <p:spPr>
          <a:xfrm>
            <a:off x="5586984" y="26974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4 - Playwright Migration</a:t>
            </a:r>
            <a:endParaRPr lang="en-US" sz="1100"/>
          </a:p>
        </p:txBody>
      </p:sp>
      <p:sp>
        <p:nvSpPr>
          <p:cNvPr id="26" name="Text 23"/>
          <p:cNvSpPr/>
          <p:nvPr/>
        </p:nvSpPr>
        <p:spPr>
          <a:xfrm>
            <a:off x="5605272" y="3017520"/>
            <a:ext cx="142646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Cypress spec + POM converted to Playwright Python BDD: Gherkin .feature file, Python Page Object, pytest-bdd step definitions. Same selectors confirmed once, reused in both frameworks.</a:t>
            </a:r>
            <a:endParaRPr lang="en-US" sz="950"/>
          </a:p>
        </p:txBody>
      </p:sp>
      <p:sp>
        <p:nvSpPr>
          <p:cNvPr id="27" name="Shape 24"/>
          <p:cNvSpPr/>
          <p:nvPr/>
        </p:nvSpPr>
        <p:spPr>
          <a:xfrm>
            <a:off x="7223760" y="2057400"/>
            <a:ext cx="1572768" cy="2194560"/>
          </a:xfrm>
          <a:prstGeom prst="roundRect">
            <a:avLst>
              <a:gd name="adj" fmla="val 3488"/>
            </a:avLst>
          </a:prstGeom>
          <a:solidFill>
            <a:srgbClr val="DFE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7808976" y="2194560"/>
            <a:ext cx="402336" cy="402336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7808976" y="2194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/>
          </a:p>
        </p:txBody>
      </p:sp>
      <p:sp>
        <p:nvSpPr>
          <p:cNvPr id="30" name="Text 27"/>
          <p:cNvSpPr/>
          <p:nvPr/>
        </p:nvSpPr>
        <p:spPr>
          <a:xfrm>
            <a:off x="7278624" y="26974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5 - Execution + Human Review</a:t>
            </a:r>
            <a:endParaRPr lang="en-US" sz="1100"/>
          </a:p>
        </p:txBody>
      </p:sp>
      <p:sp>
        <p:nvSpPr>
          <p:cNvPr id="31" name="Text 28"/>
          <p:cNvSpPr/>
          <p:nvPr/>
        </p:nvSpPr>
        <p:spPr>
          <a:xfrm>
            <a:off x="7296912" y="3017520"/>
            <a:ext cx="142646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suites run headless. Human review caught 3 code bugs. All fixed. 8/8 passing in both frameworks. Bugs documented in docs/ai_review.md and docs/measured_improvement.md.</a:t>
            </a:r>
            <a:endParaRPr lang="en-US" sz="950"/>
          </a:p>
        </p:txBody>
      </p:sp>
      <p:sp>
        <p:nvSpPr>
          <p:cNvPr id="32" name="Text 29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or remove steps to match your actual workflow.</a:t>
            </a:r>
            <a:endParaRPr lang="en-US" sz="1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→ After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097280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5A6B7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57200" y="10972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- Manual Cypress-to-Playwright Migration</a:t>
            </a:r>
            <a:endParaRPr lang="en-US" sz="1400"/>
          </a:p>
        </p:txBody>
      </p:sp>
      <p:sp>
        <p:nvSpPr>
          <p:cNvPr id="6" name="Text 3"/>
          <p:cNvSpPr/>
          <p:nvPr/>
        </p:nvSpPr>
        <p:spPr>
          <a:xfrm>
            <a:off x="548640" y="1691640"/>
            <a:ext cx="3794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Re-verify every selector in Playwright manually | Rewrite each POM class from TypeScript to Python | Author Gherkin .feature files from scratch | Write pytest-bdd step definitions | Wire conftest fixtures | Estimated time: 2-3 days per suite | Risk: stale selectors, missed steps, credential leaks in code</a:t>
            </a:r>
            <a:endParaRPr lang="en-US" sz="1200"/>
          </a:p>
        </p:txBody>
      </p:sp>
      <p:sp>
        <p:nvSpPr>
          <p:cNvPr id="7" name="Shape 4"/>
          <p:cNvSpPr/>
          <p:nvPr/>
        </p:nvSpPr>
        <p:spPr>
          <a:xfrm>
            <a:off x="4709160" y="1097280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709160" y="1097280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- Agent-Driven Migration</a:t>
            </a:r>
            <a:endParaRPr lang="en-US" sz="1400"/>
          </a:p>
        </p:txBody>
      </p:sp>
      <p:sp>
        <p:nvSpPr>
          <p:cNvPr id="9" name="Text 6"/>
          <p:cNvSpPr/>
          <p:nvPr/>
        </p:nvSpPr>
        <p:spPr>
          <a:xfrm>
            <a:off x="4800600" y="1691640"/>
            <a:ext cx="3794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explores live app via MCP Playwright - real selectors, one pass | Generates Cypress TS suite from requirements doc | Migrates to Playwright Python BDD automatically | Human reviews output, catches 3 bugs, runs suite | Total time: ~7h end-to-end | First-pass: 6/8 tests passing before any manual fix | Final: 8/8 passing after 3 targeted fixes</a:t>
            </a:r>
            <a:endParaRPr lang="en-US" sz="1200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screenshot of your AI output on this slide.</a:t>
            </a:r>
            <a:endParaRPr lang="en-US"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Impact Scorecard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269748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50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AI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50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AI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50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50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[Task 1 — time / run]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[X hours]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[X minutes]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[% time saved]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[Task 2 — time / run]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[X hours]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[X minutes]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[% time saved]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[Quality / error rate]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[old level]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[new level]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[improvement]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[Frequency]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[how often]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[same / changed]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[change]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[Team benefit]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[# team members]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[hrs saved / month]</a:t>
                      </a:r>
                      <a:endParaRPr lang="en-US" sz="12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6667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2"/>
          <p:cNvSpPr/>
          <p:nvPr/>
        </p:nvSpPr>
        <p:spPr>
          <a:xfrm>
            <a:off x="566928" y="3977640"/>
            <a:ext cx="80101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days of manual migration compressed to a 7-hour agent session. 8/8 tests passing in both Cypress (TypeScript) and Playwright (Python BDD). 3 code bugs caught and fixed during human review - none introduced regressions. Workflow fully documented and reusable: point the agent at a new requirements doc and repeat. Estimated reuse value: 15-20 hours saved per future migration engagement.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Reusability &amp; Scale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143000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DFE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594360" y="1280160"/>
            <a:ext cx="365760" cy="365760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94360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/>
          </a:p>
        </p:txBody>
      </p:sp>
      <p:sp>
        <p:nvSpPr>
          <p:cNvPr id="7" name="Text 4"/>
          <p:cNvSpPr/>
          <p:nvPr/>
        </p:nvSpPr>
        <p:spPr>
          <a:xfrm>
            <a:off x="1097280" y="1280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reusable?</a:t>
            </a:r>
            <a:endParaRPr lang="en-US" sz="1400"/>
          </a:p>
        </p:txBody>
      </p:sp>
      <p:sp>
        <p:nvSpPr>
          <p:cNvPr id="8" name="Text 5"/>
          <p:cNvSpPr/>
          <p:nvPr/>
        </p:nvSpPr>
        <p:spPr>
          <a:xfrm>
            <a:off x="640080" y="1709928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.claude/skills/cypress-test-gen.md (Phase 1 skill) and .claude/agents/playwright-migration.md (Phase 2 agent). CLAUDE.md encodes all project conventions. migration_workflow.md documents the full conversion pattern library.</a:t>
            </a:r>
            <a:endParaRPr lang="en-US" sz="1150"/>
          </a:p>
        </p:txBody>
      </p:sp>
      <p:sp>
        <p:nvSpPr>
          <p:cNvPr id="9" name="Shape 6"/>
          <p:cNvSpPr/>
          <p:nvPr/>
        </p:nvSpPr>
        <p:spPr>
          <a:xfrm>
            <a:off x="4709160" y="1143000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C5DC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846320" y="1280160"/>
            <a:ext cx="365760" cy="365760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846320" y="1280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/>
          </a:p>
        </p:txBody>
      </p:sp>
      <p:sp>
        <p:nvSpPr>
          <p:cNvPr id="12" name="Text 9"/>
          <p:cNvSpPr/>
          <p:nvPr/>
        </p:nvSpPr>
        <p:spPr>
          <a:xfrm>
            <a:off x="5349240" y="1280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adopt it?</a:t>
            </a:r>
            <a:endParaRPr lang="en-US" sz="1400"/>
          </a:p>
        </p:txBody>
      </p:sp>
      <p:sp>
        <p:nvSpPr>
          <p:cNvPr id="13" name="Text 10"/>
          <p:cNvSpPr/>
          <p:nvPr/>
        </p:nvSpPr>
        <p:spPr>
          <a:xfrm>
            <a:off x="4892040" y="1709928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QA engineer on a Cypress-to-Playwright migration engagement. Works for any web app with a requirements document - point the agent at a new target app and repeat the same workflow.</a:t>
            </a:r>
            <a:endParaRPr lang="en-US" sz="115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DFE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594360" y="2926080"/>
            <a:ext cx="365760" cy="365760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9436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/>
          </a:p>
        </p:txBody>
      </p:sp>
      <p:sp>
        <p:nvSpPr>
          <p:cNvPr id="17" name="Text 14"/>
          <p:cNvSpPr/>
          <p:nvPr/>
        </p:nvSpPr>
        <p:spPr>
          <a:xfrm>
            <a:off x="1097280" y="2926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did you package?</a:t>
            </a:r>
            <a:endParaRPr lang="en-US" sz="1400"/>
          </a:p>
        </p:txBody>
      </p:sp>
      <p:sp>
        <p:nvSpPr>
          <p:cNvPr id="18" name="Text 15"/>
          <p:cNvSpPr/>
          <p:nvPr/>
        </p:nvSpPr>
        <p:spPr>
          <a:xfrm>
            <a:off x="640080" y="3355848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 (feature/migration-progress) with requirements/, cypress/, playwright/, reports/, docs/. README documents the full workflow. All prompts versioned in .claude/.</a:t>
            </a:r>
            <a:endParaRPr lang="en-US" sz="1150"/>
          </a:p>
        </p:txBody>
      </p:sp>
      <p:sp>
        <p:nvSpPr>
          <p:cNvPr id="19" name="Shape 16"/>
          <p:cNvSpPr/>
          <p:nvPr/>
        </p:nvSpPr>
        <p:spPr>
          <a:xfrm>
            <a:off x="4709160" y="2788920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C5DC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846320" y="2926080"/>
            <a:ext cx="365760" cy="365760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4846320" y="2926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600"/>
          </a:p>
        </p:txBody>
      </p:sp>
      <p:sp>
        <p:nvSpPr>
          <p:cNvPr id="22" name="Text 19"/>
          <p:cNvSpPr/>
          <p:nvPr/>
        </p:nvSpPr>
        <p:spPr>
          <a:xfrm>
            <a:off x="5349240" y="2926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Org-scale potential</a:t>
            </a:r>
            <a:endParaRPr lang="en-US" sz="1400"/>
          </a:p>
        </p:txBody>
      </p:sp>
      <p:sp>
        <p:nvSpPr>
          <p:cNvPr id="23" name="Text 20"/>
          <p:cNvSpPr/>
          <p:nvPr/>
        </p:nvSpPr>
        <p:spPr>
          <a:xfrm>
            <a:off x="4892040" y="3355848"/>
            <a:ext cx="3611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reusable workflow eliminates 2-3 days of manual work per migration. Applied across 5 engagements per year = 100-150 hours of engineering time redirected to exploratory QA and new coverage.</a:t>
            </a:r>
            <a:endParaRPr lang="en-US" sz="11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AI Got Right &amp; What It Got Wrong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4348"/>
            </a:avLst>
          </a:prstGeom>
          <a:solidFill>
            <a:srgbClr val="DFE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621792" y="1463040"/>
            <a:ext cx="411480" cy="411480"/>
          </a:xfrm>
          <a:prstGeom prst="ellipse">
            <a:avLst/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188720" y="1234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AI got RIGHT</a:t>
            </a:r>
            <a:endParaRPr lang="en-US" sz="1400"/>
          </a:p>
        </p:txBody>
      </p:sp>
      <p:sp>
        <p:nvSpPr>
          <p:cNvPr id="7" name="Text 4"/>
          <p:cNvSpPr/>
          <p:nvPr/>
        </p:nvSpPr>
        <p:spPr>
          <a:xfrm>
            <a:off x="1188720" y="160020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buSzPct val="100000"/>
              <a:buChar char="•"/>
            </a:pPr>
            <a:r>
              <a:rPr lang="en-US" sz="115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mapping via MCP Playwright: captured real, working selectors for all 7 requirements in one exploration pass - zero stale locators in generated output. Full POM + BDD structure: generated TypeScript and Python Page Objects, Gherkin .feature files, and pytest-bdd step defs following all CLAUDE.md conventions without deviation.</a:t>
            </a:r>
            <a:endParaRPr lang="en-US" sz="1150"/>
          </a:p>
        </p:txBody>
      </p:sp>
      <p:sp>
        <p:nvSpPr>
          <p:cNvPr id="8" name="Shape 5"/>
          <p:cNvSpPr/>
          <p:nvPr/>
        </p:nvSpPr>
        <p:spPr>
          <a:xfrm>
            <a:off x="457200" y="2350008"/>
            <a:ext cx="8229600" cy="1051560"/>
          </a:xfrm>
          <a:prstGeom prst="roundRect">
            <a:avLst>
              <a:gd name="adj" fmla="val 4348"/>
            </a:avLst>
          </a:prstGeom>
          <a:solidFill>
            <a:srgbClr val="DFE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621792" y="2670048"/>
            <a:ext cx="411480" cy="411480"/>
          </a:xfrm>
          <a:prstGeom prst="ellipse">
            <a:avLst/>
          </a:prstGeom>
          <a:solidFill>
            <a:srgbClr val="FE3A3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188720" y="24414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FE3A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AI got WRONG</a:t>
            </a:r>
            <a:endParaRPr lang="en-US" sz="1400"/>
          </a:p>
        </p:txBody>
      </p:sp>
      <p:sp>
        <p:nvSpPr>
          <p:cNvPr id="11" name="Text 8"/>
          <p:cNvSpPr/>
          <p:nvPr/>
        </p:nvSpPr>
        <p:spPr>
          <a:xfrm>
            <a:off x="1188720" y="2807208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buSzPct val="100000"/>
              <a:buChar char="•"/>
            </a:pPr>
            <a:r>
              <a:rPr lang="en-US" sz="115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sleep in autocomplete (employee_list_page.py line 16): wait_for_timeout(800) worked during exploration but failed silently on slow networks - test passed for the wrong reason. Wrong .within() target: cy.within() called on 2 [role="dialog"] elements - agent did not anticipate nested dialog structure. Wrong assertion for disabled input: cy.contains(input[disabled], value) does not match input value attribute.</a:t>
            </a:r>
            <a:endParaRPr lang="en-US" sz="1150"/>
          </a:p>
        </p:txBody>
      </p:sp>
      <p:sp>
        <p:nvSpPr>
          <p:cNvPr id="12" name="Shape 9"/>
          <p:cNvSpPr/>
          <p:nvPr/>
        </p:nvSpPr>
        <p:spPr>
          <a:xfrm>
            <a:off x="457200" y="3557016"/>
            <a:ext cx="8229600" cy="1051560"/>
          </a:xfrm>
          <a:prstGeom prst="roundRect">
            <a:avLst>
              <a:gd name="adj" fmla="val 4348"/>
            </a:avLst>
          </a:prstGeom>
          <a:solidFill>
            <a:srgbClr val="DFE7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21792" y="3877056"/>
            <a:ext cx="411480" cy="411480"/>
          </a:xfrm>
          <a:prstGeom prst="ellipse">
            <a:avLst/>
          </a:prstGeom>
          <a:solidFill>
            <a:srgbClr val="02487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188720" y="3648456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corrected manually</a:t>
            </a:r>
            <a:endParaRPr lang="en-US" sz="1400"/>
          </a:p>
        </p:txBody>
      </p:sp>
      <p:sp>
        <p:nvSpPr>
          <p:cNvPr id="15" name="Text 12"/>
          <p:cNvSpPr/>
          <p:nvPr/>
        </p:nvSpPr>
        <p:spPr>
          <a:xfrm>
            <a:off x="1188720" y="4014216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52400" indent="-152400">
              <a:buSzPct val="100000"/>
              <a:buChar char="•"/>
            </a:pPr>
            <a:r>
              <a:rPr lang="en-US" sz="115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Replaced fixed sleep with wait_for_selector + name filter (docs/measured_improvement.md). Added .last() to both cy.within() calls. Replaced cy.contains(input[disabled]) with .should() callback that iterates all disabled inputs and checks values.</a:t>
            </a:r>
            <a:endParaRPr lang="en-US" sz="11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&amp; Artifacts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097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 &amp; attachments — the proof behind every claim</a:t>
            </a:r>
            <a:endParaRPr lang="en-US" sz="1200"/>
          </a:p>
        </p:txBody>
      </p:sp>
      <p:sp>
        <p:nvSpPr>
          <p:cNvPr id="5" name="Text 2"/>
          <p:cNvSpPr/>
          <p:nvPr/>
        </p:nvSpPr>
        <p:spPr>
          <a:xfrm>
            <a:off x="457200" y="14173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 link(s) / merged commits</a:t>
            </a:r>
            <a:endParaRPr lang="en-US" sz="1150"/>
          </a:p>
        </p:txBody>
      </p:sp>
      <p:sp>
        <p:nvSpPr>
          <p:cNvPr id="6" name="Shape 3"/>
          <p:cNvSpPr/>
          <p:nvPr/>
        </p:nvSpPr>
        <p:spPr>
          <a:xfrm>
            <a:off x="2423160" y="1417320"/>
            <a:ext cx="2103120" cy="411480"/>
          </a:xfrm>
          <a:prstGeom prst="roundRect">
            <a:avLst>
              <a:gd name="adj" fmla="val 11111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2532888" y="1417320"/>
            <a:ext cx="18836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github.com/ajulian35/migration-cypress-to-playwright  branch: feature/migration-progress</a:t>
            </a:r>
            <a:endParaRPr lang="en-US" sz="1100"/>
          </a:p>
        </p:txBody>
      </p:sp>
      <p:sp>
        <p:nvSpPr>
          <p:cNvPr id="8" name="Text 5"/>
          <p:cNvSpPr/>
          <p:nvPr/>
        </p:nvSpPr>
        <p:spPr>
          <a:xfrm>
            <a:off x="4709160" y="14173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Design docs / demo recording</a:t>
            </a:r>
            <a:endParaRPr lang="en-US" sz="1150"/>
          </a:p>
        </p:txBody>
      </p:sp>
      <p:sp>
        <p:nvSpPr>
          <p:cNvPr id="9" name="Shape 6"/>
          <p:cNvSpPr/>
          <p:nvPr/>
        </p:nvSpPr>
        <p:spPr>
          <a:xfrm>
            <a:off x="6675120" y="1417320"/>
            <a:ext cx="2103120" cy="411480"/>
          </a:xfrm>
          <a:prstGeom prst="roundRect">
            <a:avLst>
              <a:gd name="adj" fmla="val 11111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784848" y="1417320"/>
            <a:ext cx="18836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docs/AI_Capstone_Template_L1 op 4.pptx | reports/cypress/ (mochawesome HTML) | reports/playwright/report.html</a:t>
            </a:r>
            <a:endParaRPr lang="en-US" sz="1100"/>
          </a:p>
        </p:txBody>
      </p:sp>
      <p:sp>
        <p:nvSpPr>
          <p:cNvPr id="11" name="Text 8"/>
          <p:cNvSpPr/>
          <p:nvPr/>
        </p:nvSpPr>
        <p:spPr>
          <a:xfrm>
            <a:off x="457200" y="22860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Prompt log / agent transcript</a:t>
            </a:r>
            <a:endParaRPr lang="en-US" sz="1150"/>
          </a:p>
        </p:txBody>
      </p:sp>
      <p:sp>
        <p:nvSpPr>
          <p:cNvPr id="12" name="Shape 9"/>
          <p:cNvSpPr/>
          <p:nvPr/>
        </p:nvSpPr>
        <p:spPr>
          <a:xfrm>
            <a:off x="2423160" y="2286000"/>
            <a:ext cx="2103120" cy="411480"/>
          </a:xfrm>
          <a:prstGeom prst="roundRect">
            <a:avLst>
              <a:gd name="adj" fmla="val 11111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532888" y="2286000"/>
            <a:ext cx="18836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.claude/skills/cypress-test-gen.md | .claude/agents/playwright-migration.md | migration_workflow.md</a:t>
            </a:r>
            <a:endParaRPr lang="en-US" sz="1100"/>
          </a:p>
        </p:txBody>
      </p:sp>
      <p:sp>
        <p:nvSpPr>
          <p:cNvPr id="14" name="Text 11"/>
          <p:cNvSpPr/>
          <p:nvPr/>
        </p:nvSpPr>
        <p:spPr>
          <a:xfrm>
            <a:off x="4709160" y="22860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Screenshots on the slides above</a:t>
            </a:r>
            <a:endParaRPr lang="en-US" sz="1150"/>
          </a:p>
        </p:txBody>
      </p:sp>
      <p:sp>
        <p:nvSpPr>
          <p:cNvPr id="15" name="Shape 12"/>
          <p:cNvSpPr/>
          <p:nvPr/>
        </p:nvSpPr>
        <p:spPr>
          <a:xfrm>
            <a:off x="6675120" y="2286000"/>
            <a:ext cx="2103120" cy="411480"/>
          </a:xfrm>
          <a:prstGeom prst="roundRect">
            <a:avLst>
              <a:gd name="adj" fmla="val 11111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784848" y="2286000"/>
            <a:ext cx="18836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docs/ai_review.md | docs/failure_analysis.md | docs/measured_improvement.md | docs/claude_md_evidence.md | docs/declared_effort.md</a:t>
            </a:r>
            <a:endParaRPr lang="en-US" sz="1100"/>
          </a:p>
        </p:txBody>
      </p:sp>
      <p:sp>
        <p:nvSpPr>
          <p:cNvPr id="17" name="Shape 14"/>
          <p:cNvSpPr/>
          <p:nvPr/>
        </p:nvSpPr>
        <p:spPr>
          <a:xfrm>
            <a:off x="457200" y="3383280"/>
            <a:ext cx="8229600" cy="1234440"/>
          </a:xfrm>
          <a:prstGeom prst="roundRect">
            <a:avLst>
              <a:gd name="adj" fmla="val 4444"/>
            </a:avLst>
          </a:prstGeom>
          <a:solidFill>
            <a:srgbClr val="C5DC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40080" y="34747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Validator</a:t>
            </a:r>
            <a:endParaRPr lang="en-US" sz="1400"/>
          </a:p>
        </p:txBody>
      </p:sp>
      <p:sp>
        <p:nvSpPr>
          <p:cNvPr id="19" name="Text 16"/>
          <p:cNvSpPr/>
          <p:nvPr/>
        </p:nvSpPr>
        <p:spPr>
          <a:xfrm>
            <a:off x="640080" y="37947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1 → client PM / Account Lead   ·   Option 2 → Platform Leader / Owner</a:t>
            </a:r>
            <a:endParaRPr lang="en-US" sz="1100"/>
          </a:p>
        </p:txBody>
      </p:sp>
      <p:sp>
        <p:nvSpPr>
          <p:cNvPr id="20" name="Text 17"/>
          <p:cNvSpPr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</a:t>
            </a:r>
            <a:r>
              <a:rPr lang="en-US" sz="12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      </a:t>
            </a:r>
            <a:r>
              <a:rPr lang="en-US" sz="1200" b="1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</a:t>
            </a:r>
            <a:r>
              <a:rPr lang="en-US" sz="12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      </a:t>
            </a:r>
            <a:r>
              <a:rPr lang="en-US" sz="1200" b="1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Email: </a:t>
            </a:r>
            <a:r>
              <a:rPr lang="en-US" sz="12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</a:t>
            </a:r>
            <a:endParaRPr lang="en-US" sz="12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Rubric — 5 Topics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topic scored 0–30. Demonstrate at least 3. Clear at 70 / 150.</a:t>
            </a:r>
            <a:endParaRPr lang="en-US" sz="120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320040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Competency topic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50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earns top marks (25–30)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50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50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248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Spec-Driven Development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 → Plan → Tasks → Implement drove the work; specs written before code.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248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Engineering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 files, skills, and curated references deliberately shaped AI output.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248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Output Review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Reviewed AI output for intent, tests, security, performance, maintainability; caught &amp; fixed errors.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248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Pipeline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load → chunk → embed → store → query over your own docs or codebase.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0248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n8n + AI Automation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a working AI-in-the-loop n8n workflow that automates a real recurring task.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1B22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7C4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526280"/>
            <a:ext cx="1965960" cy="411480"/>
          </a:xfrm>
          <a:prstGeom prst="roundRect">
            <a:avLst>
              <a:gd name="adj" fmla="val 8889"/>
            </a:avLst>
          </a:prstGeom>
          <a:solidFill>
            <a:srgbClr val="71D8C5"/>
          </a:solidFill>
          <a:ln w="9525">
            <a:solidFill>
              <a:srgbClr val="B7C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457200" y="452628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1B2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Distinction  25–30</a:t>
            </a:r>
            <a:endParaRPr lang="en-US" sz="1000"/>
          </a:p>
        </p:txBody>
      </p:sp>
      <p:sp>
        <p:nvSpPr>
          <p:cNvPr id="8" name="Shape 4"/>
          <p:cNvSpPr/>
          <p:nvPr/>
        </p:nvSpPr>
        <p:spPr>
          <a:xfrm>
            <a:off x="2532888" y="4526280"/>
            <a:ext cx="1965960" cy="411480"/>
          </a:xfrm>
          <a:prstGeom prst="roundRect">
            <a:avLst>
              <a:gd name="adj" fmla="val 8889"/>
            </a:avLst>
          </a:prstGeom>
          <a:solidFill>
            <a:srgbClr val="C5DCEE"/>
          </a:solidFill>
          <a:ln w="9525">
            <a:solidFill>
              <a:srgbClr val="B7C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2532888" y="452628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1B2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Proficient  18–24</a:t>
            </a:r>
            <a:endParaRPr lang="en-US" sz="1000"/>
          </a:p>
        </p:txBody>
      </p:sp>
      <p:sp>
        <p:nvSpPr>
          <p:cNvPr id="10" name="Shape 6"/>
          <p:cNvSpPr/>
          <p:nvPr/>
        </p:nvSpPr>
        <p:spPr>
          <a:xfrm>
            <a:off x="4608576" y="4526280"/>
            <a:ext cx="1965960" cy="411480"/>
          </a:xfrm>
          <a:prstGeom prst="roundRect">
            <a:avLst>
              <a:gd name="adj" fmla="val 8889"/>
            </a:avLst>
          </a:prstGeom>
          <a:solidFill>
            <a:srgbClr val="DFE7ED"/>
          </a:solidFill>
          <a:ln w="9525">
            <a:solidFill>
              <a:srgbClr val="B7C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7"/>
          <p:cNvSpPr/>
          <p:nvPr/>
        </p:nvSpPr>
        <p:spPr>
          <a:xfrm>
            <a:off x="4608576" y="452628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1B2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Developing  10–17</a:t>
            </a:r>
            <a:endParaRPr lang="en-US" sz="1000"/>
          </a:p>
        </p:txBody>
      </p:sp>
      <p:sp>
        <p:nvSpPr>
          <p:cNvPr id="12" name="Shape 8"/>
          <p:cNvSpPr/>
          <p:nvPr/>
        </p:nvSpPr>
        <p:spPr>
          <a:xfrm>
            <a:off x="6684264" y="4526280"/>
            <a:ext cx="1965960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B7C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6684264" y="452628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1B2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Emerging  0–9</a:t>
            </a:r>
            <a:endParaRPr lang="en-US" sz="1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Self-Rating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89611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each topic you demonstrated (0–30). Leave blank if not used (min 3 required).</a:t>
            </a:r>
            <a:endParaRPr lang="en-US" sz="120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6949440" cy="457200"/>
          </a:xfrm>
          <a:prstGeom prst="roundRect">
            <a:avLst>
              <a:gd name="adj" fmla="val 8000"/>
            </a:avLst>
          </a:prstGeom>
          <a:solidFill>
            <a:srgbClr val="DFE7ED"/>
          </a:solidFill>
          <a:ln w="6350">
            <a:solidFill>
              <a:srgbClr val="B7C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94360" y="128016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Spec-Driven Development</a:t>
            </a:r>
            <a:endParaRPr lang="en-US" sz="1250"/>
          </a:p>
        </p:txBody>
      </p:sp>
      <p:sp>
        <p:nvSpPr>
          <p:cNvPr id="7" name="Shape 4"/>
          <p:cNvSpPr/>
          <p:nvPr/>
        </p:nvSpPr>
        <p:spPr>
          <a:xfrm>
            <a:off x="7543800" y="1280160"/>
            <a:ext cx="1143000" cy="457200"/>
          </a:xfrm>
          <a:prstGeom prst="roundRect">
            <a:avLst>
              <a:gd name="adj" fmla="val 8000"/>
            </a:avLst>
          </a:prstGeom>
          <a:solidFill>
            <a:srgbClr val="C5DCEE"/>
          </a:solidFill>
          <a:ln w="12700">
            <a:solidFill>
              <a:srgbClr val="0750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543800" y="1280160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30</a:t>
            </a:r>
            <a:endParaRPr lang="en-US" sz="1200"/>
          </a:p>
        </p:txBody>
      </p:sp>
      <p:sp>
        <p:nvSpPr>
          <p:cNvPr id="9" name="Shape 6"/>
          <p:cNvSpPr/>
          <p:nvPr/>
        </p:nvSpPr>
        <p:spPr>
          <a:xfrm>
            <a:off x="457200" y="1810512"/>
            <a:ext cx="6949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B7C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94360" y="1810512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Context Engineering</a:t>
            </a:r>
            <a:endParaRPr lang="en-US" sz="1250"/>
          </a:p>
        </p:txBody>
      </p:sp>
      <p:sp>
        <p:nvSpPr>
          <p:cNvPr id="11" name="Shape 8"/>
          <p:cNvSpPr/>
          <p:nvPr/>
        </p:nvSpPr>
        <p:spPr>
          <a:xfrm>
            <a:off x="7543800" y="1810512"/>
            <a:ext cx="1143000" cy="457200"/>
          </a:xfrm>
          <a:prstGeom prst="roundRect">
            <a:avLst>
              <a:gd name="adj" fmla="val 8000"/>
            </a:avLst>
          </a:prstGeom>
          <a:solidFill>
            <a:srgbClr val="C5DCEE"/>
          </a:solidFill>
          <a:ln w="12700">
            <a:solidFill>
              <a:srgbClr val="0750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543800" y="1810512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30</a:t>
            </a:r>
            <a:endParaRPr lang="en-US" sz="1200"/>
          </a:p>
        </p:txBody>
      </p:sp>
      <p:sp>
        <p:nvSpPr>
          <p:cNvPr id="13" name="Shape 10"/>
          <p:cNvSpPr/>
          <p:nvPr/>
        </p:nvSpPr>
        <p:spPr>
          <a:xfrm>
            <a:off x="457200" y="2340864"/>
            <a:ext cx="6949440" cy="457200"/>
          </a:xfrm>
          <a:prstGeom prst="roundRect">
            <a:avLst>
              <a:gd name="adj" fmla="val 8000"/>
            </a:avLst>
          </a:prstGeom>
          <a:solidFill>
            <a:srgbClr val="DFE7ED"/>
          </a:solidFill>
          <a:ln w="6350">
            <a:solidFill>
              <a:srgbClr val="B7C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94360" y="2340864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AI Output Review</a:t>
            </a:r>
            <a:endParaRPr lang="en-US" sz="1250"/>
          </a:p>
        </p:txBody>
      </p:sp>
      <p:sp>
        <p:nvSpPr>
          <p:cNvPr id="15" name="Shape 12"/>
          <p:cNvSpPr/>
          <p:nvPr/>
        </p:nvSpPr>
        <p:spPr>
          <a:xfrm>
            <a:off x="7543800" y="2340864"/>
            <a:ext cx="1143000" cy="457200"/>
          </a:xfrm>
          <a:prstGeom prst="roundRect">
            <a:avLst>
              <a:gd name="adj" fmla="val 8000"/>
            </a:avLst>
          </a:prstGeom>
          <a:solidFill>
            <a:srgbClr val="C5DCEE"/>
          </a:solidFill>
          <a:ln w="12700">
            <a:solidFill>
              <a:srgbClr val="0750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543800" y="2340864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30</a:t>
            </a:r>
            <a:endParaRPr lang="en-US" sz="1200"/>
          </a:p>
        </p:txBody>
      </p:sp>
      <p:sp>
        <p:nvSpPr>
          <p:cNvPr id="17" name="Shape 14"/>
          <p:cNvSpPr/>
          <p:nvPr/>
        </p:nvSpPr>
        <p:spPr>
          <a:xfrm>
            <a:off x="457200" y="2871216"/>
            <a:ext cx="69494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B7C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94360" y="2871216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RAG Pipeline</a:t>
            </a:r>
            <a:endParaRPr lang="en-US" sz="1250"/>
          </a:p>
        </p:txBody>
      </p:sp>
      <p:sp>
        <p:nvSpPr>
          <p:cNvPr id="19" name="Shape 16"/>
          <p:cNvSpPr/>
          <p:nvPr/>
        </p:nvSpPr>
        <p:spPr>
          <a:xfrm>
            <a:off x="7543800" y="2871216"/>
            <a:ext cx="1143000" cy="457200"/>
          </a:xfrm>
          <a:prstGeom prst="roundRect">
            <a:avLst>
              <a:gd name="adj" fmla="val 8000"/>
            </a:avLst>
          </a:prstGeom>
          <a:solidFill>
            <a:srgbClr val="C5DCEE"/>
          </a:solidFill>
          <a:ln w="12700">
            <a:solidFill>
              <a:srgbClr val="0750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543800" y="2871216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30</a:t>
            </a:r>
            <a:endParaRPr lang="en-US" sz="1200"/>
          </a:p>
        </p:txBody>
      </p:sp>
      <p:sp>
        <p:nvSpPr>
          <p:cNvPr id="21" name="Shape 18"/>
          <p:cNvSpPr/>
          <p:nvPr/>
        </p:nvSpPr>
        <p:spPr>
          <a:xfrm>
            <a:off x="457200" y="3401568"/>
            <a:ext cx="6949440" cy="457200"/>
          </a:xfrm>
          <a:prstGeom prst="roundRect">
            <a:avLst>
              <a:gd name="adj" fmla="val 8000"/>
            </a:avLst>
          </a:prstGeom>
          <a:solidFill>
            <a:srgbClr val="DFE7ED"/>
          </a:solidFill>
          <a:ln w="6350">
            <a:solidFill>
              <a:srgbClr val="B7C4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94360" y="3401568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24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n8n + AI Automation</a:t>
            </a:r>
            <a:endParaRPr lang="en-US" sz="1250"/>
          </a:p>
        </p:txBody>
      </p:sp>
      <p:sp>
        <p:nvSpPr>
          <p:cNvPr id="23" name="Shape 20"/>
          <p:cNvSpPr/>
          <p:nvPr/>
        </p:nvSpPr>
        <p:spPr>
          <a:xfrm>
            <a:off x="7543800" y="3401568"/>
            <a:ext cx="1143000" cy="457200"/>
          </a:xfrm>
          <a:prstGeom prst="roundRect">
            <a:avLst>
              <a:gd name="adj" fmla="val 8000"/>
            </a:avLst>
          </a:prstGeom>
          <a:solidFill>
            <a:srgbClr val="C5DCEE"/>
          </a:solidFill>
          <a:ln w="12700">
            <a:solidFill>
              <a:srgbClr val="0750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7543800" y="3401568"/>
            <a:ext cx="1143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30</a:t>
            </a:r>
            <a:endParaRPr lang="en-US" sz="1200"/>
          </a:p>
        </p:txBody>
      </p:sp>
      <p:sp>
        <p:nvSpPr>
          <p:cNvPr id="25" name="Shape 22"/>
          <p:cNvSpPr/>
          <p:nvPr/>
        </p:nvSpPr>
        <p:spPr>
          <a:xfrm>
            <a:off x="457200" y="3977640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0750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total:  69 / 150      Clear = 70+     (I demonstrated 3 of 5 topics)</a:t>
            </a:r>
            <a:r>
              <a:rPr lang="en-US" sz="1200">
                <a:solidFill>
                  <a:srgbClr val="71D8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0248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&amp; Key Takeaway</a:t>
            </a:r>
            <a:endParaRPr lang="en-US" sz="26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2608"/>
            <a:ext cx="914400" cy="2747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097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these sentences</a:t>
            </a:r>
            <a:endParaRPr lang="en-US" sz="120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66928" y="1371600"/>
            <a:ext cx="80101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"Before this program, I thought AI was …"</a:t>
            </a:r>
            <a:endParaRPr lang="en-US" sz="1100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66928" y="1920240"/>
            <a:ext cx="80101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I know it is a force-multiplier for mechanical, well-defined tasks - but it generates plausible-looking code that fails in edge cases the agent did not encounter during exploration. Human review is not optional.</a:t>
            </a:r>
            <a:endParaRPr lang="en-US" sz="1100"/>
          </a:p>
        </p:txBody>
      </p:sp>
      <p:sp>
        <p:nvSpPr>
          <p:cNvPr id="9" name="Text 6"/>
          <p:cNvSpPr/>
          <p:nvPr/>
        </p:nvSpPr>
        <p:spPr>
          <a:xfrm>
            <a:off x="457200" y="26060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biggest learning</a:t>
            </a:r>
            <a:endParaRPr lang="en-US" sz="1200"/>
          </a:p>
        </p:txBody>
      </p:sp>
      <p:sp>
        <p:nvSpPr>
          <p:cNvPr id="10" name="Shape 7"/>
          <p:cNvSpPr/>
          <p:nvPr/>
        </p:nvSpPr>
        <p:spPr>
          <a:xfrm>
            <a:off x="457200" y="2880360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66928" y="2880360"/>
            <a:ext cx="80101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produced working code on the first pass for 6 of 8 tests. The 2 that failed revealed a consistent pattern: AI optimizes for the conditions it observed, not the full range of conditions in production.</a:t>
            </a:r>
            <a:endParaRPr lang="en-US" sz="1100"/>
          </a:p>
        </p:txBody>
      </p:sp>
      <p:sp>
        <p:nvSpPr>
          <p:cNvPr id="12" name="Text 9"/>
          <p:cNvSpPr/>
          <p:nvPr/>
        </p:nvSpPr>
        <p:spPr>
          <a:xfrm>
            <a:off x="457200" y="352044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using AI at work</a:t>
            </a:r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457200" y="37947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5 /10        After: 8 /10</a:t>
            </a:r>
            <a:r>
              <a:rPr lang="en-US" sz="13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b="1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/>
          </a:p>
        </p:txBody>
      </p:sp>
      <p:sp>
        <p:nvSpPr>
          <p:cNvPr id="14" name="Text 11"/>
          <p:cNvSpPr/>
          <p:nvPr/>
        </p:nvSpPr>
        <p:spPr>
          <a:xfrm>
            <a:off x="4709160" y="352044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tip for the next cohort</a:t>
            </a:r>
            <a:endParaRPr lang="en-US" sz="1200"/>
          </a:p>
        </p:txBody>
      </p:sp>
      <p:sp>
        <p:nvSpPr>
          <p:cNvPr id="15" name="Shape 12"/>
          <p:cNvSpPr/>
          <p:nvPr/>
        </p:nvSpPr>
        <p:spPr>
          <a:xfrm>
            <a:off x="4709160" y="3794760"/>
            <a:ext cx="3977640" cy="457200"/>
          </a:xfrm>
          <a:prstGeom prst="roundRect">
            <a:avLst>
              <a:gd name="adj" fmla="val 10000"/>
            </a:avLst>
          </a:prstGeom>
          <a:solidFill>
            <a:srgbClr val="DFE7ED"/>
          </a:solidFill>
          <a:ln w="12700">
            <a:solidFill>
              <a:srgbClr val="C5DC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818888" y="3794760"/>
            <a:ext cx="3758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agent a CLAUDE.md before it writes a single line. The difference in output quality is immediate and measurable - see docs/claude_md_evidence.md for a 7-point before/after comparison.</a:t>
            </a:r>
            <a:endParaRPr lang="en-US" sz="1100"/>
          </a:p>
        </p:txBody>
      </p:sp>
      <p:sp>
        <p:nvSpPr>
          <p:cNvPr id="17" name="Text 14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5A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Perficient Global AI First Academy</a:t>
            </a:r>
            <a:endParaRPr lang="en-US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50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 Validation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>
                <a:solidFill>
                  <a:srgbClr val="71D8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use only</a:t>
            </a:r>
            <a:endParaRPr lang="en-US" sz="130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365760"/>
            <a:ext cx="1097280" cy="25261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325880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Spec-Driven Development</a:t>
            </a:r>
            <a:endParaRPr lang="en-US" sz="1250"/>
          </a:p>
        </p:txBody>
      </p:sp>
      <p:sp>
        <p:nvSpPr>
          <p:cNvPr id="6" name="Shape 3"/>
          <p:cNvSpPr/>
          <p:nvPr/>
        </p:nvSpPr>
        <p:spPr>
          <a:xfrm>
            <a:off x="7543800" y="1325880"/>
            <a:ext cx="114300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543800" y="1325880"/>
            <a:ext cx="1143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 / 30</a:t>
            </a:r>
            <a:endParaRPr lang="en-US" sz="1100"/>
          </a:p>
        </p:txBody>
      </p:sp>
      <p:sp>
        <p:nvSpPr>
          <p:cNvPr id="8" name="Text 5"/>
          <p:cNvSpPr/>
          <p:nvPr/>
        </p:nvSpPr>
        <p:spPr>
          <a:xfrm>
            <a:off x="457200" y="1783080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Context Engineering</a:t>
            </a:r>
            <a:endParaRPr lang="en-US" sz="1250"/>
          </a:p>
        </p:txBody>
      </p:sp>
      <p:sp>
        <p:nvSpPr>
          <p:cNvPr id="9" name="Shape 6"/>
          <p:cNvSpPr/>
          <p:nvPr/>
        </p:nvSpPr>
        <p:spPr>
          <a:xfrm>
            <a:off x="7543800" y="1783080"/>
            <a:ext cx="114300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543800" y="1783080"/>
            <a:ext cx="1143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 / 30</a:t>
            </a:r>
            <a:endParaRPr lang="en-US" sz="1100"/>
          </a:p>
        </p:txBody>
      </p:sp>
      <p:sp>
        <p:nvSpPr>
          <p:cNvPr id="11" name="Text 8"/>
          <p:cNvSpPr/>
          <p:nvPr/>
        </p:nvSpPr>
        <p:spPr>
          <a:xfrm>
            <a:off x="457200" y="2240280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AI Output Review</a:t>
            </a:r>
            <a:endParaRPr lang="en-US" sz="1250"/>
          </a:p>
        </p:txBody>
      </p:sp>
      <p:sp>
        <p:nvSpPr>
          <p:cNvPr id="12" name="Shape 9"/>
          <p:cNvSpPr/>
          <p:nvPr/>
        </p:nvSpPr>
        <p:spPr>
          <a:xfrm>
            <a:off x="7543800" y="2240280"/>
            <a:ext cx="114300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543800" y="2240280"/>
            <a:ext cx="1143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 / 30</a:t>
            </a:r>
            <a:endParaRPr lang="en-US" sz="1100"/>
          </a:p>
        </p:txBody>
      </p:sp>
      <p:sp>
        <p:nvSpPr>
          <p:cNvPr id="14" name="Text 11"/>
          <p:cNvSpPr/>
          <p:nvPr/>
        </p:nvSpPr>
        <p:spPr>
          <a:xfrm>
            <a:off x="457200" y="2697480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RAG Pipeline</a:t>
            </a:r>
            <a:endParaRPr lang="en-US" sz="1250"/>
          </a:p>
        </p:txBody>
      </p:sp>
      <p:sp>
        <p:nvSpPr>
          <p:cNvPr id="15" name="Shape 12"/>
          <p:cNvSpPr/>
          <p:nvPr/>
        </p:nvSpPr>
        <p:spPr>
          <a:xfrm>
            <a:off x="7543800" y="2697480"/>
            <a:ext cx="114300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543800" y="2697480"/>
            <a:ext cx="1143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 / 30</a:t>
            </a:r>
            <a:endParaRPr lang="en-US" sz="1100"/>
          </a:p>
        </p:txBody>
      </p:sp>
      <p:sp>
        <p:nvSpPr>
          <p:cNvPr id="17" name="Text 14"/>
          <p:cNvSpPr/>
          <p:nvPr/>
        </p:nvSpPr>
        <p:spPr>
          <a:xfrm>
            <a:off x="457200" y="3154680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n8n + AI Automation</a:t>
            </a:r>
            <a:endParaRPr lang="en-US" sz="1250"/>
          </a:p>
        </p:txBody>
      </p:sp>
      <p:sp>
        <p:nvSpPr>
          <p:cNvPr id="18" name="Shape 15"/>
          <p:cNvSpPr/>
          <p:nvPr/>
        </p:nvSpPr>
        <p:spPr>
          <a:xfrm>
            <a:off x="7543800" y="3154680"/>
            <a:ext cx="114300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543800" y="3154680"/>
            <a:ext cx="1143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 / 30</a:t>
            </a:r>
            <a:endParaRPr lang="en-US" sz="1100"/>
          </a:p>
        </p:txBody>
      </p:sp>
      <p:sp>
        <p:nvSpPr>
          <p:cNvPr id="20" name="Text 17"/>
          <p:cNvSpPr/>
          <p:nvPr/>
        </p:nvSpPr>
        <p:spPr>
          <a:xfrm>
            <a:off x="457200" y="363016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total:  ____ / 150</a:t>
            </a:r>
            <a:r>
              <a:rPr lang="en-US" sz="1200">
                <a:solidFill>
                  <a:srgbClr val="71D8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Clear = 70+</a:t>
            </a:r>
            <a:endParaRPr lang="en-US" sz="1500"/>
          </a:p>
        </p:txBody>
      </p:sp>
      <p:sp>
        <p:nvSpPr>
          <p:cNvPr id="21" name="Shape 18"/>
          <p:cNvSpPr/>
          <p:nvPr/>
        </p:nvSpPr>
        <p:spPr>
          <a:xfrm>
            <a:off x="457200" y="411480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5400">
            <a:solidFill>
              <a:srgbClr val="0750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57200" y="4114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750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Yes, Agree — certify</a:t>
            </a:r>
            <a:endParaRPr lang="en-US" sz="1200"/>
          </a:p>
        </p:txBody>
      </p:sp>
      <p:sp>
        <p:nvSpPr>
          <p:cNvPr id="23" name="Shape 20"/>
          <p:cNvSpPr/>
          <p:nvPr/>
        </p:nvSpPr>
        <p:spPr>
          <a:xfrm>
            <a:off x="3291840" y="411480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5400">
            <a:solidFill>
              <a:srgbClr val="FE3A3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3291840" y="4114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E3A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No, Do not certify</a:t>
            </a:r>
            <a:endParaRPr lang="en-US" sz="1200"/>
          </a:p>
        </p:txBody>
      </p:sp>
      <p:sp>
        <p:nvSpPr>
          <p:cNvPr id="25" name="Text 22"/>
          <p:cNvSpPr/>
          <p:nvPr/>
        </p:nvSpPr>
        <p:spPr>
          <a:xfrm>
            <a:off x="6126480" y="417880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signature: </a:t>
            </a:r>
            <a:r>
              <a:rPr lang="en-U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     </a:t>
            </a:r>
            <a:r>
              <a:rPr lang="en-US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</a:t>
            </a:r>
            <a:r>
              <a:rPr lang="en-U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</a:t>
            </a:r>
            <a:endParaRPr lang="en-US" sz="1050"/>
          </a:p>
        </p:txBody>
      </p:sp>
      <p:sp>
        <p:nvSpPr>
          <p:cNvPr id="26" name="Text 23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71D8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is issued only on "Yes, Agree". A score ≥ 70 is a recommendation, not automatic certification.</a:t>
            </a:r>
            <a:endParaRPr lang="en-US" sz="9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78BDE5FBDD49645B4C97074EE65F842" ma:contentTypeVersion="12" ma:contentTypeDescription="Create a new document." ma:contentTypeScope="" ma:versionID="5312b329c996433ceb2b53c55abbd94c">
  <xsd:schema xmlns:xsd="http://www.w3.org/2001/XMLSchema" xmlns:xs="http://www.w3.org/2001/XMLSchema" xmlns:p="http://schemas.microsoft.com/office/2006/metadata/properties" xmlns:ns2="726f94d6-fa4c-4578-9923-387e8e08487a" xmlns:ns3="7a392144-d9c7-4700-81e3-5d9ccc7560d2" targetNamespace="http://schemas.microsoft.com/office/2006/metadata/properties" ma:root="true" ma:fieldsID="4c00a87271a249586203d6baa24a7578" ns2:_="" ns3:_="">
    <xsd:import namespace="726f94d6-fa4c-4578-9923-387e8e08487a"/>
    <xsd:import namespace="7a392144-d9c7-4700-81e3-5d9ccc7560d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Fecha_x002f_hor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6f94d6-fa4c-4578-9923-387e8e08487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e398e266-1b5a-423d-aa71-fcb68a1b755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Fecha_x002f_hora" ma:index="19" nillable="true" ma:displayName="Fecha/hora" ma:format="DateTime" ma:internalName="Fecha_x002f_hora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a392144-d9c7-4700-81e3-5d9ccc7560d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a24c2efa-4133-4b24-8c74-08d4563e1292}" ma:internalName="TaxCatchAll" ma:showField="CatchAllData" ma:web="7a392144-d9c7-4700-81e3-5d9ccc7560d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26f94d6-fa4c-4578-9923-387e8e08487a">
      <Terms xmlns="http://schemas.microsoft.com/office/infopath/2007/PartnerControls"/>
    </lcf76f155ced4ddcb4097134ff3c332f>
    <TaxCatchAll xmlns="7a392144-d9c7-4700-81e3-5d9ccc7560d2" xsi:nil="true"/>
    <Fecha_x002f_hora xmlns="726f94d6-fa4c-4578-9923-387e8e08487a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1A7F19F-5EB7-4455-AD3C-F761A42CB93A}">
  <ds:schemaRefs>
    <ds:schemaRef ds:uri="726f94d6-fa4c-4578-9923-387e8e08487a"/>
    <ds:schemaRef ds:uri="7a392144-d9c7-4700-81e3-5d9ccc7560d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847A92AA-1CF0-49A4-8A87-FC411546C1DB}">
  <ds:schemaRefs>
    <ds:schemaRef ds:uri="http://purl.org/dc/terms/"/>
    <ds:schemaRef ds:uri="http://schemas.microsoft.com/office/2006/metadata/properties"/>
    <ds:schemaRef ds:uri="http://www.w3.org/XML/1998/namespace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7a392144-d9c7-4700-81e3-5d9ccc7560d2"/>
    <ds:schemaRef ds:uri="726f94d6-fa4c-4578-9923-387e8e08487a"/>
  </ds:schemaRefs>
</ds:datastoreItem>
</file>

<file path=customXml/itemProps3.xml><?xml version="1.0" encoding="utf-8"?>
<ds:datastoreItem xmlns:ds="http://schemas.openxmlformats.org/officeDocument/2006/customXml" ds:itemID="{451DFD20-BF42-41D7-A8D9-80A8CEA4EF8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1161</Words>
  <Application>Microsoft Office PowerPoint</Application>
  <PresentationFormat>On-screen Show (16:9)</PresentationFormat>
  <Paragraphs>206</Paragraphs>
  <Slides>13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Gonzalo Munoz</cp:lastModifiedBy>
  <cp:revision>4</cp:revision>
  <dcterms:created xsi:type="dcterms:W3CDTF">2026-07-11T21:26:24Z</dcterms:created>
  <dcterms:modified xsi:type="dcterms:W3CDTF">2026-08-10T17:48:51Z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0x010100178BDE5FBDD49645B4C97074EE65F842</vt:lpwstr>
  </property>
  <property fmtid="{D5CDD505-2E9C-101B-9397-08002B2CF9AE}" pid="3" name="MediaServiceImageTags">
    <vt:lpwstr/>
  </property>
</Properties>
</file>